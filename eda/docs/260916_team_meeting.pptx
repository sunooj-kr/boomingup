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슬라이드(14번)는 여러 해를 다 섞어서 평균 낸 결과였습니다. 그 관계가 '매년 똑같이' 나타나는 안정적인 관계인지, 아니면 특정 해에만 있던 우연인지 확인하려는 그래프입니다.</a:t>
            </a:r>
          </a:p>
          <a:p/>
          <a:p>
            <a:r>
              <a:t>② 뭘로 측정했나: 앞 슬라이드에서 설명한 '동+분기' 기점들을, 이번엔 5등분하지 않고 '2011년에 시작한 것들끼리', '2015년에 시작한 것들끼리'처럼 시작 연도별로 따로 묶었습니다. 그리고 각 연도 그룹 안에서만 전세가율-미래상승률 상관관계를 따로 구했습니다. 가로축이 그 시작 연도, 세로축이 그 연도만의 상관계수입니다.</a:t>
            </a:r>
          </a:p>
          <a:p/>
          <a:p>
            <a:r>
              <a:t>③ 결과가 뭐였나: 2011·2018·2021·2022년에 시작한 것들은 통념대로 '전세가율 높을수록 더 올랐다'(양의 관계, 초록색)로 나왔지만, 2015~2017년·2019년·2023~2025년에 시작한 것들은 정반대로 '전세가율 높을수록 오히려 덜 올랐다'(음의 관계, 빨간색)로 나왔습니다. 특히 2024년은 -0.507로 꽤 강하게 반대 방향이었습니다.</a:t>
            </a:r>
          </a:p>
          <a:p/>
          <a:p>
            <a:r>
              <a:t>④ 어떻게 해석하나: 그러니까 앞 슬라이드(14번)에서 본 상관계수 0.15는 '매년 이런 관계가 있다'는 뜻이 아니라, 이렇게 해마다 왔다 갔다 하는 걸 전부 평균 낸 결과일 뿐이었던 겁니다. 왜 이렇게 뒤집히는지는, 그 해 시장 전체가 오르는 시기인지 내리는 시기인지(시장 국면)가 전세가율과 미래 가격 양쪽에 동시에 영향을 줘서 생기는 착시일 가능성이 있습니다. 정리하면, 전세가율로 '이 동네가 오를 거다'를 예측하는 건 믿을 만한 방법이 아니라는 게 이 두 슬라이드의 결론입니다.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 '정비사업 강도'란, 예를 들어 어떤 동에 주택이 100채 있는데 그중 30채가 재건축·재개발(정비사업) 진행 중이면 '강도 30%'라는 뜻입니다 — 숫자가 클수록 그 동네에서 정비사업이 차지하는 비중이 크다는 뜻입니다. '변동성'이란 그 동네 집값이 분기마다 얼마나 오르락내리락했는지입니다. 어떤 동은 매 분기 거의 비슷하게 완만히 움직이고(변동성 작음), 어떤 동은 어떤 분기엔 확 올랐다가 다음 분기엔 확 떨어지고(변동성 큼) 하는데, 이 '출렁이는 정도'를 하나의 숫자로 나타낸 게 변동성입니다.</a:t>
            </a:r>
          </a:p>
          <a:p/>
          <a:p>
            <a:r>
              <a:t>② 뭘로 측정했나: 가로축은 강도(위 예시처럼 %), 세로축은 변동성(표준편차 — 숫자들이 평균에서 얼마나 들쭉날쭉 흩어져 있는지 보여주는 값)입니다. 점 하나가 동네 하나입니다. '정비사업이 많을수록 변동성도 크다'가 맞다면 점들이 왼쪽 아래에서 오른쪽 위로 올라가는 모양이어야 합니다. '정비사업 진행 세대 비중'(분자)은 정비구역으로 지정된 모든 주택(아파트·빌라 등)의 계획 세대수인데, 이걸 무엇으로 나누느냐(분모)에 따라 강도의 뜻이 달라져서 두 가지 방식으로 각각 계산해 나란히 비교했습니다. 왼쪽 ①은 분모를 '아파트만의 준공 누적 세대수'로 쓴 것이고, 오른쪽 ②는 분모를 '주민등록 기준 그 동의 전체 세대수'(아파트+빌라+단독주택 등 다 포함, 10번 축에서 받아온 인구·세대 데이터 재사용)로 바꾼 것입니다. ①은 분자(전체 주택 기준)와 분모(아파트만)의 대상 범위가 서로 달라서, 아파트가 적고 빌라가 많은 동네에서 비율이 100%를 훌쩍 넘는 경우가 19개나 있었습니다(빨간 점, 최댓값 946%). ②로 바꾸면 분자·분모 범위가 맞아떨어져 100%를 넘는 동이 2개로 크게 줄었습니다(보광동·한남동 — 이 두 곳은 정비사업이 이미 많이 진행돼 실제 거주 세대가 계획 세대수 보다 줄어든 재건축 후기 단계라 그럴 수 있습니다).</a:t>
            </a:r>
          </a:p>
          <a:p/>
          <a:p>
            <a:r>
              <a:t>③ 결과가 뭐였나: 어느 쪽으로 계산해도 점들이 오르막 모양 없이 흩어져 있었습니다. ①(아파트 기준, 정상범위)은 상관계수 0.009(p=0.889), ②(전체 세대수 기준, 정상범위)는 상관계수 0.067(p=0.275)로, 두 값 모두 통계적으로 유의한 선형관계를 확인하지 못했습니다.</a:t>
            </a:r>
          </a:p>
          <a:p/>
          <a:p>
            <a:r>
              <a:t>④ 어떻게 해석하나: 지표를 더 정교하게 다시 계산해도 결론이 바뀌지 않았다는 건, 처음 결과(①)가 지표 결함 때문에 우연히 '관계 없음'으로 나온 게 아니라 실제로 관계를 찾기 어렵다는 뜻에 더 가깝습니다. 다만 p값이 크다는 건 '관계가 없다고 증명됐다'는 뜻이 아니라 '유의한 관계를 찾지 못했다'는 뜻이라는 점은 여전히 유효합니다.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강도)도 비슷하게 이상치가 있는 축이었지만 성격은 다릅니다 — 거기서는 이상치를 빼도 넣어도 '관계 없음'이라는 결론이 똑같았던 반면, 여기서는 이상치(보광동) 하나가 '관계 있어 보이는' 착시를 만들었다는 차이가 있습니다.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2918801" y="1905975"/>
            <a:ext cx="6354092" cy="3036905"/>
          </a:xfrm>
          <a:prstGeom prst="rect">
            <a:avLst/>
          </a:prstGeom>
        </p:spPr>
      </p:pic>
      <p:sp>
        <p:nvSpPr>
          <p:cNvPr id="6" name="TextBox 5"/>
          <p:cNvSpPr txBox="1"/>
          <p:nvPr/>
        </p:nvSpPr>
        <p:spPr>
          <a:xfrm>
            <a:off x="1249527" y="5016032"/>
            <a:ext cx="9692640" cy="201168"/>
          </a:xfrm>
          <a:prstGeom prst="rect">
            <a:avLst/>
          </a:prstGeom>
          <a:noFill/>
        </p:spPr>
        <p:txBody>
          <a:bodyPr wrap="square">
            <a:spAutoFit/>
          </a:bodyPr>
          <a:lstStyle/>
          <a:p>
            <a:pPr algn="ctr"/>
            <a:r>
              <a:rPr sz="900" b="0">
                <a:solidFill>
                  <a:srgbClr val="5B6B70"/>
                </a:solidFill>
                <a:latin typeface="맑은 고딕"/>
              </a:rPr>
              <a:t>핵심: 강도를 두 가지 다른 방식으로 정의해도 둘 다 유의한 관계 없음</a:t>
            </a:r>
          </a:p>
        </p:txBody>
      </p:sp>
      <p:sp>
        <p:nvSpPr>
          <p:cNvPr id="7" name="Rounded Rectangle 6"/>
          <p:cNvSpPr/>
          <p:nvPr/>
        </p:nvSpPr>
        <p:spPr>
          <a:xfrm>
            <a:off x="457200" y="5262920"/>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 강도를 계산하는 분모를 아파트 재고 세대수로 하든, 전체 세대수로 하든 결과는 같습니다(r=0.01~0.07, 둘 다 유의하지 않음).</a:t>
            </a:r>
          </a:p>
        </p:txBody>
      </p:sp>
      <p:sp>
        <p:nvSpPr>
          <p:cNvPr id="8" name="Rounded Rectangle 7"/>
          <p:cNvSpPr/>
          <p:nvPr/>
        </p:nvSpPr>
        <p:spPr>
          <a:xfrm>
            <a:off x="6187287" y="5262920"/>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p값이 크다고 '관계 없음이 증명됐다'는 뜻은 아닙니다. 전체 세대수 기준도 2025~2026년 한 시점의 세대수를 2011~2026년 전체 기간에 고정값으로 적용한 것이라는 한계가 있습니다.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249137" y="1909632"/>
            <a:ext cx="7693420" cy="3121030"/>
          </a:xfrm>
          <a:prstGeom prst="rect">
            <a:avLst/>
          </a:prstGeom>
        </p:spPr>
      </p:pic>
      <p:sp>
        <p:nvSpPr>
          <p:cNvPr id="6" name="TextBox 5"/>
          <p:cNvSpPr txBox="1"/>
          <p:nvPr/>
        </p:nvSpPr>
        <p:spPr>
          <a:xfrm>
            <a:off x="792327" y="5103815"/>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535070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0.06</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0.11</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0.04</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0.06</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0.14</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0.04</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5726221" y="4346204"/>
            <a:ext cx="739252" cy="566908"/>
          </a:xfrm>
          <a:prstGeom prst="rect">
            <a:avLst/>
          </a:prstGeom>
        </p:spPr>
      </p:pic>
      <p:sp>
        <p:nvSpPr>
          <p:cNvPr id="8" name="TextBox 7"/>
          <p:cNvSpPr txBox="1"/>
          <p:nvPr/>
        </p:nvSpPr>
        <p:spPr>
          <a:xfrm>
            <a:off x="3078327" y="4986263"/>
            <a:ext cx="603504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5205719"/>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5205719"/>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3978550" y="1909632"/>
            <a:ext cx="4234594"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 강도를 두 가지 다른 방식으로 계산해도(상관 0.01, 0.07) 둘 다 유의하지 않았습니다.</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찾음(분모를 다르게 재계산해도 동일, r=0.01~0.07)</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