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정책·금리처럼 특정 지역이나 단지와 무관한 시장 전체 충격이 있을 때 가격·거래량이 원래 이 정도로 출렁이는 경향이 있다는 걸 먼저 기준선으로 잡아두기 위해서입니다. 그래야 뒤에 나오는 지역·단지·입지 같은 다른 요소들에서 발견한 관계가 '그 요소 자체의 효과'인지 '그 시기 시장 전체가 원래 그렇게 움직이던 것뿐'인지 구분할 수 있습니다.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정비사업 대상이 아닌 일반 단지를 0%로 놓았을 때의 단가 프리미엄(웃돈, %)입니다.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가로축은 한강 조망 세대가 있는지 여부(O/X), 세로축은 ㎡당 단가입니다.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학교까지 거리는 상관계수가 거의 0에 가까웠습니다(=단순 비교로는 관계가 잘 안 보임).</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 그 통념이 실제 데이터에서 맞는지 확인하는 슬라이드입니다.</a:t>
            </a:r>
          </a:p>
          <a:p/>
          <a:p>
            <a:r>
              <a:t>② 뭘로 측정했나: 가로축은 '기점 분기(비교의 출발점으로 삼은 분기)의 전세가율'을 낮은 순서대로 5등분한 그룹(Q1~Q5), 세로축은 그 기점으로부터 1년 뒤 매매 가격지수(=그 동네 아파트 가격이 얼마나 올랐는지 보여주는 지수)가 평균 몇 % 올랐는지입니다. 기점 분기 기준으로 직전 4분기 매매 거래가 20건 이상인 동만 포함합니다(표본이 너무 적은 동은 지수 자체의 신뢰도가 낮기 때문입니다).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가로축은 기점 연도, 세로축은 그 연도에 시작한 동×기점 표본만으로 계산한 전세가율-미래상승률 상관계수입니다.</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'표준편차'는 숫자들이 평균에서 얼마나 들쭉날쭉 흩어져 있는지 보여주는 값입니다 — 표준편차가 크면 분기마다 가격이 크게 출렁였다는 뜻이고, 작으면 비교적 꾸준했다는 뜻입니다.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왼쪽 그림은 그룹별 동 개수, 오른쪽 그림은 그룹별 평균 초과 변화율(최근 8분기)입니다.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성북구·구로구·노원구 등 상대적으로 외곽 지역이 많았습니다.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어떤 동네인지(성향)와 최근 실제로 얼마나 올랐는지(모멘텀)를 같이 봐야 '이런 유형의 동네가 유망하다'는 판단이 가능합니다. 이 슬라이드가 그 연결고리입니다.</a:t>
            </a:r>
          </a:p>
          <a:p/>
          <a:p>
            <a:r>
              <a:t>② 뭘로 측정했나: 9번 축에서 나눈 6개 클러스터 각각에 대해, 그 클러스터에 속한 동들의 평균 ㎡당 단가, 한강조망 비율, 정비사업 강도(입지·성향 지표)를 계산했습니다. 그리고 09번 축에서 이미 구했던 '시장 대비 초과 변화율'(그 분기 서울 평균보다 더/덜 오른 정도)을 최근 4개 분기 합산해 '최근 1년간 시장 대비 몇 % 더/덜 올랐는지'로 바꿔서 같이 봤습니다. 그림은 가로축이 가격 수준, 세로축이 이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낮은(0.22)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거래량이 가격보다 훨씬 크게 흔들린다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3155390" y="1900488"/>
            <a:ext cx="5880914" cy="2910718"/>
          </a:xfrm>
          <a:prstGeom prst="rect">
            <a:avLst/>
          </a:prstGeom>
        </p:spPr>
      </p:pic>
      <p:sp>
        <p:nvSpPr>
          <p:cNvPr id="6" name="TextBox 5"/>
          <p:cNvSpPr txBox="1"/>
          <p:nvPr/>
        </p:nvSpPr>
        <p:spPr>
          <a:xfrm>
            <a:off x="2163927" y="4884359"/>
            <a:ext cx="786384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131247"/>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131247"/>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 지수 vs 단가 지수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3281088" y="1895002"/>
            <a:ext cx="5629517" cy="2784531"/>
          </a:xfrm>
          <a:prstGeom prst="rect">
            <a:avLst/>
          </a:prstGeom>
        </p:spPr>
      </p:pic>
      <p:sp>
        <p:nvSpPr>
          <p:cNvPr id="6" name="TextBox 5"/>
          <p:cNvSpPr txBox="1"/>
          <p:nvPr/>
        </p:nvSpPr>
        <p:spPr>
          <a:xfrm>
            <a:off x="2255367" y="4752685"/>
            <a:ext cx="76809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 간 가격 격차</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864040" y="1895002"/>
            <a:ext cx="2463615" cy="2784531"/>
          </a:xfrm>
          <a:prstGeom prst="rect">
            <a:avLst/>
          </a:prstGeom>
        </p:spPr>
      </p:pic>
      <p:sp>
        <p:nvSpPr>
          <p:cNvPr id="6" name="TextBox 5"/>
          <p:cNvSpPr txBox="1"/>
          <p:nvPr/>
        </p:nvSpPr>
        <p:spPr>
          <a:xfrm>
            <a:off x="2804007" y="4752685"/>
            <a:ext cx="65836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평균과 동별 흐름이 다를 수 있다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282778" y="1896831"/>
            <a:ext cx="3626137"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준공연차와 가격의 U자 관계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단계별 프리미엄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794809" y="1895002"/>
            <a:ext cx="4602076"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거리와 가격</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한강조망이 가장 강한 입지 요인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price.png"/>
          <p:cNvPicPr>
            <a:picLocks noChangeAspect="1"/>
          </p:cNvPicPr>
          <p:nvPr/>
        </p:nvPicPr>
        <p:blipFill>
          <a:blip r:embed="rId2"/>
          <a:stretch>
            <a:fillRect/>
          </a:stretch>
        </p:blipFill>
        <p:spPr>
          <a:xfrm>
            <a:off x="4574519" y="1895002"/>
            <a:ext cx="3042656" cy="2784530"/>
          </a:xfrm>
          <a:prstGeom prst="rect">
            <a:avLst/>
          </a:prstGeom>
        </p:spPr>
      </p:pic>
      <p:sp>
        <p:nvSpPr>
          <p:cNvPr id="6" name="TextBox 5"/>
          <p:cNvSpPr txBox="1"/>
          <p:nvPr/>
        </p:nvSpPr>
        <p:spPr>
          <a:xfrm>
            <a:off x="3535527" y="4752685"/>
            <a:ext cx="5120640" cy="201168"/>
          </a:xfrm>
          <a:prstGeom prst="rect">
            <a:avLst/>
          </a:prstGeom>
          <a:noFill/>
        </p:spPr>
        <p:txBody>
          <a:bodyPr wrap="square">
            <a:spAutoFit/>
          </a:bodyPr>
          <a:lstStyle/>
          <a:p>
            <a:pPr algn="ctr"/>
            <a:r>
              <a:rPr sz="900" b="0">
                <a:solidFill>
                  <a:srgbClr val="5B6B70"/>
                </a:solidFill>
                <a:latin typeface="맑은 고딕"/>
              </a:rPr>
              <a:t>핵심: 한강조망 있는 단지가 없는 단지보다 약 55% 비쌈</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오를수록 단가도 오른다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면적은 작거나 커야 비싸다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524081" y="1896831"/>
            <a:ext cx="5143532"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상관은 해마다 방향이 바뀐다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4029126" y="1896831"/>
            <a:ext cx="4133442" cy="2826593"/>
          </a:xfrm>
          <a:prstGeom prst="rect">
            <a:avLst/>
          </a:prstGeom>
        </p:spPr>
      </p:pic>
      <p:sp>
        <p:nvSpPr>
          <p:cNvPr id="6" name="TextBox 5"/>
          <p:cNvSpPr txBox="1"/>
          <p:nvPr/>
        </p:nvSpPr>
        <p:spPr>
          <a:xfrm>
            <a:off x="2986887" y="4796576"/>
            <a:ext cx="621792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연도별로 쪼개면 상관관계가 사라진다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761120" y="1896831"/>
            <a:ext cx="466945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강도와 가격 변동성, 유의한 선형관계 못 찾음</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268073" y="1895002"/>
            <a:ext cx="3655547"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없음(r=0.009)</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r=0.009(p=0.889)입니다. p값이 크다고 '관계 없음이 증명됐다'는 뜻은 아닙니다.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반응이 갈린 이벤트, 반대로 움직인 동</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827568" y="1895002"/>
            <a:ext cx="4536559" cy="2784531"/>
          </a:xfrm>
          <a:prstGeom prst="rect">
            <a:avLst/>
          </a:prstGeom>
        </p:spPr>
      </p:pic>
      <p:sp>
        <p:nvSpPr>
          <p:cNvPr id="6" name="TextBox 5"/>
          <p:cNvSpPr txBox="1"/>
          <p:nvPr/>
        </p:nvSpPr>
        <p:spPr>
          <a:xfrm>
            <a:off x="2529687" y="4752685"/>
            <a:ext cx="71323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함께 움직이는 동 클러스터링</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2663877" y="1895002"/>
            <a:ext cx="6863940" cy="2784531"/>
          </a:xfrm>
          <a:prstGeom prst="rect">
            <a:avLst/>
          </a:prstGeom>
        </p:spPr>
      </p:pic>
      <p:sp>
        <p:nvSpPr>
          <p:cNvPr id="6" name="TextBox 5"/>
          <p:cNvSpPr txBox="1"/>
          <p:nvPr/>
        </p:nvSpPr>
        <p:spPr>
          <a:xfrm>
            <a:off x="1981047" y="4752685"/>
            <a:ext cx="822960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각 그룹은 특정 자치구에 뚜렷이 쏠려 있음(최대 쏠림 26.7%)</a:t>
            </a:r>
          </a:p>
        </p:txBody>
      </p:sp>
      <p:sp>
        <p:nvSpPr>
          <p:cNvPr id="7" name="Rounded Rectangle 6"/>
          <p:cNvSpPr/>
          <p:nvPr/>
        </p:nvSpPr>
        <p:spPr>
          <a:xfrm>
            <a:off x="457200" y="4999573"/>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499957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클러스터 성향 — 이 프로젝트가 필요로 하는 '지역별 투자 상승폭' 관점</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가졌고 최근 얼마나 올랐는지까지 확인합니다.</a:t>
            </a:r>
          </a:p>
        </p:txBody>
      </p:sp>
      <p:graphicFrame>
        <p:nvGraphicFramePr>
          <p:cNvPr id="5" name="Table 4"/>
          <p:cNvGraphicFramePr>
            <a:graphicFrameLocks noGrp="1"/>
          </p:cNvGraphicFramePr>
          <p:nvPr/>
        </p:nvGraphicFramePr>
        <p:xfrm>
          <a:off x="457200" y="184708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0.22</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0.58</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0.20</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0.21</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0.47</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0.46</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4723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pic>
        <p:nvPicPr>
          <p:cNvPr id="7" name="Picture 6" descr="14_cluster_profile_price_vs_momentum.png"/>
          <p:cNvPicPr>
            <a:picLocks noChangeAspect="1"/>
          </p:cNvPicPr>
          <p:nvPr/>
        </p:nvPicPr>
        <p:blipFill>
          <a:blip r:embed="rId2"/>
          <a:stretch>
            <a:fillRect/>
          </a:stretch>
        </p:blipFill>
        <p:spPr>
          <a:xfrm>
            <a:off x="6005955" y="4327550"/>
            <a:ext cx="179785" cy="137871"/>
          </a:xfrm>
          <a:prstGeom prst="rect">
            <a:avLst/>
          </a:prstGeom>
        </p:spPr>
      </p:pic>
      <p:sp>
        <p:nvSpPr>
          <p:cNvPr id="8" name="TextBox 7"/>
          <p:cNvSpPr txBox="1"/>
          <p:nvPr/>
        </p:nvSpPr>
        <p:spPr>
          <a:xfrm>
            <a:off x="3718407" y="4538573"/>
            <a:ext cx="4754880" cy="347472"/>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9" name="Rounded Rectangle 8"/>
          <p:cNvSpPr/>
          <p:nvPr/>
        </p:nvSpPr>
        <p:spPr>
          <a:xfrm>
            <a:off x="457200" y="4904333"/>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10" name="Rounded Rectangle 9"/>
          <p:cNvSpPr/>
          <p:nvPr/>
        </p:nvSpPr>
        <p:spPr>
          <a:xfrm>
            <a:off x="6187287" y="4904333"/>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인구·세대수 — 새로 가져온 외부 데이터</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인구-가격 관계는 보광동 하나가 만든 착시였다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4206830" y="1895002"/>
            <a:ext cx="3778034"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그래도 보광동 사례 자체는 흥미롭다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못했습니다(상관 0.009, 유의하지 않음).</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