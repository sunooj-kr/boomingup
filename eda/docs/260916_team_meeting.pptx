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6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8" roundtripDataSignature="AMtx7mjtWzU+aBYasoenyN9c0fMJbifs9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EEB32C9-EA51-438A-8DAD-C1DC1D4AD4C2}">
  <a:tblStyle styleId="{5EEB32C9-EA51-438A-8DAD-C1DC1D4AD4C2}" styleName="Table_0">
    <a:wholeTbl>
      <a:tcTxStyle b="off" i="off">
        <a:font>
          <a:latin typeface="맑은 고딕"/>
          <a:ea typeface="맑은 고딕"/>
          <a:cs typeface="맑은 고딕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7E9EC"/>
          </a:solidFill>
        </a:fill>
      </a:tcStyle>
    </a:wholeTbl>
    <a:band1H>
      <a:tcTxStyle/>
      <a:tcStyle>
        <a:fill>
          <a:solidFill>
            <a:srgbClr val="CAD1D8"/>
          </a:solidFill>
        </a:fill>
      </a:tcStyle>
    </a:band1H>
    <a:band2H>
      <a:tcTxStyle/>
    </a:band2H>
    <a:band1V>
      <a:tcTxStyle/>
      <a:tcStyle>
        <a:fill>
          <a:solidFill>
            <a:srgbClr val="CAD1D8"/>
          </a:solidFill>
        </a:fill>
      </a:tcStyle>
    </a:band1V>
    <a:band2V>
      <a:tcTxStyle/>
    </a:band2V>
    <a:lastCol>
      <a:tcTxStyle b="on" i="off">
        <a:font>
          <a:latin typeface="맑은 고딕"/>
          <a:ea typeface="맑은 고딕"/>
          <a:cs typeface="맑은 고딕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맑은 고딕"/>
          <a:ea typeface="맑은 고딕"/>
          <a:cs typeface="맑은 고딕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맑은 고딕"/>
          <a:ea typeface="맑은 고딕"/>
          <a:cs typeface="맑은 고딕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맑은 고딕"/>
          <a:ea typeface="맑은 고딕"/>
          <a:cs typeface="맑은 고딕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2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customschemas.google.com/relationships/presentationmetadata" Target="metadata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ko-KR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안녕하세요, 오늘은 서울 아파트 매매가에 영향을 주는 요인을 여러 각도에서 살펴본 EDA 결과를 공유드리겠습니다. 팀 데이터베이스에 있는 실제 실거래·단지·입지 데이터를 직접 조회해서 나온 결과이고(9번 축까지), 마지막 10번 축만 외부 공공데이터(인구·세대수)를 새로 받아와 합쳤습니다. 슬라이드마다 '무엇을 보려던 건지 → 뭘로 측정했는지 → 결과가 뭐였는지 → 어떻게 해석하는지' 순서로 말씀드리겠습니다. 목적은 하늘색 박스, 해석(결론)은 초록색 박스, 주의할 점은 빨간색 박스로 표시했습니다.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오늘 다룰 순서입니다. 1~9번은 저희 팀 데이터베이스로 확인한 결과이고, 10번만 외부 공공데이터(행정안전부 인구·세대수)를 새로 받아와 합친 결과라 따로 표시했습니다. 각 축마다 무엇을 보려고 했는지, 어떤 지표로 확인했는지, 결과가 뭐였는지, 어떻게 해석하면 되는지를 같은 순서로 보여드리겠습니다.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저희가 쓴 데이터는 두 갈래입니다. 대부분은 팀이 미리 정리해서 데이터베이스(자료를 체계적으로 저장해두는 곳)에 올려둔 표들이고, 저희는 '읽기 전용' 계정(내용을 보기만 하고 고치거나 지울 수는 없는 계정)으로만 접속했기 때문에 이 작업으로 팀 데이터에 영향을 준 건 전혀 없습니다. 매매·전월세 실거래 기록이 각각 140만 건, 300만 건 정도고, 여기에 단지 정보·법정동(동 단위 행정구역) 가격지수·정책 이벤트를 붙여서 분석했습니다. 마지막 한 줄만 예외인데, 10번 축(인구·세대수)은 이 데이터베이스에 없는 정보라 행정안전부가 공개한 공공데이터를 저희가 별도로 받아왔습니다 — 이것도 팀 데이터베이스와는 무관한 외부 자료라 마찬가지로 영향은 없습니다.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① 무엇을 보려던 건가: 정책 발표 시점과 거래량 변화 시점이 실제로 겹치는지 눈으로 확인하려는 그래프입니다.</a:t>
            </a:r>
          </a:p>
          <a:p/>
          <a:p>
            <a:r>
              <a:t>② 뭘로 측정했나: 가로축은 분기(2006Q1~2026Q3), 세로축은 그 분기의 매매 거래 건수(취소 제외)입니다. 빨간 점선은 2017년 8·2 대책 같은 규제 강화 시점, 초록 점선은 2023년 1월 규제지역 해제 시점입니다.</a:t>
            </a:r>
          </a:p>
          <a:p/>
          <a:p>
            <a:r>
              <a:t>③ 결과가 뭐였나: 2022년에 거래량이 바닥까지 떨어졌다가 2023년 규제 해제 직후부터 반등하는 게 시점상 겹쳐 보입니다.</a:t>
            </a:r>
          </a:p>
          <a:p/>
          <a:p>
            <a:r>
              <a:t>④ 어떻게 해석하나: 그래프에 이벤트 시점을 표시해본 것일 뿐, 금리·계절성·다른 정책까지 통제해서 인과를 검정한 건 아니라서 '정책 때문에 거래량이 움직였다'고 단정하지는 않겠습니다 — '시점이 겹친다' 정도로 신중하게 봐주세요.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① 무엇을 보려던 건가: 거래량과 단가는 단위가 완전히 달라서(건수 vs 만원/㎡) 직접 비교할 수 없습니다. '지수화'는 특정 시점의 값을 기준값 100으로 놓고, 그 이후 값을 '기준 대비 몇 배·몇 %'로 바꿔서 표현하는 방법입니다. 2006~2008년 평균을 100으로 놓고 지수화하면 단위가 다른 두 값도 같은 척도('기준 대비 몇 %인지')에서 '어느 쪽이 더 출렁이는지'를 비교할 수 있습니다.</a:t>
            </a:r>
          </a:p>
          <a:p/>
          <a:p>
            <a:r>
              <a:t>② 뭘로 측정했나: 단일 연도가 아니라 3개년 평균을 기준점으로 쓴 이유는, 2006년 한 해만 보면 거래량은 이례적으로 많고 가격은 이례적으로 낮아서 기준점으로 삼기에 적절하지 않기 때문입니다. 가로축은 연도, 세로축은 지수값이고, 하늘색이 거래량, 남색이 단가입니다.</a:t>
            </a:r>
          </a:p>
          <a:p/>
          <a:p>
            <a:r>
              <a:t>③ 결과가 뭐였나: 두 선이 같이 우상향하지 않고 거래량(하늘색)이 훨씬 크게 출렁입니다. 2022년에 거래량이 -71.3%까지 급감했는데 가격은 -3.3%밖에 안 빠졌습니다. 2023년엔 거래량 182.5%, 가격 4.3%로 다시 훨씬 완만합니다. 점선으로 표시한 맨 끝 2026년 구간은 8월까지만 집계된 데이터입니다 — 같은 개월수(1~8월)로 전년과 비교하면 거래량 -7.1%, 단가 -9.0% 정도입니다.</a:t>
            </a:r>
          </a:p>
          <a:p/>
          <a:p>
            <a:r>
              <a:t>④ 어떻게 해석하나: 거래량이 가격보다 훨씬 크게 변한다는 건 확인된 사실이지만, 왜 그런지(정책·금리 때문인지 다른 이유인지)는 이 그래프만으로는 알 수 없습니다.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① 무엇을 보려던 건가: 같은 서울이라도 자치구 단위로 보면 가격 수준이 얼마나 차이 나는지 확인하려는 그래프입니다.</a:t>
            </a:r>
          </a:p>
          <a:p/>
          <a:p>
            <a:r>
              <a:t>② 뭘로 측정했나: 가로축은 2026년 거래의 ㎡당 단가 중앙값(만원), 세로축은 자치구입니다. '중앙값'은 평균과 다르게, 값을 작은 순서부터 큰 순서로 줄 세웠을 때 정확히 가운데에 있는 값입니다 — 한두 개의 아주 비싸거나 싼 거래(극단값)에 덜 흔들려서 '이 동네의 대표적인 가격'을 볼 때 평균보다 자주 씁니다. 주황색이 강남3구(강남·서초·송파), 하늘색이 나머지 22개 구입니다.</a:t>
            </a:r>
          </a:p>
          <a:p/>
          <a:p>
            <a:r>
              <a:t>③ 결과가 뭐였나: 강남구가 3,531만원으로 가장 낮은 도봉구(802만원)의 4.4배입니다.</a:t>
            </a:r>
          </a:p>
          <a:p/>
          <a:p>
            <a:r>
              <a:t>④ 어떻게 해석하나: 구 단위로도 이 정도 격차가 있다는 걸 먼저 보여드리는 그림이고, 다음 슬라이드에서는 구 안에서도 동별로 얼마나 다른지 이어서 보겠습니다.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① 무엇을 보려던 건가: '강남구는 비싸다'는 구 평균 한 줄로는 안 보이는 동별 차이가 실제로 있는지 확인하려는 그래프입니다.</a:t>
            </a:r>
          </a:p>
          <a:p/>
          <a:p>
            <a:r>
              <a:t>② 뭘로 측정했나: 가로축은 2025Q2에서 2026Q2까지 1년간 법정동 hedonic 가격지수(단지 크기·연식 차이를 보정해서 '같은 조건의 집이라면 가격이 얼마나 변했는지'만 뽑아낸 지수)의 실제 상승률(%)이고, 세로축은 동 이름과 소속 구입니다(초록=상승, 빨강=하락). 앞 슬라이드의 '자치구별 단가'는 보정하지 않은 원시거래 중앙값 기준이고, 이 슬라이드는 같은 hedonic 지수로 구·동을 동시에 비교한 것이라 서로 다른 지표입니다.</a:t>
            </a:r>
          </a:p>
          <a:p/>
          <a:p>
            <a:r>
              <a:t>③ 결과가 뭐였나: 강남구 표본기준(직전 4분기 거래 20건 이상)을 통과한 동 13개 평균은 +6.8%로 플러스지만, 그 안에서 역삼동(-7.1%)부터 수서동(+33.3%)까지 동별 편차가 굉장히 큽니다. 전체 서울에서 가장 많이 오른 건 보광동(+46.3%)이었습니다.</a:t>
            </a:r>
          </a:p>
          <a:p/>
          <a:p>
            <a:r>
              <a:t>④ 어떻게 해석하나: '구 평균이 오른다고 그 구의 모든 동이 다 오르는 건 아니다'라는 뜻입니다. 다만 이 지수는 같은 동 안에서의 시점 간 변화만 비교 가능하다는 점(동 간 수준 비교는 부적절)을 참고해주세요.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① 무엇을 보려던 건가: 준공된 지 얼마나 지났는지가 가격과 어떤 모양의 관계를 보이는지 확인하려는 그래프입니다.</a:t>
            </a:r>
          </a:p>
          <a:p/>
          <a:p>
            <a:r>
              <a:t>② 뭘로 측정했나: 가로축은 준공 후 연차 구간(0~5년부터 40~60년까지), 세로축은 2024~2026년 거래의 ㎡당 단가 중앙값입니다.</a:t>
            </a:r>
          </a:p>
          <a:p/>
          <a:p>
            <a:r>
              <a:t>③ 결과가 뭐였나: 신축(0~10년)이 비싸다가 10~40년 구간에서 떨어지고, 40년 이상 노후 단지에서 다시 가장 비싸지는 U자형입니다.</a:t>
            </a:r>
          </a:p>
          <a:p/>
          <a:p>
            <a:r>
              <a:t>④ 어떻게 해석하나: 노후 단지가 다시 비싸지는 건, 오래된 아파트를 허물고 새로 짓는 사업인 '재건축·재개발'(둘을 합쳐 '정비사업'이라 부릅니다)에 대한 기대감이 반영됐을 거라는 게 자연스러운 가설이라 다음 슬라이드에서 정비사업 진행 단계별로 더 직접 확인해보겠습니다. 다만 이것도 지역·입지·단지규모를 따로 통제하지 않은 단순 중앙값 비교라, '연차 자체의 효과'라고 단정하기보다는 참고 지표로 봐주시면 좋겠습니다.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① 무엇을 보려던 건가: 정비사업이 진행 중인 단지가 일반 단지보다 실제로 비싼지, 그리고 진행 단계에 따라 차이가 있는지 확인하려는 그래프입니다.</a:t>
            </a:r>
          </a:p>
          <a:p/>
          <a:p>
            <a:r>
              <a:t>② 뭘로 측정했나: 정비사업은 구역지정 → 추진위원회 구성 → 조합설립 → 건축심의 → 사업시행인가 → 관리처분인가 → 착공 순서로 절차가 진행됩니다(뒤로 갈수록 실제 공사에 가까워지는 단계입니다). 가로축은 이 진행 단계, 세로축은 정비사업 대상이 아닌 일반 단지를 0%로 놓았을 때의 단가 프리미엄(웃돈, %)입니다.</a:t>
            </a:r>
          </a:p>
          <a:p/>
          <a:p>
            <a:r>
              <a:t>③ 결과가 뭐였나: '건축심의' 단계 단지가 154%로 가장 높고, 관리처분 단계가 오히려 34%로 낮게 나옵니다.</a:t>
            </a:r>
          </a:p>
          <a:p/>
          <a:p>
            <a:r>
              <a:t>④ 어떻게 해석하나: 관리처분 단계가 낮게 나오는 게 이주로 인한 건물 상태 때문인지 다른 이유인지는 이 데이터만으로는 확인할 수 없어 가능한 해석 중 하나로만 말씀드립니다. 또한 정비사업 단계는 '지금 시점(2026년) 기준'인데 이걸 2024년, 2020년 등 과거 거래에도 그대로 붙여서 비교했다는 시점 불일치가 있어, '단계가 프리미엄을 만든다'고 단정하기는 어렵습니다.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① 무엇을 보려던 건가: 지하철역까지 거리가 가까울수록 실제로 더 비싼지 확인하려는 그래프입니다.</a:t>
            </a:r>
          </a:p>
          <a:p/>
          <a:p>
            <a:r>
              <a:t>② 뭘로 측정했나: 가로축은 단지에서 가장 가까운 지하철역까지 거리 구간, 세로축은 ㎡당 단가 중앙값입니다.</a:t>
            </a:r>
          </a:p>
          <a:p/>
          <a:p>
            <a:r>
              <a:t>③ 결과가 뭐였나: 300m 이내가 1,466만원인데 2km를 넘어가면 687만원으로 거의 반토막입니다. 거리가 멀어질수록 단가가 계단식으로 낮아집니다.</a:t>
            </a:r>
          </a:p>
          <a:p/>
          <a:p>
            <a:r>
              <a:t>④ 어떻게 해석하나: 아주 뚜렷한 역세권 프리미엄으로 보입니다. 다만 이것도 다른 요인을 통제하지 않은 단순 비교라는 점은 참고해주세요.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① 무엇을 보려던 건가: 한강조망·학군거리 같은 입지 요인 중 가격과 가장 밀접하게 관련된 게 무엇인지 비교하려는 그래프입니다.</a:t>
            </a:r>
          </a:p>
          <a:p/>
          <a:p>
            <a:r>
              <a:t>② 뭘로 측정했나: 가로축은 한강 조망 세대가 있는지 여부(O/X), 세로축은 ㎡당 단가입니다. 따로 '상관계수'도 계산했습니다 — 상관계수는 두 지표가 얼마나 같이 움직이는지를 -1~+1 사이 숫자로 나타낸 것입니다. 0에 가까우면 거의 관계가 없다는 뜻이고, +1에 가까울수록 '한쪽이 오르면 다른 쪽도 같이 오른다', -1에 가까울수록 '한쪽이 오르면 다른 쪽은 내려간다'는 뜻입니다.</a:t>
            </a:r>
          </a:p>
          <a:p/>
          <a:p>
            <a:r>
              <a:t>③ 결과가 뭐였나: 한강 조망이 있는 단지가 1,850만원, 없는 단지가 1,194만원으로 약 55% 차이가 납니다. 저희가 확인한 입지 요인 중에서 상관계수가 가장 높은(0.29) 게 이 한강조망이었습니다. 반면 학교까지 거리는 상관계수가 거의 0에 가까웠습니다(=단순 비교로는 관계가 잘 안 보임).</a:t>
            </a:r>
          </a:p>
          <a:p/>
          <a:p>
            <a:r>
              <a:t>④ 어떻게 해석하나: 한강조망이 가장 강한 입지 요인으로 보입니다. 학군 거리가 약하게 나온 건, '학군'이라는 게 물리적 거리보다 특정 동 전체의 평판이나 배정 학교 자체로 작동하기 때문일 것으로 추정됩니다.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① 무엇을 보려던 건가: 층수가 높을수록 가격이 실제로 오르는지 확인하려는 그래프입니다.</a:t>
            </a:r>
          </a:p>
          <a:p/>
          <a:p>
            <a:r>
              <a:t>② 뭘로 측정했나: 가로축은 층대(지하/1층부터 21층 이상까지), 세로축은 ㎡당 단가 중앙값입니다.</a:t>
            </a:r>
          </a:p>
          <a:p/>
          <a:p>
            <a:r>
              <a:t>③ 결과가 뭐였나: 층이 높아질수록 계속 단가가 오르다가 21층 이상 구간에서 922만원으로 크게 뜁니다.</a:t>
            </a:r>
          </a:p>
          <a:p/>
          <a:p>
            <a:r>
              <a:t>④ 어떻게 해석하나: 이건 지역·연식·단지를 따로 통제하지 않은 단순 비교라서, 고층 자체의 프리미엄인지 최근 지어진 고층 대단지가 원래 비싼 지역에 많은 건지는 이 데이터만으로 확정할 수 없습니다.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① 무엇을 보려던 건가: 전용면적 크기에 따라 ㎡당 단가가 어떤 모양으로 달라지는지 확인하려는 그래프입니다.</a:t>
            </a:r>
          </a:p>
          <a:p/>
          <a:p>
            <a:r>
              <a:t>② 뭘로 측정했나: 가로축은 전용면적 구간, 세로축은 ㎡당 단가 중앙값입니다.</a:t>
            </a:r>
          </a:p>
          <a:p/>
          <a:p>
            <a:r>
              <a:t>③ 결과가 뭐였나: 흔히 '국민평형'이라 부르는 60~85㎡ 구간이 오히려 가장 싸고(612만원), 40㎡ 이하 소형(761만원)과 165㎡ 이상 대형(921만원) 양쪽 끝이 더 비싼 U자형입니다.</a:t>
            </a:r>
          </a:p>
          <a:p/>
          <a:p>
            <a:r>
              <a:t>④ 어떻게 해석하나: 소형은 수요층이, 대형은 희소성이 이유일 거라는 가설은 세워볼 수 있지만 이 데이터만으로 확인된 원인은 아니라서 '가능한 해석' 정도로만 말씀드립니다.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① 무엇을 보려던 건가: 전세가율이 높은 동네가 1년 뒤 매매가도 더 많이 오르는지, '전세가율이 매매가보다 먼저 움직이는 신호(선행지표)인지' 확인하려는 그래프입니다. 전세가율은 '전세보증금 ÷ 매매가 × 100(%)'으로, 예를 들어 매매가 10억 원인 집의 전세보증금이 6억 원이면 전세가율은 60%입니다. 전세가율이 높다는 건 매매가 대비 전세가가 상대적으로 비싸다는 뜻이고, 흔히 '이 정도면 매매가가 저평가된 것 아니냐, 앞으로 오를 여지가 있지 않냐'는 식으로 해석되곤 합니다 — 그 통념이 실제 데이터에서 맞는지 확인하는 슬라이드입니다.</a:t>
            </a:r>
          </a:p>
          <a:p/>
          <a:p>
            <a:r>
              <a:t>② 뭘로 측정했나: 가로축은 '기점 분기(비교의 출발점으로 삼은 분기)의 전세가율'을 낮은 순서대로 5등분한 그룹(Q1~Q5), 세로축은 그 기점으로부터 1년 뒤 매매 가격지수(=그 동네 아파트 가격이 얼마나 올랐는지 보여주는 지수)가 평균 몇 % 올랐는지입니다. 기점 분기 기준으로 직전 4분기 매매 거래가 20건 이상인 동만 포함합니다(표본이 너무 적은 동은 지수 자체의 신뢰도가 낮기 때문입니다).</a:t>
            </a:r>
          </a:p>
          <a:p/>
          <a:p>
            <a:r>
              <a:t>③ 결과가 뭐였나: 전세가율 하위 20% 동은 1년 뒤 평균 6.6%, 상위 20%는 11.0% 올라 5개 구간이 순서대로 증가하는 모양은 뚜렷하지만, 전체 상관계수는 0.150로 크지 않습니다.</a:t>
            </a:r>
          </a:p>
          <a:p/>
          <a:p>
            <a:r>
              <a:t>④ 어떻게 해석하나: 더 중요한 건 기점 연도별로 쪼개보면 해마다 부호가 뒤집힌다는 점입니다(다음 슬라이드). 그래서 '전세가율이 매매가를 선행한다'는 표현보다 '약하고 불안정한 동반관계' 정도로 보는 게 정확합니다.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① 무엇을 보려던 건가: 앞 슬라이드에서 본 전세가율-미래상승률 관계가 매년 똑같이 유지되는 안정적인 관계인지 확인하려는 그래프입니다.</a:t>
            </a:r>
          </a:p>
          <a:p/>
          <a:p>
            <a:r>
              <a:t>② 뭘로 측정했나: 가로축은 기점 연도, 세로축은 그 연도에 시작한 동×기점 표본만으로 계산한 전세가율-미래상승률 상관계수입니다.</a:t>
            </a:r>
          </a:p>
          <a:p/>
          <a:p>
            <a:r>
              <a:t>③ 결과가 뭐였나: 2011·2018·2021·2022년처럼 초록색(양의 상관)인 해도 있지만, 2015~2017년, 2019년, 2023~2025년은 빨간색(음의 상관)이고 특히 2024년은 -0.507로 꽤 강한 음의 상관입니다.</a:t>
            </a:r>
          </a:p>
          <a:p/>
          <a:p>
            <a:r>
              <a:t>④ 어떻게 해석하나: 앞 슬라이드에서 본 전체 상관 0.15는 이 여러 해의 신호가 섞여 나온 평균일 뿐, 어느 해에나 적용되는 안정적인 관계가 아닙니다. 시장 국면(그 해 전체가 오르는 시기인지 내리는 시기인지)이 전세가율과 미래 가격 양쪽에 동시에 영향을 줘서 생기는 착시일 가능성이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① 무엇을 보려던 건가: 정비사업이 '있다/없다'는 이분법이 아니라 '얼마나 큰 규모로 진행 중인가'(강도)가 가격 변동성과 관련 있는지 확인하려는 그래프입니다.</a:t>
            </a:r>
          </a:p>
          <a:p/>
          <a:p>
            <a:r>
              <a:t>② 뭘로 측정했나: 가로축은 그 동에서 정비사업이 진행 중인 세대가 전체 재고 세대 대비 차지하는 비중(강도), 세로축은 그 동의 분기별 가격 변화율의 표준편차(변동성)입니다. '표준편차'는 숫자들이 평균에서 얼마나 들쭉날쭉 흩어져 있는지 보여주는 값입니다 — 표준편차가 크면 분기마다 가격이 크게 출렁였다는 뜻이고, 작으면 비교적 꾸준했다는 뜻입니다. 하늘색이 강도가 명목상 정상 범위(0~100%)인 동, 빨간색이 100%를 넘는 이상치 동입니다. 100%를 넘는 19개 동은 원본 데이터의 두 항목(진행 세대수, 재고 세대수)이 서로 다른 범위나 시점을 집계했을 가능성이 있어 이상치로 분리해서 봤습니다.</a:t>
            </a:r>
          </a:p>
          <a:p/>
          <a:p>
            <a:r>
              <a:t>③ 결과가 뭐였나: 이상치를 빼고 정상 범위만 보면 상관계수가 0.009, p값은 0.889로 통계적으로 유의한 선형관계를 확인하지 못했습니다.</a:t>
            </a:r>
          </a:p>
          <a:p/>
          <a:p>
            <a:r>
              <a:t>④ 어떻게 해석하나: '정비사업 강도가 가격 변동성과 관련 있다'는 관계를 이 데이터로는 확인하지 못했습니다. p값이 크다는 건 '관계가 없다고 증명됐다'는 뜻이 아니라 '유의한 관계를 찾지 못했다'는 뜻이라는 점도 참고해주세요. (p값은 '실제로는 관계가 없다고 가정했을 때, 지금 본 것만큼 강한 결과가 우연히 나올 확률'이며, 관례상 0.05보다 크면 '유의하지 않다'고 판단합니다)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① 무엇을 보려던 건가: 동네마다 반응(상승/하락)이 크게 갈린 이벤트를 찾아서, 그 이벤트 하나를 원인으로 특정해서 해석해도 되는지 확인하려는 그래프입니다.</a:t>
            </a:r>
          </a:p>
          <a:p/>
          <a:p>
            <a:r>
              <a:t>② 뭘로 측정했나: 가로축은 그 이벤트 4분기 뒤 상승한 동의 비율(%), 세로축은 상승한 동 비율이 50%에 가장 가까운(=반반으로 갈린) 이벤트 5개입니다. 점선이 50% 기준선이고, 초록은 상승한 동이 더 많았던 이벤트, 빨강은 하락한 동이 더 많았던 이벤트입니다.</a:t>
            </a:r>
          </a:p>
          <a:p/>
          <a:p>
            <a:r>
              <a:t>③ 결과가 뭐였나: event_summary의 overlapping_events(사건 앞뒤 ±4분기 안에 겹치는 다른 사건이 있는지 표시한 값)를 확인한 결과, 5개 이벤트 전부가 다른 이벤트와 겹쳐 있습니다.</a:t>
            </a:r>
          </a:p>
          <a:p/>
          <a:p>
            <a:r>
              <a:t>④ 어떻게 해석하나: 이 그래프는 '동네마다 반응이 갈린다'는 사실은 보여주지만, '어느 이벤트 때문에 갈렸는지'는 이 5개 중 단 하나도 답할 수 없습니다.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① 무엇을 보려던 건가: 김용진 님 제안('함께 움직이는 동 묶음 찾기')을 반영해, 가격이 비슷하게 움직이는 동끼리 묶이는 그룹이 있는지 확인하려는 그래프입니다.</a:t>
            </a:r>
          </a:p>
          <a:p/>
          <a:p>
            <a:r>
              <a:t>② 뭘로 측정했나: 법정동별 분기 가격지수 변화율에서, 그 분기 서울 전체 동들의 평균 변화율(공통 시장 흐름)을 먼저 뺐습니다. 이렇게 '시장 대비 초과 변화율'(그 동이 서울 평균보다 더 오르고 덜 올랐는지)만 남긴 뒤, 동 간 상관계수를 전부 짝지어 계산한 표(상관행렬)를 만들고, '상관계수가 비슷하게 높은 동끼리 자동으로 묶는' 통계 기법인 계층적 클러스터링으로 6개 그룹으로 나눴습니다. 왼쪽 그림은 그룹별 동 개수, 오른쪽 그림은 그룹별 평균 초과 변화율(최근 8분기)입니다.</a:t>
            </a:r>
          </a:p>
          <a:p/>
          <a:p>
            <a:r>
              <a:t>③ 결과가 뭐였나: 251개 동이 6개 그룹으로 나뉘었고(15~67개, 최대 쏠림 26.7%), 그룹마다 특정 자치구가 상위권에 몰려 있습니다. 5번 그룹(51개)은 용산구(13개)·강남구(6개)·서초구(5개) 등 한강변·고가권이 상위를 차지했고, 3번 그룹(67개)은 성북구·구로구·노원구 등 상대적으로 외곽 지역이 많았습니다.</a:t>
            </a:r>
          </a:p>
          <a:p/>
          <a:p>
            <a:r>
              <a:t>④ 어떻게 해석하나: 공통 시장 흐름을 먼저 제거하고 나니, 동네가 무작위로 섞이지 않고 지리적·가격대별로 설명 가능한 그룹으로 갈렸습니다. 다만 그룹 수(6개)는 분석자가 정한 값이고, 같은 그룹으로 묶인 이유(입지 유사성인지 개발 이슈 동조인지)는 이 결과만으로는 알 수 없어서 추가 해석이 필요합니다.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① 무엇을 보려던 건가: 2번 축에서 강남구 평균은 오르는데 왜 역삼·대치동은 내려갔는지, 혹시 그 동네 인구가 줄어드는 중이라 그런 건 아닌지 확인하려는 분석입니다.</a:t>
            </a:r>
          </a:p>
          <a:p/>
          <a:p>
            <a:r>
              <a:t>② 뭘로 측정했나: 팀 데이터베이스에는 인구 데이터가 없어서, 행정안전부가 공공데이터포털(정부기관이 공개한 자료를 누구나 내려받을 수 있게 해둔 사이트)에 무료로 공개한 법정동별 주민등록 인구·세대현황 자료를 새로 받아왔습니다. 자료를 가져올 때는 'API'(다른 시스템의 자료를 프로그램으로 자동 요청해서 받아오는 통로)라는 방식을 씁니다. 동 이름을 법정동코드(행정 구역마다 붙는 고유 번호)로 바꾸는 과정(Kakao 주소검색 API)까지 거쳐서 340개 동의 2025Q2·2026Q2 인구·세대수를 확보했고, 이걸 2번 축의 동별 가격 변화율과 합쳤습니다. 이 인구 통계는 2022년 10월부터만 공식 집계되고 한 번에 3개월까지만 조회할 수 있어서, 비교 가능한 두 분기(2025Q2, 2026Q2)만 받았습니다.</a:t>
            </a:r>
          </a:p>
          <a:p/>
          <a:p>
            <a:r>
              <a:t>③ 결과가 뭐였나: 다음 슬라이드에서 보여드립니다.</a:t>
            </a:r>
          </a:p>
          <a:p/>
          <a:p>
            <a:r>
              <a:t>④ 어떻게 해석하나: 다음 슬라이드에서 보여드립니다.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① 무엇을 보려던 건가: 인구가 줄어든 동네일수록 가격이 더 오르는 경향이 실제로 있는지 확인하려는 그래프입니다.</a:t>
            </a:r>
          </a:p>
          <a:p/>
          <a:p>
            <a:r>
              <a:t>② 뭘로 측정했나: 가로축은 그 동의 1년간 인구 변화율(%), 세로축은 같은 기간 hedonic 가격지수 변화율(%)입니다. 점 하나가 법정동 하나(231개)이고, 빨간 점 하나가 용산구 보광동입니다.</a:t>
            </a:r>
          </a:p>
          <a:p/>
          <a:p>
            <a:r>
              <a:t>③ 결과가 뭐였나: 전체 상관계수는 -0.108이지만 p값이 0.10로 통계적으로 유의하지 않습니다. 보광동 하나를 빼고 나머지 230개 동만 다시 계산하면 상관계수가 거의 0으로 사라집니다.</a:t>
            </a:r>
          </a:p>
          <a:p/>
          <a:p>
            <a:r>
              <a:t>④ 어떻게 해석하나: 이 '패턴'은 전체 동네의 일반적인 경향이 아니라, 보광동이라는 특정 사례 하나가 만든 그림입니다. 7번 축(정비사업 강도)에서도 같은 패턴을 보실 수 있습니다 — 이상치 하나가 전체 상관을 만드는 경우입니다.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① 무엇을 보려던 건가: 앞서 살펴본 2번 축의 강남구 동 4곳(역삼·대치·압구정·수서)과 인구 변화가 가장 극적이었던 보광동을 나란히 놓고 개별 사례를 들여다보려는 표입니다.</a:t>
            </a:r>
          </a:p>
          <a:p/>
          <a:p>
            <a:r>
              <a:t>② 뭘로 측정했나: 법정동별 인구 변화율(1년)과 hedonic 가격 변화율(1년)을 동별로 정리했습니다.</a:t>
            </a:r>
          </a:p>
          <a:p/>
          <a:p>
            <a:r>
              <a:t>③ 결과가 뭐였나: 보광동은 인구가 -26.5%로 압도적으로 많이 줄었고 가격은 +46.3%로 가장 많이 올랐습니다. 반면 나머지 강남구 4개 동은 인구 변화율이 -0.3%에서 -0.8% 사이로 서로 비슷비슷한데 가격은 수서동만 +33.3%로 오르고 나머지는 다 내려갔습니다.</a:t>
            </a:r>
          </a:p>
          <a:p/>
          <a:p>
            <a:r>
              <a:t>④ 어떻게 해석하나: '인구가 줄면 가격이 오른다'는 일반 법칙으로 만들 수는 없지만, 보광동 하나만 놓고 보면 인구 급감과 가격 급등이 동시에 일어난 건 사실이라 왜 그런지는 궁금증이 남습니다. 재개발·재건축으로 인한 이주일 가능성이 있어 보이지만, 이건 저희가 가진 데이터로 확인된 게 아니라 추측입니다. 강남구 안에서 동마다 가격이 갈린 이유는 이번에도 인구로는 설명이 안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오늘 다룬 10개 축을 한 줄씩 압축하면 이렇습니다. 가장 확실하게 남는 건 두 가지입니다 — 거래량이 가격보다 훨씬 크게 흔들린다는 것과, 구 단위 평균만 보면 안 되고 동 단위 편차를 봐야 한다는 것입니다. 반면 정비사업 강도나 전세가율처럼 얼핏 관계가 있어 보였던 지표들은 자세히 뜯어보면 통계적 근거가 약하거나 불안정하다는 것도 같이 말씀드리고 싶습니다.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마지막으로 한계와 다음 단계입니다. 오늘 본 것 중 상당수는 상관관계지 인과관계가 아니라는 점을 다시 한번 강조드리고 싶습니다. 다음 단계로는 여러 요인을 동시에 통제한 회귀분석 결과를 (따로 정리한 자료로) 모델 feature와 교차 검증하고, 9번 축에서 갈린 동 그룹이 실제로 왜 같이 움직이는지 더 들여다보면 좋을 것 같습니다. 여기까지입니다, 질문 있으시면 편하게 말씀해주세요.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8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슬라이드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5"/>
          <p:cNvSpPr/>
          <p:nvPr/>
        </p:nvSpPr>
        <p:spPr>
          <a:xfrm>
            <a:off x="0" y="6583680"/>
            <a:ext cx="12192000" cy="274320"/>
          </a:xfrm>
          <a:prstGeom prst="rect">
            <a:avLst/>
          </a:prstGeom>
          <a:solidFill>
            <a:srgbClr val="002F3E"/>
          </a:solidFill>
          <a:ln cap="flat" cmpd="sng" w="19050">
            <a:solidFill>
              <a:srgbClr val="003E3B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7" name="Google Shape;17;p15"/>
          <p:cNvSpPr txBox="1"/>
          <p:nvPr>
            <p:ph type="ctrTitle"/>
          </p:nvPr>
        </p:nvSpPr>
        <p:spPr>
          <a:xfrm>
            <a:off x="838200" y="2577471"/>
            <a:ext cx="10154194" cy="10704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Malgun Gothic"/>
              <a:buNone/>
              <a:defRPr b="1"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15"/>
          <p:cNvSpPr txBox="1"/>
          <p:nvPr>
            <p:ph idx="1" type="subTitle"/>
          </p:nvPr>
        </p:nvSpPr>
        <p:spPr>
          <a:xfrm>
            <a:off x="838200" y="3717538"/>
            <a:ext cx="9144000" cy="5184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47474"/>
              </a:buClr>
              <a:buSzPts val="1800"/>
              <a:buNone/>
              <a:defRPr b="0" sz="1800">
                <a:solidFill>
                  <a:srgbClr val="747474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9" name="Google Shape;19;p15"/>
          <p:cNvSpPr txBox="1"/>
          <p:nvPr>
            <p:ph idx="10" type="dt"/>
          </p:nvPr>
        </p:nvSpPr>
        <p:spPr>
          <a:xfrm>
            <a:off x="408829" y="6592184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5"/>
          <p:cNvSpPr txBox="1"/>
          <p:nvPr>
            <p:ph idx="11" type="ftr"/>
          </p:nvPr>
        </p:nvSpPr>
        <p:spPr>
          <a:xfrm>
            <a:off x="4038600" y="6592184"/>
            <a:ext cx="4114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5"/>
          <p:cNvSpPr txBox="1"/>
          <p:nvPr>
            <p:ph idx="12" type="sldNum"/>
          </p:nvPr>
        </p:nvSpPr>
        <p:spPr>
          <a:xfrm>
            <a:off x="9039971" y="6592184"/>
            <a:ext cx="2743200" cy="257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11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0" lvl="1" marL="0" algn="r">
              <a:spcBef>
                <a:spcPts val="0"/>
              </a:spcBef>
              <a:buNone/>
              <a:defRPr b="0" i="0" sz="11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0" lvl="2" marL="0" algn="r">
              <a:spcBef>
                <a:spcPts val="0"/>
              </a:spcBef>
              <a:buNone/>
              <a:defRPr b="0" i="0" sz="11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0" lvl="3" marL="0" algn="r">
              <a:spcBef>
                <a:spcPts val="0"/>
              </a:spcBef>
              <a:buNone/>
              <a:defRPr b="0" i="0" sz="11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0" lvl="4" marL="0" algn="r">
              <a:spcBef>
                <a:spcPts val="0"/>
              </a:spcBef>
              <a:buNone/>
              <a:defRPr b="0" i="0" sz="11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0" lvl="5" marL="0" algn="r">
              <a:spcBef>
                <a:spcPts val="0"/>
              </a:spcBef>
              <a:buNone/>
              <a:defRPr b="0" i="0" sz="11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0" lvl="6" marL="0" algn="r">
              <a:spcBef>
                <a:spcPts val="0"/>
              </a:spcBef>
              <a:buNone/>
              <a:defRPr b="0" i="0" sz="11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0" lvl="7" marL="0" algn="r">
              <a:spcBef>
                <a:spcPts val="0"/>
              </a:spcBef>
              <a:buNone/>
              <a:defRPr b="0" i="0" sz="11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0" lvl="8" marL="0" algn="r">
              <a:spcBef>
                <a:spcPts val="0"/>
              </a:spcBef>
              <a:buNone/>
              <a:defRPr b="0" i="0" sz="11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  <p:sp>
        <p:nvSpPr>
          <p:cNvPr id="22" name="Google Shape;22;p15"/>
          <p:cNvSpPr/>
          <p:nvPr/>
        </p:nvSpPr>
        <p:spPr>
          <a:xfrm>
            <a:off x="838200" y="4244479"/>
            <a:ext cx="1371600" cy="54864"/>
          </a:xfrm>
          <a:prstGeom prst="rect">
            <a:avLst/>
          </a:prstGeom>
          <a:solidFill>
            <a:srgbClr val="40CDDC"/>
          </a:solidFill>
          <a:ln>
            <a:noFill/>
          </a:ln>
          <a:effectLst>
            <a:outerShdw blurRad="50800" rotWithShape="0" algn="tr" dir="8100000" dist="381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9C77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23" name="Google Shape;23;p15"/>
          <p:cNvGrpSpPr/>
          <p:nvPr/>
        </p:nvGrpSpPr>
        <p:grpSpPr>
          <a:xfrm>
            <a:off x="10335437" y="213966"/>
            <a:ext cx="1447734" cy="764601"/>
            <a:chOff x="10077284" y="548830"/>
            <a:chExt cx="1150654" cy="607702"/>
          </a:xfrm>
        </p:grpSpPr>
        <p:pic>
          <p:nvPicPr>
            <p:cNvPr descr="The image depicts a stylized, colorful, winged creature with a spiral pattern, surrounded by a minimalistic, abstract molecular structure.&#10;&#10;AI 생성 콘텐츠는 정확하지 않을 수 있습니다." id="24" name="Google Shape;24;p15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0499387" y="548830"/>
              <a:ext cx="592152" cy="34677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INNOWL&#10;&#10;AI 생성 콘텐츠는 정확하지 않을 수 있습니다." id="25" name="Google Shape;25;p15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0077284" y="895603"/>
              <a:ext cx="1150654" cy="260929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및 내용" type="obj">
  <p:cSld name="OBJECT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16"/>
          <p:cNvSpPr/>
          <p:nvPr/>
        </p:nvSpPr>
        <p:spPr>
          <a:xfrm>
            <a:off x="0" y="0"/>
            <a:ext cx="12192000" cy="681037"/>
          </a:xfrm>
          <a:prstGeom prst="rect">
            <a:avLst/>
          </a:prstGeom>
          <a:solidFill>
            <a:srgbClr val="002632"/>
          </a:solidFill>
          <a:ln cap="flat" cmpd="sng" w="19050">
            <a:solidFill>
              <a:srgbClr val="003E3B"/>
            </a:solidFill>
            <a:prstDash val="solid"/>
            <a:miter lim="8000"/>
            <a:headEnd len="sm" w="sm" type="none"/>
            <a:tailEnd len="sm" w="sm" type="none"/>
          </a:ln>
          <a:effectLst>
            <a:outerShdw blurRad="50800" rotWithShape="0" algn="t" dir="5400000" dist="25400">
              <a:srgbClr val="000000">
                <a:alpha val="70196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8" name="Google Shape;28;p16"/>
          <p:cNvSpPr txBox="1"/>
          <p:nvPr>
            <p:ph type="title"/>
          </p:nvPr>
        </p:nvSpPr>
        <p:spPr>
          <a:xfrm>
            <a:off x="345219" y="0"/>
            <a:ext cx="10515600" cy="6810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lgun Gothic"/>
              <a:buNone/>
              <a:defRPr sz="2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6"/>
          <p:cNvSpPr txBox="1"/>
          <p:nvPr>
            <p:ph idx="1" type="body"/>
          </p:nvPr>
        </p:nvSpPr>
        <p:spPr>
          <a:xfrm>
            <a:off x="838200" y="1066800"/>
            <a:ext cx="10515600" cy="51101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55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indent="-3302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3pPr>
            <a:lvl4pPr indent="-3175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4pPr>
            <a:lvl5pPr indent="-3175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" name="Google Shape;30;p16"/>
          <p:cNvSpPr/>
          <p:nvPr/>
        </p:nvSpPr>
        <p:spPr>
          <a:xfrm>
            <a:off x="0" y="6583680"/>
            <a:ext cx="12192000" cy="274320"/>
          </a:xfrm>
          <a:prstGeom prst="rect">
            <a:avLst/>
          </a:prstGeom>
          <a:solidFill>
            <a:srgbClr val="002632"/>
          </a:solidFill>
          <a:ln cap="flat" cmpd="sng" w="19050">
            <a:solidFill>
              <a:srgbClr val="003E3B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1" name="Google Shape;31;p16"/>
          <p:cNvSpPr txBox="1"/>
          <p:nvPr>
            <p:ph idx="10" type="dt"/>
          </p:nvPr>
        </p:nvSpPr>
        <p:spPr>
          <a:xfrm>
            <a:off x="408829" y="6592184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6"/>
          <p:cNvSpPr txBox="1"/>
          <p:nvPr>
            <p:ph idx="11" type="ftr"/>
          </p:nvPr>
        </p:nvSpPr>
        <p:spPr>
          <a:xfrm>
            <a:off x="4038600" y="6592184"/>
            <a:ext cx="4114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6"/>
          <p:cNvSpPr txBox="1"/>
          <p:nvPr>
            <p:ph idx="12" type="sldNum"/>
          </p:nvPr>
        </p:nvSpPr>
        <p:spPr>
          <a:xfrm>
            <a:off x="9039971" y="6592184"/>
            <a:ext cx="2743200" cy="257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11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0" lvl="1" marL="0" algn="r">
              <a:spcBef>
                <a:spcPts val="0"/>
              </a:spcBef>
              <a:buNone/>
              <a:defRPr b="0" i="0" sz="11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0" lvl="2" marL="0" algn="r">
              <a:spcBef>
                <a:spcPts val="0"/>
              </a:spcBef>
              <a:buNone/>
              <a:defRPr b="0" i="0" sz="11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0" lvl="3" marL="0" algn="r">
              <a:spcBef>
                <a:spcPts val="0"/>
              </a:spcBef>
              <a:buNone/>
              <a:defRPr b="0" i="0" sz="11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0" lvl="4" marL="0" algn="r">
              <a:spcBef>
                <a:spcPts val="0"/>
              </a:spcBef>
              <a:buNone/>
              <a:defRPr b="0" i="0" sz="11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0" lvl="5" marL="0" algn="r">
              <a:spcBef>
                <a:spcPts val="0"/>
              </a:spcBef>
              <a:buNone/>
              <a:defRPr b="0" i="0" sz="11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0" lvl="6" marL="0" algn="r">
              <a:spcBef>
                <a:spcPts val="0"/>
              </a:spcBef>
              <a:buNone/>
              <a:defRPr b="0" i="0" sz="11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0" lvl="7" marL="0" algn="r">
              <a:spcBef>
                <a:spcPts val="0"/>
              </a:spcBef>
              <a:buNone/>
              <a:defRPr b="0" i="0" sz="11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0" lvl="8" marL="0" algn="r">
              <a:spcBef>
                <a:spcPts val="0"/>
              </a:spcBef>
              <a:buNone/>
              <a:defRPr b="0" i="0" sz="11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  <p:pic>
        <p:nvPicPr>
          <p:cNvPr descr="The image depicts a stylized, colorful, winged creature with a spiral pattern, surrounded by a minimalistic, abstract molecular structure.&#10;&#10;AI 생성 콘텐츠는 정확하지 않을 수 있습니다." id="34" name="Google Shape;34;p1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1290190" y="160421"/>
            <a:ext cx="600999" cy="3519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NNOWL&#10;&#10;AI 생성 콘텐츠는 정확하지 않을 수 있습니다." id="35" name="Google Shape;35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017334" y="228394"/>
            <a:ext cx="1252314" cy="2839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구역 머리글" type="secHead">
  <p:cSld name="SECTION_HEADER">
    <p:bg>
      <p:bgPr>
        <a:solidFill>
          <a:srgbClr val="002632"/>
        </a:solid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7"/>
          <p:cNvSpPr txBox="1"/>
          <p:nvPr>
            <p:ph type="title"/>
          </p:nvPr>
        </p:nvSpPr>
        <p:spPr>
          <a:xfrm>
            <a:off x="1379095" y="1709739"/>
            <a:ext cx="9676524" cy="17192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Malgun Gothic"/>
              <a:buNone/>
              <a:defRPr sz="4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7"/>
          <p:cNvSpPr txBox="1"/>
          <p:nvPr>
            <p:ph idx="1" type="body"/>
          </p:nvPr>
        </p:nvSpPr>
        <p:spPr>
          <a:xfrm>
            <a:off x="1379094" y="3648074"/>
            <a:ext cx="9676525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800"/>
              <a:buNone/>
              <a:defRPr sz="1800">
                <a:solidFill>
                  <a:srgbClr val="F2F2F2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/>
        </p:txBody>
      </p:sp>
      <p:sp>
        <p:nvSpPr>
          <p:cNvPr id="39" name="Google Shape;39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0" lvl="1" marL="0" algn="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0" lvl="2" marL="0" algn="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0" lvl="3" marL="0" algn="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0" lvl="4" marL="0" algn="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0" lvl="5" marL="0" algn="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0" lvl="6" marL="0" algn="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0" lvl="7" marL="0" algn="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0" lvl="8" marL="0" algn="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  <p:pic>
        <p:nvPicPr>
          <p:cNvPr descr="The image depicts a stylized, colorful, winged creature with a spiral pattern, surrounded by a minimalistic, abstract molecular structure.&#10;&#10;AI 생성 콘텐츠는 정확하지 않을 수 있습니다." id="40" name="Google Shape;40;p17"/>
          <p:cNvPicPr preferRelativeResize="0"/>
          <p:nvPr/>
        </p:nvPicPr>
        <p:blipFill rotWithShape="1">
          <a:blip r:embed="rId2">
            <a:alphaModFix amt="20000"/>
          </a:blip>
          <a:srcRect b="0" l="0" r="0" t="0"/>
          <a:stretch/>
        </p:blipFill>
        <p:spPr>
          <a:xfrm>
            <a:off x="6787688" y="3209926"/>
            <a:ext cx="5261054" cy="308096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NNOWL&#10;&#10;AI 생성 콘텐츠는 정확하지 않을 수 있습니다." id="41" name="Google Shape;4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549090" y="354334"/>
            <a:ext cx="1252314" cy="2839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콘텐츠 2개">
  <p:cSld name="콘텐츠 2개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8"/>
          <p:cNvSpPr txBox="1"/>
          <p:nvPr>
            <p:ph idx="1" type="body"/>
          </p:nvPr>
        </p:nvSpPr>
        <p:spPr>
          <a:xfrm>
            <a:off x="497305" y="1009097"/>
            <a:ext cx="5522495" cy="524652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55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indent="-3302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3pPr>
            <a:lvl4pPr indent="-3175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4pPr>
            <a:lvl5pPr indent="-3175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" name="Google Shape;44;p18"/>
          <p:cNvSpPr/>
          <p:nvPr/>
        </p:nvSpPr>
        <p:spPr>
          <a:xfrm>
            <a:off x="0" y="0"/>
            <a:ext cx="12192000" cy="681037"/>
          </a:xfrm>
          <a:prstGeom prst="rect">
            <a:avLst/>
          </a:prstGeom>
          <a:solidFill>
            <a:srgbClr val="002632"/>
          </a:solidFill>
          <a:ln cap="flat" cmpd="sng" w="19050">
            <a:solidFill>
              <a:srgbClr val="003E3B"/>
            </a:solidFill>
            <a:prstDash val="solid"/>
            <a:miter lim="8000"/>
            <a:headEnd len="sm" w="sm" type="none"/>
            <a:tailEnd len="sm" w="sm" type="none"/>
          </a:ln>
          <a:effectLst>
            <a:outerShdw blurRad="50800" rotWithShape="0" algn="t" dir="5400000" dist="25400">
              <a:srgbClr val="000000">
                <a:alpha val="70196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5" name="Google Shape;45;p18"/>
          <p:cNvSpPr/>
          <p:nvPr/>
        </p:nvSpPr>
        <p:spPr>
          <a:xfrm>
            <a:off x="0" y="6583680"/>
            <a:ext cx="12192000" cy="274320"/>
          </a:xfrm>
          <a:prstGeom prst="rect">
            <a:avLst/>
          </a:prstGeom>
          <a:solidFill>
            <a:srgbClr val="002632"/>
          </a:solidFill>
          <a:ln cap="flat" cmpd="sng" w="19050">
            <a:solidFill>
              <a:srgbClr val="003E3B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6" name="Google Shape;46;p18"/>
          <p:cNvSpPr txBox="1"/>
          <p:nvPr>
            <p:ph idx="10" type="dt"/>
          </p:nvPr>
        </p:nvSpPr>
        <p:spPr>
          <a:xfrm>
            <a:off x="408829" y="6592184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8"/>
          <p:cNvSpPr txBox="1"/>
          <p:nvPr>
            <p:ph idx="11" type="ftr"/>
          </p:nvPr>
        </p:nvSpPr>
        <p:spPr>
          <a:xfrm>
            <a:off x="4038600" y="6592184"/>
            <a:ext cx="4114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8"/>
          <p:cNvSpPr txBox="1"/>
          <p:nvPr>
            <p:ph idx="12" type="sldNum"/>
          </p:nvPr>
        </p:nvSpPr>
        <p:spPr>
          <a:xfrm>
            <a:off x="9039971" y="6592184"/>
            <a:ext cx="2743200" cy="257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11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0" lvl="1" marL="0" algn="r">
              <a:spcBef>
                <a:spcPts val="0"/>
              </a:spcBef>
              <a:buNone/>
              <a:defRPr b="0" i="0" sz="11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0" lvl="2" marL="0" algn="r">
              <a:spcBef>
                <a:spcPts val="0"/>
              </a:spcBef>
              <a:buNone/>
              <a:defRPr b="0" i="0" sz="11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0" lvl="3" marL="0" algn="r">
              <a:spcBef>
                <a:spcPts val="0"/>
              </a:spcBef>
              <a:buNone/>
              <a:defRPr b="0" i="0" sz="11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0" lvl="4" marL="0" algn="r">
              <a:spcBef>
                <a:spcPts val="0"/>
              </a:spcBef>
              <a:buNone/>
              <a:defRPr b="0" i="0" sz="11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0" lvl="5" marL="0" algn="r">
              <a:spcBef>
                <a:spcPts val="0"/>
              </a:spcBef>
              <a:buNone/>
              <a:defRPr b="0" i="0" sz="11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0" lvl="6" marL="0" algn="r">
              <a:spcBef>
                <a:spcPts val="0"/>
              </a:spcBef>
              <a:buNone/>
              <a:defRPr b="0" i="0" sz="11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0" lvl="7" marL="0" algn="r">
              <a:spcBef>
                <a:spcPts val="0"/>
              </a:spcBef>
              <a:buNone/>
              <a:defRPr b="0" i="0" sz="11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0" lvl="8" marL="0" algn="r">
              <a:spcBef>
                <a:spcPts val="0"/>
              </a:spcBef>
              <a:buNone/>
              <a:defRPr b="0" i="0" sz="11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  <p:sp>
        <p:nvSpPr>
          <p:cNvPr id="49" name="Google Shape;49;p18"/>
          <p:cNvSpPr txBox="1"/>
          <p:nvPr>
            <p:ph idx="2" type="body"/>
          </p:nvPr>
        </p:nvSpPr>
        <p:spPr>
          <a:xfrm>
            <a:off x="6172202" y="1009097"/>
            <a:ext cx="5522495" cy="524652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55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indent="-3302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3pPr>
            <a:lvl4pPr indent="-3175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4pPr>
            <a:lvl5pPr indent="-3175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The image depicts a stylized, colorful, winged creature with a spiral pattern, surrounded by a minimalistic, abstract molecular structure.&#10;&#10;AI 생성 콘텐츠는 정확하지 않을 수 있습니다." id="50" name="Google Shape;50;p1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1290190" y="160421"/>
            <a:ext cx="600999" cy="3519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NNOWL&#10;&#10;AI 생성 콘텐츠는 정확하지 않을 수 있습니다." id="51" name="Google Shape;5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017334" y="228394"/>
            <a:ext cx="1252314" cy="28398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8"/>
          <p:cNvSpPr txBox="1"/>
          <p:nvPr>
            <p:ph type="title"/>
          </p:nvPr>
        </p:nvSpPr>
        <p:spPr>
          <a:xfrm>
            <a:off x="345219" y="106680"/>
            <a:ext cx="10515600" cy="57435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lgun Gothic"/>
              <a:buNone/>
              <a:defRPr sz="2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만">
  <p:cSld name="제목만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9"/>
          <p:cNvSpPr/>
          <p:nvPr/>
        </p:nvSpPr>
        <p:spPr>
          <a:xfrm>
            <a:off x="0" y="0"/>
            <a:ext cx="12192000" cy="681037"/>
          </a:xfrm>
          <a:prstGeom prst="rect">
            <a:avLst/>
          </a:prstGeom>
          <a:solidFill>
            <a:srgbClr val="002632"/>
          </a:solidFill>
          <a:ln cap="flat" cmpd="sng" w="19050">
            <a:solidFill>
              <a:srgbClr val="003E3B"/>
            </a:solidFill>
            <a:prstDash val="solid"/>
            <a:miter lim="8000"/>
            <a:headEnd len="sm" w="sm" type="none"/>
            <a:tailEnd len="sm" w="sm" type="none"/>
          </a:ln>
          <a:effectLst>
            <a:outerShdw blurRad="50800" rotWithShape="0" algn="t" dir="5400000" dist="25400">
              <a:srgbClr val="000000">
                <a:alpha val="70196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55" name="Google Shape;55;p19"/>
          <p:cNvSpPr txBox="1"/>
          <p:nvPr>
            <p:ph type="title"/>
          </p:nvPr>
        </p:nvSpPr>
        <p:spPr>
          <a:xfrm>
            <a:off x="345219" y="106680"/>
            <a:ext cx="10515600" cy="57435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lgun Gothic"/>
              <a:buNone/>
              <a:defRPr sz="2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9"/>
          <p:cNvSpPr/>
          <p:nvPr/>
        </p:nvSpPr>
        <p:spPr>
          <a:xfrm>
            <a:off x="0" y="6583680"/>
            <a:ext cx="12192000" cy="274320"/>
          </a:xfrm>
          <a:prstGeom prst="rect">
            <a:avLst/>
          </a:prstGeom>
          <a:solidFill>
            <a:srgbClr val="002632"/>
          </a:solidFill>
          <a:ln cap="flat" cmpd="sng" w="19050">
            <a:solidFill>
              <a:srgbClr val="003E3B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57" name="Google Shape;57;p19"/>
          <p:cNvSpPr txBox="1"/>
          <p:nvPr>
            <p:ph idx="10" type="dt"/>
          </p:nvPr>
        </p:nvSpPr>
        <p:spPr>
          <a:xfrm>
            <a:off x="408829" y="6592184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19"/>
          <p:cNvSpPr txBox="1"/>
          <p:nvPr>
            <p:ph idx="11" type="ftr"/>
          </p:nvPr>
        </p:nvSpPr>
        <p:spPr>
          <a:xfrm>
            <a:off x="4038600" y="6592184"/>
            <a:ext cx="4114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9"/>
          <p:cNvSpPr txBox="1"/>
          <p:nvPr>
            <p:ph idx="12" type="sldNum"/>
          </p:nvPr>
        </p:nvSpPr>
        <p:spPr>
          <a:xfrm>
            <a:off x="9039971" y="6592184"/>
            <a:ext cx="2743200" cy="257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11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0" lvl="1" marL="0" algn="r">
              <a:spcBef>
                <a:spcPts val="0"/>
              </a:spcBef>
              <a:buNone/>
              <a:defRPr b="0" i="0" sz="11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0" lvl="2" marL="0" algn="r">
              <a:spcBef>
                <a:spcPts val="0"/>
              </a:spcBef>
              <a:buNone/>
              <a:defRPr b="0" i="0" sz="11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0" lvl="3" marL="0" algn="r">
              <a:spcBef>
                <a:spcPts val="0"/>
              </a:spcBef>
              <a:buNone/>
              <a:defRPr b="0" i="0" sz="11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0" lvl="4" marL="0" algn="r">
              <a:spcBef>
                <a:spcPts val="0"/>
              </a:spcBef>
              <a:buNone/>
              <a:defRPr b="0" i="0" sz="11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0" lvl="5" marL="0" algn="r">
              <a:spcBef>
                <a:spcPts val="0"/>
              </a:spcBef>
              <a:buNone/>
              <a:defRPr b="0" i="0" sz="11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0" lvl="6" marL="0" algn="r">
              <a:spcBef>
                <a:spcPts val="0"/>
              </a:spcBef>
              <a:buNone/>
              <a:defRPr b="0" i="0" sz="11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0" lvl="7" marL="0" algn="r">
              <a:spcBef>
                <a:spcPts val="0"/>
              </a:spcBef>
              <a:buNone/>
              <a:defRPr b="0" i="0" sz="11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0" lvl="8" marL="0" algn="r">
              <a:spcBef>
                <a:spcPts val="0"/>
              </a:spcBef>
              <a:buNone/>
              <a:defRPr b="0" i="0" sz="11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  <p:pic>
        <p:nvPicPr>
          <p:cNvPr descr="The image depicts a stylized, colorful, winged creature with a spiral pattern, surrounded by a minimalistic, abstract molecular structure.&#10;&#10;AI 생성 콘텐츠는 정확하지 않을 수 있습니다." id="60" name="Google Shape;60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1290190" y="160421"/>
            <a:ext cx="600999" cy="3519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NNOWL&#10;&#10;AI 생성 콘텐츠는 정확하지 않을 수 있습니다." id="61" name="Google Shape;61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017334" y="228394"/>
            <a:ext cx="1252314" cy="2839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빈 화면" type="blank">
  <p:cSld name="BLANK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20"/>
          <p:cNvSpPr/>
          <p:nvPr/>
        </p:nvSpPr>
        <p:spPr>
          <a:xfrm>
            <a:off x="0" y="6583680"/>
            <a:ext cx="12192000" cy="274320"/>
          </a:xfrm>
          <a:prstGeom prst="rect">
            <a:avLst/>
          </a:prstGeom>
          <a:solidFill>
            <a:srgbClr val="002632"/>
          </a:solidFill>
          <a:ln cap="flat" cmpd="sng" w="19050">
            <a:solidFill>
              <a:srgbClr val="003E3B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64" name="Google Shape;64;p20"/>
          <p:cNvSpPr txBox="1"/>
          <p:nvPr>
            <p:ph idx="10" type="dt"/>
          </p:nvPr>
        </p:nvSpPr>
        <p:spPr>
          <a:xfrm>
            <a:off x="408829" y="6592184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20"/>
          <p:cNvSpPr txBox="1"/>
          <p:nvPr>
            <p:ph idx="11" type="ftr"/>
          </p:nvPr>
        </p:nvSpPr>
        <p:spPr>
          <a:xfrm>
            <a:off x="4038600" y="6592184"/>
            <a:ext cx="4114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0"/>
          <p:cNvSpPr txBox="1"/>
          <p:nvPr>
            <p:ph idx="12" type="sldNum"/>
          </p:nvPr>
        </p:nvSpPr>
        <p:spPr>
          <a:xfrm>
            <a:off x="9039971" y="6592184"/>
            <a:ext cx="2743200" cy="257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11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0" lvl="1" marL="0" algn="r">
              <a:spcBef>
                <a:spcPts val="0"/>
              </a:spcBef>
              <a:buNone/>
              <a:defRPr b="0" i="0" sz="11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0" lvl="2" marL="0" algn="r">
              <a:spcBef>
                <a:spcPts val="0"/>
              </a:spcBef>
              <a:buNone/>
              <a:defRPr b="0" i="0" sz="11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0" lvl="3" marL="0" algn="r">
              <a:spcBef>
                <a:spcPts val="0"/>
              </a:spcBef>
              <a:buNone/>
              <a:defRPr b="0" i="0" sz="11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0" lvl="4" marL="0" algn="r">
              <a:spcBef>
                <a:spcPts val="0"/>
              </a:spcBef>
              <a:buNone/>
              <a:defRPr b="0" i="0" sz="11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0" lvl="5" marL="0" algn="r">
              <a:spcBef>
                <a:spcPts val="0"/>
              </a:spcBef>
              <a:buNone/>
              <a:defRPr b="0" i="0" sz="11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0" lvl="6" marL="0" algn="r">
              <a:spcBef>
                <a:spcPts val="0"/>
              </a:spcBef>
              <a:buNone/>
              <a:defRPr b="0" i="0" sz="11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0" lvl="7" marL="0" algn="r">
              <a:spcBef>
                <a:spcPts val="0"/>
              </a:spcBef>
              <a:buNone/>
              <a:defRPr b="0" i="0" sz="11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0" lvl="8" marL="0" algn="r">
              <a:spcBef>
                <a:spcPts val="0"/>
              </a:spcBef>
              <a:buNone/>
              <a:defRPr b="0" i="0" sz="11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  <p:pic>
        <p:nvPicPr>
          <p:cNvPr descr="The image depicts a stylized, colorful, winged creature with a spiral pattern, surrounded by a minimalistic, abstract molecular structure.&#10;&#10;AI 생성 콘텐츠는 정확하지 않을 수 있습니다." id="67" name="Google Shape;67;p2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1290190" y="160421"/>
            <a:ext cx="600999" cy="3519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NNOWL&#10;&#10;AI 생성 콘텐츠는 정확하지 않을 수 있습니다." id="68" name="Google Shape;68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017334" y="228394"/>
            <a:ext cx="1252314" cy="2839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  <a:defRPr b="1" i="0" sz="44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4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55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-3302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12" name="Google Shape;12;p1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13" name="Google Shape;13;p1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14" name="Google Shape;14;p1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pPr algn="l"/>
            <a:r>
              <a:rPr sz="3200" b="1">
                <a:solidFill>
                  <a:srgbClr val="002632"/>
                </a:solidFill>
                <a:latin typeface="맑은 고딕"/>
              </a:rPr>
              <a:t>Boomingup 매매 실거래가 영향 요인 EDA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>
            <a:pPr algn="l"/>
            <a:r>
              <a:rPr sz="1500" b="0">
                <a:solidFill>
                  <a:srgbClr val="5B6B70"/>
                </a:solidFill>
                <a:latin typeface="맑은 고딕"/>
              </a:rPr>
              <a:t>Railway Postgres 원본 데이터로 확인한 10개 축 분석 — 시간·지역·단지·입지·매물·전세·이벤트·인구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9601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002632"/>
                </a:solidFill>
                <a:latin typeface="맑은 고딕"/>
              </a:rPr>
              <a:t>TEAM MEETING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2000" b="1">
                <a:solidFill>
                  <a:srgbClr val="FFFFFF"/>
                </a:solidFill>
                <a:latin typeface="맑은 고딕"/>
              </a:rPr>
              <a:t>오늘 다룰 내용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896112"/>
            <a:ext cx="11277295" cy="3108960"/>
          </a:xfrm>
          <a:prstGeom prst="roundRect">
            <a:avLst/>
          </a:prstGeom>
          <a:solidFill>
            <a:srgbClr val="F3F6F6"/>
          </a:solidFill>
          <a:ln w="15875">
            <a:solidFill>
              <a:srgbClr val="40CD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l" marL="109728">
              <a:lnSpc>
                <a:spcPct val="125000"/>
              </a:lnSpc>
              <a:spcAft>
                <a:spcPts val="400"/>
              </a:spcAft>
            </a:pPr>
            <a:r>
              <a:rPr sz="1050" b="1">
                <a:solidFill>
                  <a:srgbClr val="002632"/>
                </a:solidFill>
                <a:latin typeface="맑은 고딕"/>
              </a:rPr>
              <a:t>· 01  </a:t>
            </a:r>
            <a:r>
              <a:rPr sz="1050" b="0">
                <a:solidFill>
                  <a:srgbClr val="5B6B70"/>
                </a:solidFill>
                <a:latin typeface="맑은 고딕"/>
              </a:rPr>
              <a:t>시간 — 거래량·가격이 정책/금리에 어떻게 반응하나</a:t>
            </a:r>
          </a:p>
          <a:p>
            <a:pPr algn="l" marL="109728">
              <a:lnSpc>
                <a:spcPct val="125000"/>
              </a:lnSpc>
              <a:spcAft>
                <a:spcPts val="400"/>
              </a:spcAft>
            </a:pPr>
            <a:r>
              <a:rPr sz="1050" b="1">
                <a:solidFill>
                  <a:srgbClr val="002632"/>
                </a:solidFill>
                <a:latin typeface="맑은 고딕"/>
              </a:rPr>
              <a:t>· 02  </a:t>
            </a:r>
            <a:r>
              <a:rPr sz="1050" b="0">
                <a:solidFill>
                  <a:srgbClr val="5B6B70"/>
                </a:solidFill>
                <a:latin typeface="맑은 고딕"/>
              </a:rPr>
              <a:t>지역 — 자치구·법정동별 가격 격차와 동별 편차</a:t>
            </a:r>
          </a:p>
          <a:p>
            <a:pPr algn="l" marL="109728">
              <a:lnSpc>
                <a:spcPct val="125000"/>
              </a:lnSpc>
              <a:spcAft>
                <a:spcPts val="400"/>
              </a:spcAft>
            </a:pPr>
            <a:r>
              <a:rPr sz="1050" b="1">
                <a:solidFill>
                  <a:srgbClr val="002632"/>
                </a:solidFill>
                <a:latin typeface="맑은 고딕"/>
              </a:rPr>
              <a:t>· 03  </a:t>
            </a:r>
            <a:r>
              <a:rPr sz="1050" b="0">
                <a:solidFill>
                  <a:srgbClr val="5B6B70"/>
                </a:solidFill>
                <a:latin typeface="맑은 고딕"/>
              </a:rPr>
              <a:t>단지 속성 — 준공연차, 정비사업 단계</a:t>
            </a:r>
          </a:p>
          <a:p>
            <a:pPr algn="l" marL="109728">
              <a:lnSpc>
                <a:spcPct val="125000"/>
              </a:lnSpc>
              <a:spcAft>
                <a:spcPts val="400"/>
              </a:spcAft>
            </a:pPr>
            <a:r>
              <a:rPr sz="1050" b="1">
                <a:solidFill>
                  <a:srgbClr val="002632"/>
                </a:solidFill>
                <a:latin typeface="맑은 고딕"/>
              </a:rPr>
              <a:t>· 04  </a:t>
            </a:r>
            <a:r>
              <a:rPr sz="1050" b="0">
                <a:solidFill>
                  <a:srgbClr val="5B6B70"/>
                </a:solidFill>
                <a:latin typeface="맑은 고딕"/>
              </a:rPr>
              <a:t>입지 — 역세권, 한강조망, 학군</a:t>
            </a:r>
          </a:p>
          <a:p>
            <a:pPr algn="l" marL="109728">
              <a:lnSpc>
                <a:spcPct val="125000"/>
              </a:lnSpc>
              <a:spcAft>
                <a:spcPts val="400"/>
              </a:spcAft>
            </a:pPr>
            <a:r>
              <a:rPr sz="1050" b="1">
                <a:solidFill>
                  <a:srgbClr val="002632"/>
                </a:solidFill>
                <a:latin typeface="맑은 고딕"/>
              </a:rPr>
              <a:t>· 05  </a:t>
            </a:r>
            <a:r>
              <a:rPr sz="1050" b="0">
                <a:solidFill>
                  <a:srgbClr val="5B6B70"/>
                </a:solidFill>
                <a:latin typeface="맑은 고딕"/>
              </a:rPr>
              <a:t>매물 속성 — 면적, 층</a:t>
            </a:r>
          </a:p>
          <a:p>
            <a:pPr algn="l" marL="109728">
              <a:lnSpc>
                <a:spcPct val="125000"/>
              </a:lnSpc>
              <a:spcAft>
                <a:spcPts val="400"/>
              </a:spcAft>
            </a:pPr>
            <a:r>
              <a:rPr sz="1050" b="1">
                <a:solidFill>
                  <a:srgbClr val="002632"/>
                </a:solidFill>
                <a:latin typeface="맑은 고딕"/>
              </a:rPr>
              <a:t>· 06  </a:t>
            </a:r>
            <a:r>
              <a:rPr sz="1050" b="0">
                <a:solidFill>
                  <a:srgbClr val="5B6B70"/>
                </a:solidFill>
                <a:latin typeface="맑은 고딕"/>
              </a:rPr>
              <a:t>전세-매매 — 전세가율의 선행성</a:t>
            </a:r>
          </a:p>
          <a:p>
            <a:pPr algn="l" marL="109728">
              <a:lnSpc>
                <a:spcPct val="125000"/>
              </a:lnSpc>
              <a:spcAft>
                <a:spcPts val="400"/>
              </a:spcAft>
            </a:pPr>
            <a:r>
              <a:rPr sz="1050" b="1">
                <a:solidFill>
                  <a:srgbClr val="002632"/>
                </a:solidFill>
                <a:latin typeface="맑은 고딕"/>
              </a:rPr>
              <a:t>· 07  </a:t>
            </a:r>
            <a:r>
              <a:rPr sz="1050" b="0">
                <a:solidFill>
                  <a:srgbClr val="5B6B70"/>
                </a:solidFill>
                <a:latin typeface="맑은 고딕"/>
              </a:rPr>
              <a:t>복합 — 정비사업 강도와 가격 변동성</a:t>
            </a:r>
          </a:p>
          <a:p>
            <a:pPr algn="l" marL="109728">
              <a:lnSpc>
                <a:spcPct val="125000"/>
              </a:lnSpc>
              <a:spcAft>
                <a:spcPts val="400"/>
              </a:spcAft>
            </a:pPr>
            <a:r>
              <a:rPr sz="1050" b="1">
                <a:solidFill>
                  <a:srgbClr val="002632"/>
                </a:solidFill>
                <a:latin typeface="맑은 고딕"/>
              </a:rPr>
              <a:t>· 08  </a:t>
            </a:r>
            <a:r>
              <a:rPr sz="1050" b="0">
                <a:solidFill>
                  <a:srgbClr val="5B6B70"/>
                </a:solidFill>
                <a:latin typeface="맑은 고딕"/>
              </a:rPr>
              <a:t>이벤트 반대 반응 동 — 반응이 갈린 이벤트</a:t>
            </a:r>
          </a:p>
          <a:p>
            <a:pPr algn="l" marL="109728">
              <a:lnSpc>
                <a:spcPct val="125000"/>
              </a:lnSpc>
              <a:spcAft>
                <a:spcPts val="400"/>
              </a:spcAft>
            </a:pPr>
            <a:r>
              <a:rPr sz="1050" b="1">
                <a:solidFill>
                  <a:srgbClr val="002632"/>
                </a:solidFill>
                <a:latin typeface="맑은 고딕"/>
              </a:rPr>
              <a:t>· 09  </a:t>
            </a:r>
            <a:r>
              <a:rPr sz="1050" b="0">
                <a:solidFill>
                  <a:srgbClr val="5B6B70"/>
                </a:solidFill>
                <a:latin typeface="맑은 고딕"/>
              </a:rPr>
              <a:t>동 클러스터링 — 함께 움직이는 동 묶음</a:t>
            </a:r>
          </a:p>
          <a:p>
            <a:pPr algn="l" marL="109728">
              <a:lnSpc>
                <a:spcPct val="125000"/>
              </a:lnSpc>
              <a:spcAft>
                <a:spcPts val="400"/>
              </a:spcAft>
            </a:pPr>
            <a:r>
              <a:rPr sz="1050" b="1">
                <a:solidFill>
                  <a:srgbClr val="002632"/>
                </a:solidFill>
                <a:latin typeface="맑은 고딕"/>
              </a:rPr>
              <a:t>· 10  </a:t>
            </a:r>
            <a:r>
              <a:rPr sz="1050" b="0">
                <a:solidFill>
                  <a:srgbClr val="5B6B70"/>
                </a:solidFill>
                <a:latin typeface="맑은 고딕"/>
              </a:rPr>
              <a:t>(외부) 인구·세대수 — 행정안전부 공공데이터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2000" b="1">
                <a:solidFill>
                  <a:srgbClr val="FFFFFF"/>
                </a:solidFill>
                <a:latin typeface="맑은 고딕"/>
              </a:rPr>
              <a:t>데이터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14255" y="219456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 b="1">
                <a:solidFill>
                  <a:srgbClr val="40CDDC"/>
                </a:solidFill>
                <a:latin typeface="맑은 고딕"/>
              </a:rPr>
              <a:t>PART 1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969264"/>
          <a:ext cx="11521440" cy="2847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560320"/>
                <a:gridCol w="5669280"/>
              </a:tblGrid>
              <a:tr h="30124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테이블</a:t>
                      </a:r>
                    </a:p>
                  </a:txBody>
                  <a:tcPr anchor="ctr" marL="73152" marR="73152" marT="41148" marB="41148">
                    <a:solidFill>
                      <a:srgbClr val="0026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행 수(active snapshot)</a:t>
                      </a:r>
                    </a:p>
                  </a:txBody>
                  <a:tcPr anchor="ctr" marL="73152" marR="73152" marT="41148" marB="41148">
                    <a:solidFill>
                      <a:srgbClr val="0026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내용</a:t>
                      </a:r>
                    </a:p>
                  </a:txBody>
                  <a:tcPr anchor="ctr" marL="73152" marR="73152" marT="41148" marB="41148">
                    <a:solidFill>
                      <a:srgbClr val="002632"/>
                    </a:solidFill>
                  </a:tcPr>
                </a:tc>
              </a:tr>
              <a:tr h="30124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2632"/>
                          </a:solidFill>
                          <a:latin typeface="맑은 고딕"/>
                        </a:rPr>
                        <a:t>trade_sale</a:t>
                      </a:r>
                    </a:p>
                  </a:txBody>
                  <a:tcPr anchor="ctr" marL="73152" marR="73152" marT="41148" marB="41148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2632"/>
                          </a:solidFill>
                          <a:latin typeface="맑은 고딕"/>
                        </a:rPr>
                        <a:t>1,438,551</a:t>
                      </a:r>
                    </a:p>
                  </a:txBody>
                  <a:tcPr anchor="ctr" marL="73152" marR="73152" marT="41148" marB="41148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2632"/>
                          </a:solidFill>
                          <a:latin typeface="맑은 고딕"/>
                        </a:rPr>
                        <a:t>매매 실거래 원장 (2006-01~2026-08)</a:t>
                      </a:r>
                    </a:p>
                  </a:txBody>
                  <a:tcPr anchor="ctr" marL="73152" marR="73152" marT="41148" marB="41148">
                    <a:solidFill>
                      <a:srgbClr val="F3F6F6"/>
                    </a:solidFill>
                  </a:tcPr>
                </a:tc>
              </a:tr>
              <a:tr h="30124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2632"/>
                          </a:solidFill>
                          <a:latin typeface="맑은 고딕"/>
                        </a:rPr>
                        <a:t>trade_rent</a:t>
                      </a:r>
                    </a:p>
                  </a:txBody>
                  <a:tcPr anchor="ctr" marL="73152" marR="73152" marT="41148" marB="4114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2632"/>
                          </a:solidFill>
                          <a:latin typeface="맑은 고딕"/>
                        </a:rPr>
                        <a:t>3,083,158</a:t>
                      </a:r>
                    </a:p>
                  </a:txBody>
                  <a:tcPr anchor="ctr" marL="73152" marR="73152" marT="41148" marB="4114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2632"/>
                          </a:solidFill>
                          <a:latin typeface="맑은 고딕"/>
                        </a:rPr>
                        <a:t>전월세 실거래 원장 (2011-01~2026-08)</a:t>
                      </a:r>
                    </a:p>
                  </a:txBody>
                  <a:tcPr anchor="ctr" marL="73152" marR="73152" marT="41148" marB="41148">
                    <a:solidFill>
                      <a:srgbClr val="FFFFFF"/>
                    </a:solidFill>
                  </a:tcPr>
                </a:tc>
              </a:tr>
              <a:tr h="30124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2632"/>
                          </a:solidFill>
                          <a:latin typeface="맑은 고딕"/>
                        </a:rPr>
                        <a:t>complex / complex_metrics</a:t>
                      </a:r>
                    </a:p>
                  </a:txBody>
                  <a:tcPr anchor="ctr" marL="73152" marR="73152" marT="41148" marB="41148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2632"/>
                          </a:solidFill>
                          <a:latin typeface="맑은 고딕"/>
                        </a:rPr>
                        <a:t>9,160</a:t>
                      </a:r>
                    </a:p>
                  </a:txBody>
                  <a:tcPr anchor="ctr" marL="73152" marR="73152" marT="41148" marB="41148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2632"/>
                          </a:solidFill>
                          <a:latin typeface="맑은 고딕"/>
                        </a:rPr>
                        <a:t>단지 기본정보 / 입지지표</a:t>
                      </a:r>
                    </a:p>
                  </a:txBody>
                  <a:tcPr anchor="ctr" marL="73152" marR="73152" marT="41148" marB="41148">
                    <a:solidFill>
                      <a:srgbClr val="F3F6F6"/>
                    </a:solidFill>
                  </a:tcPr>
                </a:tc>
              </a:tr>
              <a:tr h="5201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2632"/>
                          </a:solidFill>
                          <a:latin typeface="맑은 고딕"/>
                        </a:rPr>
                        <a:t>dong_index</a:t>
                      </a:r>
                    </a:p>
                  </a:txBody>
                  <a:tcPr anchor="ctr" marL="73152" marR="73152" marT="41148" marB="4114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2632"/>
                          </a:solidFill>
                          <a:latin typeface="맑은 고딕"/>
                        </a:rPr>
                        <a:t>28,372</a:t>
                      </a:r>
                    </a:p>
                  </a:txBody>
                  <a:tcPr anchor="ctr" marL="73152" marR="73152" marT="41148" marB="4114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2632"/>
                          </a:solidFill>
                          <a:latin typeface="맑은 고딕"/>
                        </a:rPr>
                        <a:t>법정동×분기 hedonic 가격지수(단지 크기·연식 차이를 보정해 같은 조건이면 가격이 얼마나 변했는지만 뽑아낸 지수)</a:t>
                      </a:r>
                    </a:p>
                  </a:txBody>
                  <a:tcPr anchor="ctr" marL="73152" marR="73152" marT="41148" marB="41148">
                    <a:solidFill>
                      <a:srgbClr val="FFFFFF"/>
                    </a:solidFill>
                  </a:tcPr>
                </a:tc>
              </a:tr>
              <a:tr h="30124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2632"/>
                          </a:solidFill>
                          <a:latin typeface="맑은 고딕"/>
                        </a:rPr>
                        <a:t>dong_feature</a:t>
                      </a:r>
                    </a:p>
                  </a:txBody>
                  <a:tcPr anchor="ctr" marL="73152" marR="73152" marT="41148" marB="41148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2632"/>
                          </a:solidFill>
                          <a:latin typeface="맑은 고딕"/>
                        </a:rPr>
                        <a:t>19,761</a:t>
                      </a:r>
                    </a:p>
                  </a:txBody>
                  <a:tcPr anchor="ctr" marL="73152" marR="73152" marT="41148" marB="41148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2632"/>
                          </a:solidFill>
                          <a:latin typeface="맑은 고딕"/>
                        </a:rPr>
                        <a:t>법정동×기점분기 feature(거래·전세·정비사업 등)</a:t>
                      </a:r>
                    </a:p>
                  </a:txBody>
                  <a:tcPr anchor="ctr" marL="73152" marR="73152" marT="41148" marB="41148">
                    <a:solidFill>
                      <a:srgbClr val="F3F6F6"/>
                    </a:solidFill>
                  </a:tcPr>
                </a:tc>
              </a:tr>
              <a:tr h="5201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2632"/>
                          </a:solidFill>
                          <a:latin typeface="맑은 고딕"/>
                        </a:rPr>
                        <a:t>market_event / event_summary / event_dong_path</a:t>
                      </a:r>
                    </a:p>
                  </a:txBody>
                  <a:tcPr anchor="ctr" marL="73152" marR="73152" marT="41148" marB="4114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2632"/>
                          </a:solidFill>
                          <a:latin typeface="맑은 고딕"/>
                        </a:rPr>
                        <a:t>49 / 49 / 90,936</a:t>
                      </a:r>
                    </a:p>
                  </a:txBody>
                  <a:tcPr anchor="ctr" marL="73152" marR="73152" marT="41148" marB="4114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2632"/>
                          </a:solidFill>
                          <a:latin typeface="맑은 고딕"/>
                        </a:rPr>
                        <a:t>정책·금리·거시 이벤트, 전후 요약, 동별 경로</a:t>
                      </a:r>
                    </a:p>
                  </a:txBody>
                  <a:tcPr anchor="ctr" marL="73152" marR="73152" marT="41148" marB="41148">
                    <a:solidFill>
                      <a:srgbClr val="FFFFFF"/>
                    </a:solidFill>
                  </a:tcPr>
                </a:tc>
              </a:tr>
              <a:tr h="30124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2632"/>
                          </a:solidFill>
                          <a:latin typeface="맑은 고딕"/>
                        </a:rPr>
                        <a:t>(외부) 행정안전부 인구·세대현황</a:t>
                      </a:r>
                    </a:p>
                  </a:txBody>
                  <a:tcPr anchor="ctr" marL="73152" marR="73152" marT="41148" marB="41148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2632"/>
                          </a:solidFill>
                          <a:latin typeface="맑은 고딕"/>
                        </a:rPr>
                        <a:t>340개 동 × 2개 분기</a:t>
                      </a:r>
                    </a:p>
                  </a:txBody>
                  <a:tcPr anchor="ctr" marL="73152" marR="73152" marT="41148" marB="41148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2632"/>
                          </a:solidFill>
                          <a:latin typeface="맑은 고딕"/>
                        </a:rPr>
                        <a:t>10번 축용, data.go.kr API로 별도 수집 — eda/docs/data-sources.md</a:t>
                      </a:r>
                    </a:p>
                  </a:txBody>
                  <a:tcPr anchor="ctr" marL="73152" marR="73152" marT="41148" marB="41148">
                    <a:solidFill>
                      <a:srgbClr val="F3F6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908552"/>
            <a:ext cx="11277295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B70"/>
                </a:solidFill>
                <a:latin typeface="맑은 고딕"/>
              </a:rPr>
              <a:t>DB는 Railway Postgres, DATABASE_READONLY_URL로 조회(read-only, 팀 데이터 영향 없음). 원본은 국토부 실거래가 API·한국은행·서울 열린데이터광장·행정안전부.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2000" b="1">
                <a:solidFill>
                  <a:srgbClr val="FFFFFF"/>
                </a:solidFill>
                <a:latin typeface="맑은 고딕"/>
              </a:rPr>
              <a:t>1. 시간 — 거래량이 가격보다 훨씬 크게 흔들린다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14255" y="219456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 b="1">
                <a:solidFill>
                  <a:srgbClr val="40CDDC"/>
                </a:solidFill>
                <a:latin typeface="맑은 고딕"/>
              </a:rPr>
              <a:t>PART 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50976"/>
            <a:ext cx="11277295" cy="777240"/>
          </a:xfrm>
          <a:prstGeom prst="roundRect">
            <a:avLst/>
          </a:prstGeom>
          <a:solidFill>
            <a:srgbClr val="E3F3FB"/>
          </a:solidFill>
          <a:ln w="15875">
            <a:solidFill>
              <a:srgbClr val="1D7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109728"/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D7AA8"/>
                </a:solidFill>
                <a:latin typeface="맑은 고딕"/>
              </a:rPr>
              <a:t>무엇을 보여주려 했는가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002632"/>
                </a:solidFill>
                <a:latin typeface="맑은 고딕"/>
              </a:rPr>
              <a:t>정책·금리 발표 시점과 거래량이 실제로 겹쳐 움직이는지 확인합니다.</a:t>
            </a:r>
          </a:p>
        </p:txBody>
      </p:sp>
      <p:pic>
        <p:nvPicPr>
          <p:cNvPr id="5" name="Picture 4" descr="01a_quarterly_volume_ev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5390" y="1900488"/>
            <a:ext cx="5880914" cy="291071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63927" y="4884359"/>
            <a:ext cx="7863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B6B70"/>
                </a:solidFill>
                <a:latin typeface="맑은 고딕"/>
              </a:rPr>
              <a:t>핵심: 2022년 거래 급감, 2023년 규제 해제 이후 반등 — 정책 시점과 겹침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5131247"/>
            <a:ext cx="5547207" cy="777240"/>
          </a:xfrm>
          <a:prstGeom prst="roundRect">
            <a:avLst/>
          </a:prstGeom>
          <a:solidFill>
            <a:srgbClr val="E9F6EC"/>
          </a:solidFill>
          <a:ln w="15875">
            <a:solidFill>
              <a:srgbClr val="1E7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109728"/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E7A3C"/>
                </a:solidFill>
                <a:latin typeface="맑은 고딕"/>
              </a:rPr>
              <a:t>어떻게 해석하나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002632"/>
                </a:solidFill>
                <a:latin typeface="맑은 고딕"/>
              </a:rPr>
              <a:t>정책·규제 이벤트 시점과 거래량 변화 시점이 맞물리는 경향이 있습니다.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7287" y="5131247"/>
            <a:ext cx="5547207" cy="850392"/>
          </a:xfrm>
          <a:prstGeom prst="roundRect">
            <a:avLst/>
          </a:prstGeom>
          <a:solidFill>
            <a:srgbClr val="FCE8E6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109728"/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0392B"/>
                </a:solidFill>
                <a:latin typeface="맑은 고딕"/>
              </a:rPr>
              <a:t>주의할 점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002632"/>
                </a:solidFill>
                <a:latin typeface="맑은 고딕"/>
              </a:rPr>
              <a:t>다른 요인까지 통제해 인과를 검정한 건 아니라서, '정책 때문'이 아니라 '시점이 겹친다' 정도로 신중하게 봐주세요.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2000" b="1">
                <a:solidFill>
                  <a:srgbClr val="FFFFFF"/>
                </a:solidFill>
                <a:latin typeface="맑은 고딕"/>
              </a:rPr>
              <a:t>1. 시간 — 거래량 지수 vs 단가 지수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14255" y="219456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 b="1">
                <a:solidFill>
                  <a:srgbClr val="40CDDC"/>
                </a:solidFill>
                <a:latin typeface="맑은 고딕"/>
              </a:rPr>
              <a:t>PART 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50976"/>
            <a:ext cx="11277295" cy="777240"/>
          </a:xfrm>
          <a:prstGeom prst="roundRect">
            <a:avLst/>
          </a:prstGeom>
          <a:solidFill>
            <a:srgbClr val="E3F3FB"/>
          </a:solidFill>
          <a:ln w="15875">
            <a:solidFill>
              <a:srgbClr val="1D7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109728"/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D7AA8"/>
                </a:solidFill>
                <a:latin typeface="맑은 고딕"/>
              </a:rPr>
              <a:t>무엇을 보여주려 했는가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002632"/>
                </a:solidFill>
                <a:latin typeface="맑은 고딕"/>
              </a:rPr>
              <a:t>거래량과 단가 중 어느 쪽이 더 크게 출렁이는지 같은 척도(지수)로 비교합니다.</a:t>
            </a:r>
          </a:p>
        </p:txBody>
      </p:sp>
      <p:pic>
        <p:nvPicPr>
          <p:cNvPr id="5" name="Picture 4" descr="01b_volume_vs_price_ind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1088" y="1895002"/>
            <a:ext cx="5629517" cy="27845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55367" y="4752685"/>
            <a:ext cx="7680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B6B70"/>
                </a:solidFill>
                <a:latin typeface="맑은 고딕"/>
              </a:rPr>
              <a:t>핵심: 거래량(-71%~+183%)이 가격(-3~+5%)보다 훨씬 크게 출렁임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4999573"/>
            <a:ext cx="5547207" cy="777240"/>
          </a:xfrm>
          <a:prstGeom prst="roundRect">
            <a:avLst/>
          </a:prstGeom>
          <a:solidFill>
            <a:srgbClr val="E9F6EC"/>
          </a:solidFill>
          <a:ln w="15875">
            <a:solidFill>
              <a:srgbClr val="1E7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109728"/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E7A3C"/>
                </a:solidFill>
                <a:latin typeface="맑은 고딕"/>
              </a:rPr>
              <a:t>어떻게 해석하나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002632"/>
                </a:solidFill>
                <a:latin typeface="맑은 고딕"/>
              </a:rPr>
              <a:t>거래량이 가격보다 시장 변화에 훨씬 민감하게 반응합니다.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7287" y="4999573"/>
            <a:ext cx="5547207" cy="850392"/>
          </a:xfrm>
          <a:prstGeom prst="roundRect">
            <a:avLst/>
          </a:prstGeom>
          <a:solidFill>
            <a:srgbClr val="FCE8E6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109728"/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0392B"/>
                </a:solidFill>
                <a:latin typeface="맑은 고딕"/>
              </a:rPr>
              <a:t>주의할 점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002632"/>
                </a:solidFill>
                <a:latin typeface="맑은 고딕"/>
              </a:rPr>
              <a:t>왜 그런지는 이 그래프로 알 수 없고, 점선의 2026년 구간은 8월까지만 집계돼 '연간 하락'처럼 읽으면 안 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2000" b="1">
                <a:solidFill>
                  <a:srgbClr val="FFFFFF"/>
                </a:solidFill>
                <a:latin typeface="맑은 고딕"/>
              </a:rPr>
              <a:t>2. 지역 — 자치구 간 가격 격차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14255" y="219456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 b="1">
                <a:solidFill>
                  <a:srgbClr val="40CDDC"/>
                </a:solidFill>
                <a:latin typeface="맑은 고딕"/>
              </a:rPr>
              <a:t>PART 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50976"/>
            <a:ext cx="11277295" cy="777240"/>
          </a:xfrm>
          <a:prstGeom prst="roundRect">
            <a:avLst/>
          </a:prstGeom>
          <a:solidFill>
            <a:srgbClr val="E3F3FB"/>
          </a:solidFill>
          <a:ln w="15875">
            <a:solidFill>
              <a:srgbClr val="1D7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109728"/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D7AA8"/>
                </a:solidFill>
                <a:latin typeface="맑은 고딕"/>
              </a:rPr>
              <a:t>무엇을 보여주려 했는가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002632"/>
                </a:solidFill>
                <a:latin typeface="맑은 고딕"/>
              </a:rPr>
              <a:t>같은 서울 안에서도 자치구별로 가격 수준이 얼마나 다른지 확인합니다.</a:t>
            </a:r>
          </a:p>
        </p:txBody>
      </p:sp>
      <p:pic>
        <p:nvPicPr>
          <p:cNvPr id="5" name="Picture 4" descr="02a_gu_price_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4040" y="1895002"/>
            <a:ext cx="2463615" cy="27845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804007" y="4752685"/>
            <a:ext cx="6583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B6B70"/>
                </a:solidFill>
                <a:latin typeface="맑은 고딕"/>
              </a:rPr>
              <a:t>핵심: 강남구(3,531만원)가 도봉구(802만원)의 4.4배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4999573"/>
            <a:ext cx="5547207" cy="777240"/>
          </a:xfrm>
          <a:prstGeom prst="roundRect">
            <a:avLst/>
          </a:prstGeom>
          <a:solidFill>
            <a:srgbClr val="E9F6EC"/>
          </a:solidFill>
          <a:ln w="15875">
            <a:solidFill>
              <a:srgbClr val="1E7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109728"/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E7A3C"/>
                </a:solidFill>
                <a:latin typeface="맑은 고딕"/>
              </a:rPr>
              <a:t>어떻게 해석하나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002632"/>
                </a:solidFill>
                <a:latin typeface="맑은 고딕"/>
              </a:rPr>
              <a:t>같은 서울이라도 구 단위 가격 격차가 최대 4.4배에 달합니다.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7287" y="4999573"/>
            <a:ext cx="5547207" cy="850392"/>
          </a:xfrm>
          <a:prstGeom prst="roundRect">
            <a:avLst/>
          </a:prstGeom>
          <a:solidFill>
            <a:srgbClr val="FCE8E6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109728"/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0392B"/>
                </a:solidFill>
                <a:latin typeface="맑은 고딕"/>
              </a:rPr>
              <a:t>주의할 점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002632"/>
                </a:solidFill>
                <a:latin typeface="맑은 고딕"/>
              </a:rPr>
              <a:t>원시거래 중앙값이라 특정 시기 고가·저가 거래가 몰리면 흔들릴 수 있어, 구 하나의 '평균적인 집값'으로 확대 해석하지 않는 게 좋습니다.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2000" b="1">
                <a:solidFill>
                  <a:srgbClr val="FFFFFF"/>
                </a:solidFill>
                <a:latin typeface="맑은 고딕"/>
              </a:rPr>
              <a:t>2. 지역 — 구 평균과 동별 흐름이 다를 수 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14255" y="219456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 b="1">
                <a:solidFill>
                  <a:srgbClr val="40CDDC"/>
                </a:solidFill>
                <a:latin typeface="맑은 고딕"/>
              </a:rPr>
              <a:t>PART 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50976"/>
            <a:ext cx="11277295" cy="777240"/>
          </a:xfrm>
          <a:prstGeom prst="roundRect">
            <a:avLst/>
          </a:prstGeom>
          <a:solidFill>
            <a:srgbClr val="E3F3FB"/>
          </a:solidFill>
          <a:ln w="15875">
            <a:solidFill>
              <a:srgbClr val="1D7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109728"/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D7AA8"/>
                </a:solidFill>
                <a:latin typeface="맑은 고딕"/>
              </a:rPr>
              <a:t>무엇을 보여주려 했는가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002632"/>
                </a:solidFill>
                <a:latin typeface="맑은 고딕"/>
              </a:rPr>
              <a:t>구 평균 하나로는 안 보이는 동별 편차가 실제로 있는지 확인합니다.</a:t>
            </a:r>
          </a:p>
        </p:txBody>
      </p:sp>
      <p:pic>
        <p:nvPicPr>
          <p:cNvPr id="5" name="Picture 4" descr="02b_dong_yoy_top_bott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2778" y="1896831"/>
            <a:ext cx="3626137" cy="282659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29687" y="4796576"/>
            <a:ext cx="7132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B6B70"/>
                </a:solidFill>
                <a:latin typeface="맑은 고딕"/>
              </a:rPr>
              <a:t>핵심: 강남구 평균 +6.8%, 그 안에서도 역삼 -7.1%~수서 +33.3%로 편차 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5043464"/>
            <a:ext cx="5547207" cy="777240"/>
          </a:xfrm>
          <a:prstGeom prst="roundRect">
            <a:avLst/>
          </a:prstGeom>
          <a:solidFill>
            <a:srgbClr val="E9F6EC"/>
          </a:solidFill>
          <a:ln w="15875">
            <a:solidFill>
              <a:srgbClr val="1E7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109728"/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E7A3C"/>
                </a:solidFill>
                <a:latin typeface="맑은 고딕"/>
              </a:rPr>
              <a:t>어떻게 해석하나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002632"/>
                </a:solidFill>
                <a:latin typeface="맑은 고딕"/>
              </a:rPr>
              <a:t>구 평균이 올라도 그 구의 모든 동이 다 오르는 건 아닙니다.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7287" y="5043464"/>
            <a:ext cx="5547207" cy="850392"/>
          </a:xfrm>
          <a:prstGeom prst="roundRect">
            <a:avLst/>
          </a:prstGeom>
          <a:solidFill>
            <a:srgbClr val="FCE8E6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109728"/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0392B"/>
                </a:solidFill>
                <a:latin typeface="맑은 고딕"/>
              </a:rPr>
              <a:t>주의할 점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002632"/>
                </a:solidFill>
                <a:latin typeface="맑은 고딕"/>
              </a:rPr>
              <a:t>이 지수는 같은 동 안의 시점 간 변화만 비교 가능합니다. 동 간 수준(동 A가 동 B보다 비싸다는 식) 비교에는 쓰면 안 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2000" b="1">
                <a:solidFill>
                  <a:srgbClr val="FFFFFF"/>
                </a:solidFill>
                <a:latin typeface="맑은 고딕"/>
              </a:rPr>
              <a:t>3. 단지 속성 — 준공연차와 가격의 U자 관계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14255" y="219456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 b="1">
                <a:solidFill>
                  <a:srgbClr val="40CDDC"/>
                </a:solidFill>
                <a:latin typeface="맑은 고딕"/>
              </a:rPr>
              <a:t>PART 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50976"/>
            <a:ext cx="11277295" cy="777240"/>
          </a:xfrm>
          <a:prstGeom prst="roundRect">
            <a:avLst/>
          </a:prstGeom>
          <a:solidFill>
            <a:srgbClr val="E3F3FB"/>
          </a:solidFill>
          <a:ln w="15875">
            <a:solidFill>
              <a:srgbClr val="1D7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109728"/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D7AA8"/>
                </a:solidFill>
                <a:latin typeface="맑은 고딕"/>
              </a:rPr>
              <a:t>무엇을 보여주려 했는가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002632"/>
                </a:solidFill>
                <a:latin typeface="맑은 고딕"/>
              </a:rPr>
              <a:t>단지가 지어진 지 얼마나 됐는지가 가격과 어떤 모양으로 관계되는지 확인합니다.</a:t>
            </a:r>
          </a:p>
        </p:txBody>
      </p:sp>
      <p:pic>
        <p:nvPicPr>
          <p:cNvPr id="5" name="Picture 4" descr="03a_age_pr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7365" y="1896831"/>
            <a:ext cx="5136963" cy="282659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621127" y="4796576"/>
            <a:ext cx="6949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B6B70"/>
                </a:solidFill>
                <a:latin typeface="맑은 고딕"/>
              </a:rPr>
              <a:t>핵심: 신축과 40년 이상 노후 단지가 모두 비싼 U자형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5043464"/>
            <a:ext cx="5547207" cy="777240"/>
          </a:xfrm>
          <a:prstGeom prst="roundRect">
            <a:avLst/>
          </a:prstGeom>
          <a:solidFill>
            <a:srgbClr val="E9F6EC"/>
          </a:solidFill>
          <a:ln w="15875">
            <a:solidFill>
              <a:srgbClr val="1E7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109728"/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E7A3C"/>
                </a:solidFill>
                <a:latin typeface="맑은 고딕"/>
              </a:rPr>
              <a:t>어떻게 해석하나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002632"/>
                </a:solidFill>
                <a:latin typeface="맑은 고딕"/>
              </a:rPr>
              <a:t>신축과 노후 단지(재건축 기대) 모두 비싸지는 U자형 관계로 보입니다.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7287" y="5043464"/>
            <a:ext cx="5547207" cy="850392"/>
          </a:xfrm>
          <a:prstGeom prst="roundRect">
            <a:avLst/>
          </a:prstGeom>
          <a:solidFill>
            <a:srgbClr val="FCE8E6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109728"/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0392B"/>
                </a:solidFill>
                <a:latin typeface="맑은 고딕"/>
              </a:rPr>
              <a:t>주의할 점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002632"/>
                </a:solidFill>
                <a:latin typeface="맑은 고딕"/>
              </a:rPr>
              <a:t>지역·입지·단지규모를 통제하지 않은 단순 비교라, '연차 자체의 효과'라고 단정하기보다는 참고 지표로 봐주세요.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2000" b="1">
                <a:solidFill>
                  <a:srgbClr val="FFFFFF"/>
                </a:solidFill>
                <a:latin typeface="맑은 고딕"/>
              </a:rPr>
              <a:t>3. 단지 속성 — 정비사업 진행 단계별 프리미엄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14255" y="219456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 b="1">
                <a:solidFill>
                  <a:srgbClr val="40CDDC"/>
                </a:solidFill>
                <a:latin typeface="맑은 고딕"/>
              </a:rPr>
              <a:t>PART 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50976"/>
            <a:ext cx="11277295" cy="777240"/>
          </a:xfrm>
          <a:prstGeom prst="roundRect">
            <a:avLst/>
          </a:prstGeom>
          <a:solidFill>
            <a:srgbClr val="E3F3FB"/>
          </a:solidFill>
          <a:ln w="15875">
            <a:solidFill>
              <a:srgbClr val="1D7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109728"/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D7AA8"/>
                </a:solidFill>
                <a:latin typeface="맑은 고딕"/>
              </a:rPr>
              <a:t>무엇을 보여주려 했는가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002632"/>
                </a:solidFill>
                <a:latin typeface="맑은 고딕"/>
              </a:rPr>
              <a:t>정비사업이 실제로 진행 중인 단지가 가격에 프리미엄을 받는지 확인합니다.</a:t>
            </a:r>
          </a:p>
        </p:txBody>
      </p:sp>
      <p:pic>
        <p:nvPicPr>
          <p:cNvPr id="5" name="Picture 4" descr="03b_redevelop_premi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4809" y="1895002"/>
            <a:ext cx="4602076" cy="27845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621127" y="4752685"/>
            <a:ext cx="6949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B6B70"/>
                </a:solidFill>
                <a:latin typeface="맑은 고딕"/>
              </a:rPr>
              <a:t>핵심: 정비사업 초기~중기 단계일수록 프리미엄이 큼(최대 154%)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4999573"/>
            <a:ext cx="5547207" cy="777240"/>
          </a:xfrm>
          <a:prstGeom prst="roundRect">
            <a:avLst/>
          </a:prstGeom>
          <a:solidFill>
            <a:srgbClr val="E9F6EC"/>
          </a:solidFill>
          <a:ln w="15875">
            <a:solidFill>
              <a:srgbClr val="1E7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109728"/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E7A3C"/>
                </a:solidFill>
                <a:latin typeface="맑은 고딕"/>
              </a:rPr>
              <a:t>어떻게 해석하나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002632"/>
                </a:solidFill>
                <a:latin typeface="맑은 고딕"/>
              </a:rPr>
              <a:t>정비사업 초기~중기 단계 단지일수록 가격 프리미엄이 뚜렷합니다.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7287" y="4999573"/>
            <a:ext cx="5547207" cy="850392"/>
          </a:xfrm>
          <a:prstGeom prst="roundRect">
            <a:avLst/>
          </a:prstGeom>
          <a:solidFill>
            <a:srgbClr val="FCE8E6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109728"/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0392B"/>
                </a:solidFill>
                <a:latin typeface="맑은 고딕"/>
              </a:rPr>
              <a:t>주의할 점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002632"/>
                </a:solidFill>
                <a:latin typeface="맑은 고딕"/>
              </a:rPr>
              <a:t>정비사업 단계는 '2026년 현재' 기준을 과거 거래에도 그대로 적용한 시점 불일치가 있고, 착공 단계는 표본이 46건뿐입니다.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2000" b="1">
                <a:solidFill>
                  <a:srgbClr val="FFFFFF"/>
                </a:solidFill>
                <a:latin typeface="맑은 고딕"/>
              </a:rPr>
              <a:t>4. 입지 — 역까지 거리와 가격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14255" y="219456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 b="1">
                <a:solidFill>
                  <a:srgbClr val="40CDDC"/>
                </a:solidFill>
                <a:latin typeface="맑은 고딕"/>
              </a:rPr>
              <a:t>PART 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50976"/>
            <a:ext cx="11277295" cy="777240"/>
          </a:xfrm>
          <a:prstGeom prst="roundRect">
            <a:avLst/>
          </a:prstGeom>
          <a:solidFill>
            <a:srgbClr val="E3F3FB"/>
          </a:solidFill>
          <a:ln w="15875">
            <a:solidFill>
              <a:srgbClr val="1D7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109728"/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D7AA8"/>
                </a:solidFill>
                <a:latin typeface="맑은 고딕"/>
              </a:rPr>
              <a:t>무엇을 보여주려 했는가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002632"/>
                </a:solidFill>
                <a:latin typeface="맑은 고딕"/>
              </a:rPr>
              <a:t>지하철역까지 거리가 가까울수록 실제로 비싼지 확인합니다.</a:t>
            </a:r>
          </a:p>
        </p:txBody>
      </p:sp>
      <p:pic>
        <p:nvPicPr>
          <p:cNvPr id="5" name="Picture 4" descr="04a_station_distance_pr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7365" y="1896831"/>
            <a:ext cx="5136963" cy="282659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621127" y="4796576"/>
            <a:ext cx="6949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B6B70"/>
                </a:solidFill>
                <a:latin typeface="맑은 고딕"/>
              </a:rPr>
              <a:t>핵심: 역까지 300m 이내(1,466만원)가 2km 이상(687만원)의 2배 이상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5043464"/>
            <a:ext cx="5547207" cy="777240"/>
          </a:xfrm>
          <a:prstGeom prst="roundRect">
            <a:avLst/>
          </a:prstGeom>
          <a:solidFill>
            <a:srgbClr val="E9F6EC"/>
          </a:solidFill>
          <a:ln w="15875">
            <a:solidFill>
              <a:srgbClr val="1E7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109728"/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E7A3C"/>
                </a:solidFill>
                <a:latin typeface="맑은 고딕"/>
              </a:rPr>
              <a:t>어떻게 해석하나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002632"/>
                </a:solidFill>
                <a:latin typeface="맑은 고딕"/>
              </a:rPr>
              <a:t>아주 뚜렷한 역세권 프리미엄으로 보입니다.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7287" y="5043464"/>
            <a:ext cx="5547207" cy="850392"/>
          </a:xfrm>
          <a:prstGeom prst="roundRect">
            <a:avLst/>
          </a:prstGeom>
          <a:solidFill>
            <a:srgbClr val="FCE8E6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109728"/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0392B"/>
                </a:solidFill>
                <a:latin typeface="맑은 고딕"/>
              </a:rPr>
              <a:t>주의할 점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002632"/>
                </a:solidFill>
                <a:latin typeface="맑은 고딕"/>
              </a:rPr>
              <a:t>다른 요인(지역·연식 등)을 통제하지 않은 단순 비교라, 역세권 자체의 효과인지 다른 요인이 섞인 건지 확정할 수 없습니다.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2000" b="1">
                <a:solidFill>
                  <a:srgbClr val="FFFFFF"/>
                </a:solidFill>
                <a:latin typeface="맑은 고딕"/>
              </a:rPr>
              <a:t>4. 입지 — 한강조망이 가장 강한 입지 요인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14255" y="219456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 b="1">
                <a:solidFill>
                  <a:srgbClr val="40CDDC"/>
                </a:solidFill>
                <a:latin typeface="맑은 고딕"/>
              </a:rPr>
              <a:t>PART 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50976"/>
            <a:ext cx="11277295" cy="777240"/>
          </a:xfrm>
          <a:prstGeom prst="roundRect">
            <a:avLst/>
          </a:prstGeom>
          <a:solidFill>
            <a:srgbClr val="E3F3FB"/>
          </a:solidFill>
          <a:ln w="15875">
            <a:solidFill>
              <a:srgbClr val="1D7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109728"/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D7AA8"/>
                </a:solidFill>
                <a:latin typeface="맑은 고딕"/>
              </a:rPr>
              <a:t>무엇을 보여주려 했는가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002632"/>
                </a:solidFill>
                <a:latin typeface="맑은 고딕"/>
              </a:rPr>
              <a:t>입지 요인들(한강조망·학군 등) 중 가격과 가장 밀접한 게 무엇인지 비교합니다.</a:t>
            </a:r>
          </a:p>
        </p:txBody>
      </p:sp>
      <p:pic>
        <p:nvPicPr>
          <p:cNvPr id="5" name="Picture 4" descr="04b_river_view_pr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4519" y="1895002"/>
            <a:ext cx="3042656" cy="278453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535527" y="4752685"/>
            <a:ext cx="5120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B6B70"/>
                </a:solidFill>
                <a:latin typeface="맑은 고딕"/>
              </a:rPr>
              <a:t>핵심: 한강조망 있는 단지가 없는 단지보다 약 55% 비쌈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4999573"/>
            <a:ext cx="5547207" cy="777240"/>
          </a:xfrm>
          <a:prstGeom prst="roundRect">
            <a:avLst/>
          </a:prstGeom>
          <a:solidFill>
            <a:srgbClr val="E9F6EC"/>
          </a:solidFill>
          <a:ln w="15875">
            <a:solidFill>
              <a:srgbClr val="1E7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109728"/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E7A3C"/>
                </a:solidFill>
                <a:latin typeface="맑은 고딕"/>
              </a:rPr>
              <a:t>어떻게 해석하나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002632"/>
                </a:solidFill>
                <a:latin typeface="맑은 고딕"/>
              </a:rPr>
              <a:t>한강조망이 확인된 입지 요인 중 상관이 가장 강합니다(0.29).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7287" y="4999573"/>
            <a:ext cx="5547207" cy="850392"/>
          </a:xfrm>
          <a:prstGeom prst="roundRect">
            <a:avLst/>
          </a:prstGeom>
          <a:solidFill>
            <a:srgbClr val="FCE8E6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109728"/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0392B"/>
                </a:solidFill>
                <a:latin typeface="맑은 고딕"/>
              </a:rPr>
              <a:t>주의할 점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002632"/>
                </a:solidFill>
                <a:latin typeface="맑은 고딕"/>
              </a:rPr>
              <a:t>학군 거리는 상관계수가 -0.07~-0.01로 거의 무관했습니다. 단순 물리적 거리보다 '어느 학군인지'(동 단위 효과)가 더 중요할 가능성이 있습니다.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2000" b="1">
                <a:solidFill>
                  <a:srgbClr val="FFFFFF"/>
                </a:solidFill>
                <a:latin typeface="맑은 고딕"/>
              </a:rPr>
              <a:t>5. 매물 속성 — 층수가 오를수록 단가도 오른다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14255" y="219456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 b="1">
                <a:solidFill>
                  <a:srgbClr val="40CDDC"/>
                </a:solidFill>
                <a:latin typeface="맑은 고딕"/>
              </a:rPr>
              <a:t>PART 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50976"/>
            <a:ext cx="11277295" cy="777240"/>
          </a:xfrm>
          <a:prstGeom prst="roundRect">
            <a:avLst/>
          </a:prstGeom>
          <a:solidFill>
            <a:srgbClr val="E3F3FB"/>
          </a:solidFill>
          <a:ln w="15875">
            <a:solidFill>
              <a:srgbClr val="1D7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109728"/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D7AA8"/>
                </a:solidFill>
                <a:latin typeface="맑은 고딕"/>
              </a:rPr>
              <a:t>무엇을 보여주려 했는가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002632"/>
                </a:solidFill>
                <a:latin typeface="맑은 고딕"/>
              </a:rPr>
              <a:t>같은 단지 안에서도 층수가 가격에 영향을 주는지 확인합니다.</a:t>
            </a:r>
          </a:p>
        </p:txBody>
      </p:sp>
      <p:pic>
        <p:nvPicPr>
          <p:cNvPr id="5" name="Picture 4" descr="05a_floor_pr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7365" y="1896831"/>
            <a:ext cx="5136963" cy="282659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621127" y="4796576"/>
            <a:ext cx="6949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B6B70"/>
                </a:solidFill>
                <a:latin typeface="맑은 고딕"/>
              </a:rPr>
              <a:t>핵심: 21층 이상 고층에서 단가가 크게 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5043464"/>
            <a:ext cx="5547207" cy="777240"/>
          </a:xfrm>
          <a:prstGeom prst="roundRect">
            <a:avLst/>
          </a:prstGeom>
          <a:solidFill>
            <a:srgbClr val="E9F6EC"/>
          </a:solidFill>
          <a:ln w="15875">
            <a:solidFill>
              <a:srgbClr val="1E7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109728"/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E7A3C"/>
                </a:solidFill>
                <a:latin typeface="맑은 고딕"/>
              </a:rPr>
              <a:t>어떻게 해석하나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002632"/>
                </a:solidFill>
                <a:latin typeface="맑은 고딕"/>
              </a:rPr>
              <a:t>층수가 높을수록 단가가 오르고 특히 21층 이상에서 크게 뜁니다.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7287" y="5043464"/>
            <a:ext cx="5547207" cy="850392"/>
          </a:xfrm>
          <a:prstGeom prst="roundRect">
            <a:avLst/>
          </a:prstGeom>
          <a:solidFill>
            <a:srgbClr val="FCE8E6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109728"/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0392B"/>
                </a:solidFill>
                <a:latin typeface="맑은 고딕"/>
              </a:rPr>
              <a:t>주의할 점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002632"/>
                </a:solidFill>
                <a:latin typeface="맑은 고딕"/>
              </a:rPr>
              <a:t>지역·연식·단지를 통제하지 않은 단순 비교라, 고층 자체의 프리미엄인지 원래 비싼 지역에 고층이 많은 건지는 확정할 수 없습니다.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2000" b="1">
                <a:solidFill>
                  <a:srgbClr val="FFFFFF"/>
                </a:solidFill>
                <a:latin typeface="맑은 고딕"/>
              </a:rPr>
              <a:t>5. 매물 속성 — 면적은 작거나 커야 비싸다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14255" y="219456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 b="1">
                <a:solidFill>
                  <a:srgbClr val="40CDDC"/>
                </a:solidFill>
                <a:latin typeface="맑은 고딕"/>
              </a:rPr>
              <a:t>PART 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50976"/>
            <a:ext cx="11277295" cy="777240"/>
          </a:xfrm>
          <a:prstGeom prst="roundRect">
            <a:avLst/>
          </a:prstGeom>
          <a:solidFill>
            <a:srgbClr val="E3F3FB"/>
          </a:solidFill>
          <a:ln w="15875">
            <a:solidFill>
              <a:srgbClr val="1D7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109728"/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D7AA8"/>
                </a:solidFill>
                <a:latin typeface="맑은 고딕"/>
              </a:rPr>
              <a:t>무엇을 보여주려 했는가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002632"/>
                </a:solidFill>
                <a:latin typeface="맑은 고딕"/>
              </a:rPr>
              <a:t>면적대별로 ㎡당 가격이 어떤 모양으로 다른지 확인합니다.</a:t>
            </a:r>
          </a:p>
        </p:txBody>
      </p:sp>
      <p:pic>
        <p:nvPicPr>
          <p:cNvPr id="5" name="Picture 4" descr="05b_area_pr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4081" y="1896831"/>
            <a:ext cx="5143532" cy="282659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29687" y="4796576"/>
            <a:ext cx="7132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B6B70"/>
                </a:solidFill>
                <a:latin typeface="맑은 고딕"/>
              </a:rPr>
              <a:t>핵심: 소형(40㎡ 이하)·대형(165㎡ 이상)이 국민평형보다 비쌈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5043464"/>
            <a:ext cx="5547207" cy="777240"/>
          </a:xfrm>
          <a:prstGeom prst="roundRect">
            <a:avLst/>
          </a:prstGeom>
          <a:solidFill>
            <a:srgbClr val="E9F6EC"/>
          </a:solidFill>
          <a:ln w="15875">
            <a:solidFill>
              <a:srgbClr val="1E7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109728"/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E7A3C"/>
                </a:solidFill>
                <a:latin typeface="맑은 고딕"/>
              </a:rPr>
              <a:t>어떻게 해석하나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002632"/>
                </a:solidFill>
                <a:latin typeface="맑은 고딕"/>
              </a:rPr>
              <a:t>면적은 중간(국민평형)보다 작거나 큰 쪽이 오히려 비쌉니다.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7287" y="5043464"/>
            <a:ext cx="5547207" cy="850392"/>
          </a:xfrm>
          <a:prstGeom prst="roundRect">
            <a:avLst/>
          </a:prstGeom>
          <a:solidFill>
            <a:srgbClr val="FCE8E6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109728"/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0392B"/>
                </a:solidFill>
                <a:latin typeface="맑은 고딕"/>
              </a:rPr>
              <a:t>주의할 점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002632"/>
                </a:solidFill>
                <a:latin typeface="맑은 고딕"/>
              </a:rPr>
              <a:t>소형=수요층, 대형=희소성이라는 설명은 가설일 뿐, 이 데이터로 검증된 원인은 아닙니다.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2000" b="1">
                <a:solidFill>
                  <a:srgbClr val="FFFFFF"/>
                </a:solidFill>
                <a:latin typeface="맑은 고딕"/>
              </a:rPr>
              <a:t>6. 전세-매매 — 전세가율 상관은 해마다 방향이 바뀐다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14255" y="219456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 b="1">
                <a:solidFill>
                  <a:srgbClr val="40CDDC"/>
                </a:solidFill>
                <a:latin typeface="맑은 고딕"/>
              </a:rPr>
              <a:t>PART 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50976"/>
            <a:ext cx="11277295" cy="777240"/>
          </a:xfrm>
          <a:prstGeom prst="roundRect">
            <a:avLst/>
          </a:prstGeom>
          <a:solidFill>
            <a:srgbClr val="E3F3FB"/>
          </a:solidFill>
          <a:ln w="15875">
            <a:solidFill>
              <a:srgbClr val="1D7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109728"/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D7AA8"/>
                </a:solidFill>
                <a:latin typeface="맑은 고딕"/>
              </a:rPr>
              <a:t>무엇을 보여주려 했는가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002632"/>
                </a:solidFill>
                <a:latin typeface="맑은 고딕"/>
              </a:rPr>
              <a:t>전세가율이 높은 동네가 1년 뒤 매매가도 더 오르는지 확인합니다.</a:t>
            </a:r>
          </a:p>
        </p:txBody>
      </p:sp>
      <p:pic>
        <p:nvPicPr>
          <p:cNvPr id="5" name="Picture 4" descr="06_jeonse_ratio_future_ch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9126" y="1896831"/>
            <a:ext cx="4133442" cy="282659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986887" y="47965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B6B70"/>
                </a:solidFill>
                <a:latin typeface="맑은 고딕"/>
              </a:rPr>
              <a:t>핵심: 전세가율 낮은 동(6.6%)보다 높은 동(11.0%)이 더 올랐지만 상관은 약함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5043464"/>
            <a:ext cx="5547207" cy="777240"/>
          </a:xfrm>
          <a:prstGeom prst="roundRect">
            <a:avLst/>
          </a:prstGeom>
          <a:solidFill>
            <a:srgbClr val="E9F6EC"/>
          </a:solidFill>
          <a:ln w="15875">
            <a:solidFill>
              <a:srgbClr val="1E7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109728"/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E7A3C"/>
                </a:solidFill>
                <a:latin typeface="맑은 고딕"/>
              </a:rPr>
              <a:t>어떻게 해석하나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002632"/>
                </a:solidFill>
                <a:latin typeface="맑은 고딕"/>
              </a:rPr>
              <a:t>전세가율이 높을수록 1년 뒤 더 오르는 방향은 일관됩니다.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7287" y="5043464"/>
            <a:ext cx="5547207" cy="850392"/>
          </a:xfrm>
          <a:prstGeom prst="roundRect">
            <a:avLst/>
          </a:prstGeom>
          <a:solidFill>
            <a:srgbClr val="FCE8E6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109728"/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0392B"/>
                </a:solidFill>
                <a:latin typeface="맑은 고딕"/>
              </a:rPr>
              <a:t>주의할 점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002632"/>
                </a:solidFill>
                <a:latin typeface="맑은 고딕"/>
              </a:rPr>
              <a:t>전체 상관계수는 0.150로 크지 않고, 연도별로 쪼개면 부호가 뒤집힙니다(다음 슬라이드) — '선행지표'보다 '약하고 불안정한 동반관계'가 정확합니다.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2000" b="1">
                <a:solidFill>
                  <a:srgbClr val="FFFFFF"/>
                </a:solidFill>
                <a:latin typeface="맑은 고딕"/>
              </a:rPr>
              <a:t>6. 전세-매매 — 연도별로 쪼개면 상관관계가 사라진다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14255" y="219456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 b="1">
                <a:solidFill>
                  <a:srgbClr val="40CDDC"/>
                </a:solidFill>
                <a:latin typeface="맑은 고딕"/>
              </a:rPr>
              <a:t>PART 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50976"/>
            <a:ext cx="11277295" cy="777240"/>
          </a:xfrm>
          <a:prstGeom prst="roundRect">
            <a:avLst/>
          </a:prstGeom>
          <a:solidFill>
            <a:srgbClr val="E3F3FB"/>
          </a:solidFill>
          <a:ln w="15875">
            <a:solidFill>
              <a:srgbClr val="1D7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109728"/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D7AA8"/>
                </a:solidFill>
                <a:latin typeface="맑은 고딕"/>
              </a:rPr>
              <a:t>무엇을 보여주려 했는가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002632"/>
                </a:solidFill>
                <a:latin typeface="맑은 고딕"/>
              </a:rPr>
              <a:t>앞 슬라이드의 전세가율-가격 관계가 해마다 안정적으로 유지되는지 확인합니다.</a:t>
            </a:r>
          </a:p>
        </p:txBody>
      </p:sp>
      <p:pic>
        <p:nvPicPr>
          <p:cNvPr id="5" name="Picture 4" descr="06b_jeonse_corr_by_y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1120" y="1896831"/>
            <a:ext cx="4669453" cy="282659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621127" y="4796576"/>
            <a:ext cx="6949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B6B70"/>
                </a:solidFill>
                <a:latin typeface="맑은 고딕"/>
              </a:rPr>
              <a:t>핵심: 상관계수가 +0.27~-0.51로 해마다 부호가 뒤집힘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5043464"/>
            <a:ext cx="5547207" cy="777240"/>
          </a:xfrm>
          <a:prstGeom prst="roundRect">
            <a:avLst/>
          </a:prstGeom>
          <a:solidFill>
            <a:srgbClr val="E9F6EC"/>
          </a:solidFill>
          <a:ln w="15875">
            <a:solidFill>
              <a:srgbClr val="1E7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109728"/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E7A3C"/>
                </a:solidFill>
                <a:latin typeface="맑은 고딕"/>
              </a:rPr>
              <a:t>어떻게 해석하나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002632"/>
                </a:solidFill>
                <a:latin typeface="맑은 고딕"/>
              </a:rPr>
              <a:t>전세가율-가격 관계는 해마다 방향이 바뀌어 안정적인 법칙이 아닙니다.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7287" y="5043464"/>
            <a:ext cx="5547207" cy="850392"/>
          </a:xfrm>
          <a:prstGeom prst="roundRect">
            <a:avLst/>
          </a:prstGeom>
          <a:solidFill>
            <a:srgbClr val="FCE8E6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109728"/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0392B"/>
                </a:solidFill>
                <a:latin typeface="맑은 고딕"/>
              </a:rPr>
              <a:t>주의할 점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002632"/>
                </a:solidFill>
                <a:latin typeface="맑은 고딕"/>
              </a:rPr>
              <a:t>시장 국면이 전세가율과 미래 가격 양쪽에 동시에 영향을 줘서 생기는 착시일 가능성이 있습니다.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2000" b="1">
                <a:solidFill>
                  <a:srgbClr val="FFFFFF"/>
                </a:solidFill>
                <a:latin typeface="맑은 고딕"/>
              </a:rPr>
              <a:t>7. 복합 — 정비사업 강도와 가격 변동성, 유의한 선형관계 못 찾음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14255" y="219456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 b="1">
                <a:solidFill>
                  <a:srgbClr val="40CDDC"/>
                </a:solidFill>
                <a:latin typeface="맑은 고딕"/>
              </a:rPr>
              <a:t>PART 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50976"/>
            <a:ext cx="11277295" cy="777240"/>
          </a:xfrm>
          <a:prstGeom prst="roundRect">
            <a:avLst/>
          </a:prstGeom>
          <a:solidFill>
            <a:srgbClr val="E3F3FB"/>
          </a:solidFill>
          <a:ln w="15875">
            <a:solidFill>
              <a:srgbClr val="1D7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109728"/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D7AA8"/>
                </a:solidFill>
                <a:latin typeface="맑은 고딕"/>
              </a:rPr>
              <a:t>무엇을 보여주려 했는가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002632"/>
                </a:solidFill>
                <a:latin typeface="맑은 고딕"/>
              </a:rPr>
              <a:t>정비사업이 '얼마나 큰 규모로' 진행되는지가 가격 변동성과 관련 있는지 확인합니다.</a:t>
            </a:r>
          </a:p>
        </p:txBody>
      </p:sp>
      <p:pic>
        <p:nvPicPr>
          <p:cNvPr id="5" name="Picture 4" descr="07_redevelop_intensity_volat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8073" y="1895002"/>
            <a:ext cx="3655547" cy="27845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621127" y="4752685"/>
            <a:ext cx="6949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B6B70"/>
                </a:solidFill>
                <a:latin typeface="맑은 고딕"/>
              </a:rPr>
              <a:t>핵심: 정상 범위 동만 보면 강도-변동성 상관이 사실상 없음(r=0.009)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4999573"/>
            <a:ext cx="5547207" cy="777240"/>
          </a:xfrm>
          <a:prstGeom prst="roundRect">
            <a:avLst/>
          </a:prstGeom>
          <a:solidFill>
            <a:srgbClr val="E9F6EC"/>
          </a:solidFill>
          <a:ln w="15875">
            <a:solidFill>
              <a:srgbClr val="1E7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109728"/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E7A3C"/>
                </a:solidFill>
                <a:latin typeface="맑은 고딕"/>
              </a:rPr>
              <a:t>어떻게 해석하나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002632"/>
                </a:solidFill>
                <a:latin typeface="맑은 고딕"/>
              </a:rPr>
              <a:t>정비사업 강도와 가격 변동성 사이에 유의한 선형관계를 찾지 못했습니다.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7287" y="4999573"/>
            <a:ext cx="5547207" cy="850392"/>
          </a:xfrm>
          <a:prstGeom prst="roundRect">
            <a:avLst/>
          </a:prstGeom>
          <a:solidFill>
            <a:srgbClr val="FCE8E6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109728"/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0392B"/>
                </a:solidFill>
                <a:latin typeface="맑은 고딕"/>
              </a:rPr>
              <a:t>주의할 점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002632"/>
                </a:solidFill>
                <a:latin typeface="맑은 고딕"/>
              </a:rPr>
              <a:t>명목상 정상 범위(강도≤1)만 남기면 r=0.009(p=0.889)입니다. p값이 크다고 '관계 없음이 증명됐다'는 뜻은 아닙니다.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2000" b="1">
                <a:solidFill>
                  <a:srgbClr val="FFFFFF"/>
                </a:solidFill>
                <a:latin typeface="맑은 고딕"/>
              </a:rPr>
              <a:t>8. 반응이 갈린 이벤트, 반대로 움직인 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14255" y="219456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 b="1">
                <a:solidFill>
                  <a:srgbClr val="40CDDC"/>
                </a:solidFill>
                <a:latin typeface="맑은 고딕"/>
              </a:rPr>
              <a:t>PART 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50976"/>
            <a:ext cx="11277295" cy="777240"/>
          </a:xfrm>
          <a:prstGeom prst="roundRect">
            <a:avLst/>
          </a:prstGeom>
          <a:solidFill>
            <a:srgbClr val="E3F3FB"/>
          </a:solidFill>
          <a:ln w="15875">
            <a:solidFill>
              <a:srgbClr val="1D7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109728"/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D7AA8"/>
                </a:solidFill>
                <a:latin typeface="맑은 고딕"/>
              </a:rPr>
              <a:t>무엇을 보여주려 했는가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002632"/>
                </a:solidFill>
                <a:latin typeface="맑은 고딕"/>
              </a:rPr>
              <a:t>동네마다 반응이 크게 갈린 이벤트를 찾아, 원인을 그 이벤트로 특정할 수 있는지 확인합니다.</a:t>
            </a:r>
          </a:p>
        </p:txBody>
      </p:sp>
      <p:pic>
        <p:nvPicPr>
          <p:cNvPr id="5" name="Picture 4" descr="08_low_consensus_ev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7568" y="1895002"/>
            <a:ext cx="4536559" cy="27845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29687" y="4752685"/>
            <a:ext cx="7132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B6B70"/>
                </a:solidFill>
                <a:latin typeface="맑은 고딕"/>
              </a:rPr>
              <a:t>핵심: 반응이 가장 갈린 이벤트 5개, 전부 다른 이벤트와 겹쳐 원인 특정 불가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4999573"/>
            <a:ext cx="5547207" cy="777240"/>
          </a:xfrm>
          <a:prstGeom prst="roundRect">
            <a:avLst/>
          </a:prstGeom>
          <a:solidFill>
            <a:srgbClr val="E9F6EC"/>
          </a:solidFill>
          <a:ln w="15875">
            <a:solidFill>
              <a:srgbClr val="1E7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109728"/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E7A3C"/>
                </a:solidFill>
                <a:latin typeface="맑은 고딕"/>
              </a:rPr>
              <a:t>어떻게 해석하나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002632"/>
                </a:solidFill>
                <a:latin typeface="맑은 고딕"/>
              </a:rPr>
              <a:t>동네마다 정책·금리 반응이 크게 갈리는 이벤트들이 실제로 있습니다.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7287" y="4999573"/>
            <a:ext cx="5547207" cy="850392"/>
          </a:xfrm>
          <a:prstGeom prst="roundRect">
            <a:avLst/>
          </a:prstGeom>
          <a:solidFill>
            <a:srgbClr val="FCE8E6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109728"/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0392B"/>
                </a:solidFill>
                <a:latin typeface="맑은 고딕"/>
              </a:rPr>
              <a:t>주의할 점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002632"/>
                </a:solidFill>
                <a:latin typeface="맑은 고딕"/>
              </a:rPr>
              <a:t>선택된 5개 이벤트 전부가 ±4분기 내에 다른 이벤트와 겹쳐서, 어느 이벤트 때문인지는 특정할 수 없습니다.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2000" b="1">
                <a:solidFill>
                  <a:srgbClr val="FFFFFF"/>
                </a:solidFill>
                <a:latin typeface="맑은 고딕"/>
              </a:rPr>
              <a:t>9. 함께 움직이는 동 클러스터링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14255" y="219456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 b="1">
                <a:solidFill>
                  <a:srgbClr val="40CDDC"/>
                </a:solidFill>
                <a:latin typeface="맑은 고딕"/>
              </a:rPr>
              <a:t>PART 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50976"/>
            <a:ext cx="11277295" cy="777240"/>
          </a:xfrm>
          <a:prstGeom prst="roundRect">
            <a:avLst/>
          </a:prstGeom>
          <a:solidFill>
            <a:srgbClr val="E3F3FB"/>
          </a:solidFill>
          <a:ln w="15875">
            <a:solidFill>
              <a:srgbClr val="1D7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109728"/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D7AA8"/>
                </a:solidFill>
                <a:latin typeface="맑은 고딕"/>
              </a:rPr>
              <a:t>무엇을 보여주려 했는가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002632"/>
                </a:solidFill>
                <a:latin typeface="맑은 고딕"/>
              </a:rPr>
              <a:t>서울 시장 전체가 같이 움직이는 공통 흐름을 뺀 뒤에도, 가격이 비슷하게 오르내리는 동끼리 묶이는 그룹이 있는지 확인합니다.</a:t>
            </a:r>
          </a:p>
        </p:txBody>
      </p:sp>
      <p:pic>
        <p:nvPicPr>
          <p:cNvPr id="5" name="Picture 4" descr="09_cluster_size_imbal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3877" y="1895002"/>
            <a:ext cx="6863940" cy="27845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981047" y="4752685"/>
            <a:ext cx="8229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B6B70"/>
                </a:solidFill>
                <a:latin typeface="맑은 고딕"/>
              </a:rPr>
              <a:t>핵심: 251개 동이 6개 그룹으로 고르게 나뉘고, 각 그룹은 특정 자치구에 뚜렷이 쏠려 있음(최대 쏠림 26.7%)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4999573"/>
            <a:ext cx="5547207" cy="850392"/>
          </a:xfrm>
          <a:prstGeom prst="roundRect">
            <a:avLst/>
          </a:prstGeom>
          <a:solidFill>
            <a:srgbClr val="E9F6EC"/>
          </a:solidFill>
          <a:ln w="15875">
            <a:solidFill>
              <a:srgbClr val="1E7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109728"/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E7A3C"/>
                </a:solidFill>
                <a:latin typeface="맑은 고딕"/>
              </a:rPr>
              <a:t>어떻게 해석하나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002632"/>
                </a:solidFill>
                <a:latin typeface="맑은 고딕"/>
              </a:rPr>
              <a:t>시장 공통 흐름과 구분되는, 지역적으로 뚜렷한 동 그룹이 존재합니다. 예: 5번 그룹은 용산·강남·서초 등 한강변·고가권이 모여 있습니다.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7287" y="4999573"/>
            <a:ext cx="5547207" cy="1037844"/>
          </a:xfrm>
          <a:prstGeom prst="roundRect">
            <a:avLst/>
          </a:prstGeom>
          <a:solidFill>
            <a:srgbClr val="FCE8E6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109728"/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0392B"/>
                </a:solidFill>
                <a:latin typeface="맑은 고딕"/>
              </a:rPr>
              <a:t>주의할 점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002632"/>
                </a:solidFill>
                <a:latin typeface="맑은 고딕"/>
              </a:rPr>
              <a:t>그룹을 나누는 기준(6개)은 분석자가 정한 값이라, 그룹 수를 바꾸면 경계가 달라질 수 있습니다. 그룹이 '왜' 같이 움직이는지(입지·개발 이슈 등)는 이 분석만으로는 알 수 없습니다.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2000" b="1">
                <a:solidFill>
                  <a:srgbClr val="FFFFFF"/>
                </a:solidFill>
                <a:latin typeface="맑은 고딕"/>
              </a:rPr>
              <a:t>10. (외부) 인구·세대수 — 새로 가져온 외부 데이터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14255" y="219456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 b="1">
                <a:solidFill>
                  <a:srgbClr val="40CDDC"/>
                </a:solidFill>
                <a:latin typeface="맑은 고딕"/>
              </a:rPr>
              <a:t>PART 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69264"/>
            <a:ext cx="11277295" cy="777240"/>
          </a:xfrm>
          <a:prstGeom prst="roundRect">
            <a:avLst/>
          </a:prstGeom>
          <a:solidFill>
            <a:srgbClr val="E3F3FB"/>
          </a:solidFill>
          <a:ln w="15875">
            <a:solidFill>
              <a:srgbClr val="1D7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109728"/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D7AA8"/>
                </a:solidFill>
                <a:latin typeface="맑은 고딕"/>
              </a:rPr>
              <a:t>무엇을 보여주려 했는가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002632"/>
                </a:solidFill>
                <a:latin typeface="맑은 고딕"/>
              </a:rPr>
              <a:t>2번 축에서 강남구 평균은 오르는데 역삼·대치·압구정동은 내려간 이유가 인구 변화 때문인지 확인합니다.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801368"/>
            <a:ext cx="11277295" cy="1024128"/>
          </a:xfrm>
          <a:prstGeom prst="roundRect">
            <a:avLst/>
          </a:prstGeom>
          <a:solidFill>
            <a:srgbClr val="F3F6F6"/>
          </a:solidFill>
          <a:ln w="15875">
            <a:solidFill>
              <a:srgbClr val="40CD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002632"/>
                </a:solidFill>
                <a:latin typeface="맑은 고딕"/>
              </a:rPr>
              <a:t>뭘로 확인했나</a:t>
            </a:r>
          </a:p>
          <a:p>
            <a:pPr algn="l" marL="109728">
              <a:lnSpc>
                <a:spcPct val="125000"/>
              </a:lnSpc>
              <a:spcAft>
                <a:spcPts val="400"/>
              </a:spcAft>
            </a:pPr>
            <a:r>
              <a:rPr sz="1050" b="1">
                <a:solidFill>
                  <a:srgbClr val="002632"/>
                </a:solidFill>
                <a:latin typeface="맑은 고딕"/>
              </a:rPr>
              <a:t>· 데이터  </a:t>
            </a:r>
            <a:r>
              <a:rPr sz="1050" b="0">
                <a:solidFill>
                  <a:srgbClr val="5B6B70"/>
                </a:solidFill>
                <a:latin typeface="맑은 고딕"/>
              </a:rPr>
              <a:t>행정안전부 법정동별 주민등록 인구·세대현황 (공공데이터포털, 무료·자동승인)</a:t>
            </a:r>
          </a:p>
          <a:p>
            <a:pPr algn="l" marL="109728">
              <a:lnSpc>
                <a:spcPct val="125000"/>
              </a:lnSpc>
              <a:spcAft>
                <a:spcPts val="400"/>
              </a:spcAft>
            </a:pPr>
            <a:r>
              <a:rPr sz="1050" b="1">
                <a:solidFill>
                  <a:srgbClr val="002632"/>
                </a:solidFill>
                <a:latin typeface="맑은 고딕"/>
              </a:rPr>
              <a:t>· 방법  </a:t>
            </a:r>
            <a:r>
              <a:rPr sz="1050" b="0">
                <a:solidFill>
                  <a:srgbClr val="5B6B70"/>
                </a:solidFill>
                <a:latin typeface="맑은 고딕"/>
              </a:rPr>
              <a:t>법정동 340개의 2025Q2·2026Q2 인구·세대수를 새로 받아, 2번 축의 동별 가격 변화율과 합침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2000" b="1">
                <a:solidFill>
                  <a:srgbClr val="FFFFFF"/>
                </a:solidFill>
                <a:latin typeface="맑은 고딕"/>
              </a:rPr>
              <a:t>10. (외부) 인구-가격 관계는 보광동 하나가 만든 착시였다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14255" y="219456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 b="1">
                <a:solidFill>
                  <a:srgbClr val="40CDDC"/>
                </a:solidFill>
                <a:latin typeface="맑은 고딕"/>
              </a:rPr>
              <a:t>PART 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50976"/>
            <a:ext cx="11277295" cy="777240"/>
          </a:xfrm>
          <a:prstGeom prst="roundRect">
            <a:avLst/>
          </a:prstGeom>
          <a:solidFill>
            <a:srgbClr val="E3F3FB"/>
          </a:solidFill>
          <a:ln w="15875">
            <a:solidFill>
              <a:srgbClr val="1D7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109728"/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D7AA8"/>
                </a:solidFill>
                <a:latin typeface="맑은 고딕"/>
              </a:rPr>
              <a:t>무엇을 보여주려 했는가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002632"/>
                </a:solidFill>
                <a:latin typeface="맑은 고딕"/>
              </a:rPr>
              <a:t>인구가 줄어든 동네와 가격이 오른 동네가 실제로 겹치는지 확인합니다.</a:t>
            </a:r>
          </a:p>
        </p:txBody>
      </p:sp>
      <p:pic>
        <p:nvPicPr>
          <p:cNvPr id="5" name="Picture 4" descr="10_population_vs_pr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830" y="1895002"/>
            <a:ext cx="3778034" cy="27845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621127" y="4752685"/>
            <a:ext cx="6949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B6B70"/>
                </a:solidFill>
                <a:latin typeface="맑은 고딕"/>
              </a:rPr>
              <a:t>핵심: 보광동을 빼면 인구-가격 상관이 거의 사라짐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4999573"/>
            <a:ext cx="5547207" cy="777240"/>
          </a:xfrm>
          <a:prstGeom prst="roundRect">
            <a:avLst/>
          </a:prstGeom>
          <a:solidFill>
            <a:srgbClr val="E9F6EC"/>
          </a:solidFill>
          <a:ln w="15875">
            <a:solidFill>
              <a:srgbClr val="1E7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109728"/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E7A3C"/>
                </a:solidFill>
                <a:latin typeface="맑은 고딕"/>
              </a:rPr>
              <a:t>어떻게 해석하나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002632"/>
                </a:solidFill>
                <a:latin typeface="맑은 고딕"/>
              </a:rPr>
              <a:t>'인구가 줄면 가격이 오른다'는 일반적 경향은 근거가 없습니다.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7287" y="4999573"/>
            <a:ext cx="5547207" cy="850392"/>
          </a:xfrm>
          <a:prstGeom prst="roundRect">
            <a:avLst/>
          </a:prstGeom>
          <a:solidFill>
            <a:srgbClr val="FCE8E6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109728"/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0392B"/>
                </a:solidFill>
                <a:latin typeface="맑은 고딕"/>
              </a:rPr>
              <a:t>주의할 점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002632"/>
                </a:solidFill>
                <a:latin typeface="맑은 고딕"/>
              </a:rPr>
              <a:t>전체 상관계수는 -0.108(p=0.10, 유의하지 않음)이고, 보광동 하나를 빼면 -0.001로 사실상 사라집니다.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2000" b="1">
                <a:solidFill>
                  <a:srgbClr val="FFFFFF"/>
                </a:solidFill>
                <a:latin typeface="맑은 고딕"/>
              </a:rPr>
              <a:t>10. (외부) 그래도 보광동 사례 자체는 흥미롭다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14255" y="219456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 b="1">
                <a:solidFill>
                  <a:srgbClr val="40CDDC"/>
                </a:solidFill>
                <a:latin typeface="맑은 고딕"/>
              </a:rPr>
              <a:t>PART 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69264"/>
            <a:ext cx="11277295" cy="777240"/>
          </a:xfrm>
          <a:prstGeom prst="roundRect">
            <a:avLst/>
          </a:prstGeom>
          <a:solidFill>
            <a:srgbClr val="E3F3FB"/>
          </a:solidFill>
          <a:ln w="15875">
            <a:solidFill>
              <a:srgbClr val="1D7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109728"/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D7AA8"/>
                </a:solidFill>
                <a:latin typeface="맑은 고딕"/>
              </a:rPr>
              <a:t>무엇을 보여주려 했는가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002632"/>
                </a:solidFill>
                <a:latin typeface="맑은 고딕"/>
              </a:rPr>
              <a:t>2번 축에서 짚었던 동 5곳의 인구·가격 변화를 나란히 비교합니다.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01368"/>
          <a:ext cx="10972800" cy="1807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3200400"/>
                <a:gridCol w="3200400"/>
              </a:tblGrid>
              <a:tr h="30124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동</a:t>
                      </a:r>
                    </a:p>
                  </a:txBody>
                  <a:tcPr anchor="ctr" marL="73152" marR="73152" marT="41148" marB="41148">
                    <a:solidFill>
                      <a:srgbClr val="0026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구</a:t>
                      </a:r>
                    </a:p>
                  </a:txBody>
                  <a:tcPr anchor="ctr" marL="73152" marR="73152" marT="41148" marB="41148">
                    <a:solidFill>
                      <a:srgbClr val="0026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인구 변화율(1년)</a:t>
                      </a:r>
                    </a:p>
                  </a:txBody>
                  <a:tcPr anchor="ctr" marL="73152" marR="73152" marT="41148" marB="41148">
                    <a:solidFill>
                      <a:srgbClr val="0026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가격 변화율(1년)</a:t>
                      </a:r>
                    </a:p>
                  </a:txBody>
                  <a:tcPr anchor="ctr" marL="73152" marR="73152" marT="41148" marB="41148">
                    <a:solidFill>
                      <a:srgbClr val="002632"/>
                    </a:solidFill>
                  </a:tcPr>
                </a:tc>
              </a:tr>
              <a:tr h="30124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2632"/>
                          </a:solidFill>
                          <a:latin typeface="맑은 고딕"/>
                        </a:rPr>
                        <a:t>보광동</a:t>
                      </a:r>
                    </a:p>
                  </a:txBody>
                  <a:tcPr anchor="ctr" marL="73152" marR="73152" marT="41148" marB="41148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2632"/>
                          </a:solidFill>
                          <a:latin typeface="맑은 고딕"/>
                        </a:rPr>
                        <a:t>용산구</a:t>
                      </a:r>
                    </a:p>
                  </a:txBody>
                  <a:tcPr anchor="ctr" marL="73152" marR="73152" marT="41148" marB="41148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2632"/>
                          </a:solidFill>
                          <a:latin typeface="맑은 고딕"/>
                        </a:rPr>
                        <a:t>-26.5%</a:t>
                      </a:r>
                    </a:p>
                  </a:txBody>
                  <a:tcPr anchor="ctr" marL="73152" marR="73152" marT="41148" marB="41148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2632"/>
                          </a:solidFill>
                          <a:latin typeface="맑은 고딕"/>
                        </a:rPr>
                        <a:t>46.3%</a:t>
                      </a:r>
                    </a:p>
                  </a:txBody>
                  <a:tcPr anchor="ctr" marL="73152" marR="73152" marT="41148" marB="41148">
                    <a:solidFill>
                      <a:srgbClr val="F3F6F6"/>
                    </a:solidFill>
                  </a:tcPr>
                </a:tc>
              </a:tr>
              <a:tr h="30124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2632"/>
                          </a:solidFill>
                          <a:latin typeface="맑은 고딕"/>
                        </a:rPr>
                        <a:t>압구정동</a:t>
                      </a:r>
                    </a:p>
                  </a:txBody>
                  <a:tcPr anchor="ctr" marL="73152" marR="73152" marT="41148" marB="4114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2632"/>
                          </a:solidFill>
                          <a:latin typeface="맑은 고딕"/>
                        </a:rPr>
                        <a:t>강남구</a:t>
                      </a:r>
                    </a:p>
                  </a:txBody>
                  <a:tcPr anchor="ctr" marL="73152" marR="73152" marT="41148" marB="4114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2632"/>
                          </a:solidFill>
                          <a:latin typeface="맑은 고딕"/>
                        </a:rPr>
                        <a:t>-0.8%</a:t>
                      </a:r>
                    </a:p>
                  </a:txBody>
                  <a:tcPr anchor="ctr" marL="73152" marR="73152" marT="41148" marB="4114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2632"/>
                          </a:solidFill>
                          <a:latin typeface="맑은 고딕"/>
                        </a:rPr>
                        <a:t>-1.6%</a:t>
                      </a:r>
                    </a:p>
                  </a:txBody>
                  <a:tcPr anchor="ctr" marL="73152" marR="73152" marT="41148" marB="41148">
                    <a:solidFill>
                      <a:srgbClr val="FFFFFF"/>
                    </a:solidFill>
                  </a:tcPr>
                </a:tc>
              </a:tr>
              <a:tr h="30124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2632"/>
                          </a:solidFill>
                          <a:latin typeface="맑은 고딕"/>
                        </a:rPr>
                        <a:t>수서동</a:t>
                      </a:r>
                    </a:p>
                  </a:txBody>
                  <a:tcPr anchor="ctr" marL="73152" marR="73152" marT="41148" marB="41148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2632"/>
                          </a:solidFill>
                          <a:latin typeface="맑은 고딕"/>
                        </a:rPr>
                        <a:t>강남구</a:t>
                      </a:r>
                    </a:p>
                  </a:txBody>
                  <a:tcPr anchor="ctr" marL="73152" marR="73152" marT="41148" marB="41148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2632"/>
                          </a:solidFill>
                          <a:latin typeface="맑은 고딕"/>
                        </a:rPr>
                        <a:t>-0.7%</a:t>
                      </a:r>
                    </a:p>
                  </a:txBody>
                  <a:tcPr anchor="ctr" marL="73152" marR="73152" marT="41148" marB="41148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2632"/>
                          </a:solidFill>
                          <a:latin typeface="맑은 고딕"/>
                        </a:rPr>
                        <a:t>33.3%</a:t>
                      </a:r>
                    </a:p>
                  </a:txBody>
                  <a:tcPr anchor="ctr" marL="73152" marR="73152" marT="41148" marB="41148">
                    <a:solidFill>
                      <a:srgbClr val="F3F6F6"/>
                    </a:solidFill>
                  </a:tcPr>
                </a:tc>
              </a:tr>
              <a:tr h="30124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2632"/>
                          </a:solidFill>
                          <a:latin typeface="맑은 고딕"/>
                        </a:rPr>
                        <a:t>대치동</a:t>
                      </a:r>
                    </a:p>
                  </a:txBody>
                  <a:tcPr anchor="ctr" marL="73152" marR="73152" marT="41148" marB="4114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2632"/>
                          </a:solidFill>
                          <a:latin typeface="맑은 고딕"/>
                        </a:rPr>
                        <a:t>강남구</a:t>
                      </a:r>
                    </a:p>
                  </a:txBody>
                  <a:tcPr anchor="ctr" marL="73152" marR="73152" marT="41148" marB="4114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2632"/>
                          </a:solidFill>
                          <a:latin typeface="맑은 고딕"/>
                        </a:rPr>
                        <a:t>-0.4%</a:t>
                      </a:r>
                    </a:p>
                  </a:txBody>
                  <a:tcPr anchor="ctr" marL="73152" marR="73152" marT="41148" marB="4114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2632"/>
                          </a:solidFill>
                          <a:latin typeface="맑은 고딕"/>
                        </a:rPr>
                        <a:t>-4.8%</a:t>
                      </a:r>
                    </a:p>
                  </a:txBody>
                  <a:tcPr anchor="ctr" marL="73152" marR="73152" marT="41148" marB="41148">
                    <a:solidFill>
                      <a:srgbClr val="FFFFFF"/>
                    </a:solidFill>
                  </a:tcPr>
                </a:tc>
              </a:tr>
              <a:tr h="30124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2632"/>
                          </a:solidFill>
                          <a:latin typeface="맑은 고딕"/>
                        </a:rPr>
                        <a:t>역삼동</a:t>
                      </a:r>
                    </a:p>
                  </a:txBody>
                  <a:tcPr anchor="ctr" marL="73152" marR="73152" marT="41148" marB="41148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2632"/>
                          </a:solidFill>
                          <a:latin typeface="맑은 고딕"/>
                        </a:rPr>
                        <a:t>강남구</a:t>
                      </a:r>
                    </a:p>
                  </a:txBody>
                  <a:tcPr anchor="ctr" marL="73152" marR="73152" marT="41148" marB="41148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2632"/>
                          </a:solidFill>
                          <a:latin typeface="맑은 고딕"/>
                        </a:rPr>
                        <a:t>-0.3%</a:t>
                      </a:r>
                    </a:p>
                  </a:txBody>
                  <a:tcPr anchor="ctr" marL="73152" marR="73152" marT="41148" marB="41148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2632"/>
                          </a:solidFill>
                          <a:latin typeface="맑은 고딕"/>
                        </a:rPr>
                        <a:t>-7.1%</a:t>
                      </a:r>
                    </a:p>
                  </a:txBody>
                  <a:tcPr anchor="ctr" marL="73152" marR="73152" marT="41148" marB="41148">
                    <a:solidFill>
                      <a:srgbClr val="F3F6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700272"/>
            <a:ext cx="11277295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B70"/>
                </a:solidFill>
                <a:latin typeface="맑은 고딕"/>
              </a:rPr>
              <a:t>2번 축에서 다룬 동 5개만 뽑음. 전체 231개 동 결과는 eda/output/12_population_vs_price.csv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4029456"/>
            <a:ext cx="5547207" cy="777240"/>
          </a:xfrm>
          <a:prstGeom prst="roundRect">
            <a:avLst/>
          </a:prstGeom>
          <a:solidFill>
            <a:srgbClr val="E9F6EC"/>
          </a:solidFill>
          <a:ln w="15875">
            <a:solidFill>
              <a:srgbClr val="1E7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109728"/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E7A3C"/>
                </a:solidFill>
                <a:latin typeface="맑은 고딕"/>
              </a:rPr>
              <a:t>어떻게 해석하나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002632"/>
                </a:solidFill>
                <a:latin typeface="맑은 고딕"/>
              </a:rPr>
              <a:t>보광동은 인구 급감+가격 급등이 겹친 흥미로운 개별 사례입니다.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7287" y="4029456"/>
            <a:ext cx="5547207" cy="850392"/>
          </a:xfrm>
          <a:prstGeom prst="roundRect">
            <a:avLst/>
          </a:prstGeom>
          <a:solidFill>
            <a:srgbClr val="FCE8E6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109728"/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0392B"/>
                </a:solidFill>
                <a:latin typeface="맑은 고딕"/>
              </a:rPr>
              <a:t>주의할 점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002632"/>
                </a:solidFill>
                <a:latin typeface="맑은 고딕"/>
              </a:rPr>
              <a:t>인구 급감의 원인(정비사업 이주 추정)은 데이터로 검증된 게 아니라 추측이고, 강남구 내부 편차(역삼·대치·압구정 하락)도 인구로는 설명되지 않습니다.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2000" b="1">
                <a:solidFill>
                  <a:srgbClr val="FFFFFF"/>
                </a:solidFill>
                <a:latin typeface="맑은 고딕"/>
              </a:rPr>
              <a:t>핵심 결론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14255" y="219456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 b="1">
                <a:solidFill>
                  <a:srgbClr val="40CDDC"/>
                </a:solidFill>
                <a:latin typeface="맑은 고딕"/>
              </a:rPr>
              <a:t>PART 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87552"/>
            <a:ext cx="11277295" cy="1645920"/>
          </a:xfrm>
          <a:prstGeom prst="roundRect">
            <a:avLst/>
          </a:prstGeom>
          <a:solidFill>
            <a:srgbClr val="F3F6F6"/>
          </a:solidFill>
          <a:ln w="15875">
            <a:solidFill>
              <a:srgbClr val="40CD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l" marL="109728">
              <a:lnSpc>
                <a:spcPct val="125000"/>
              </a:lnSpc>
              <a:spcAft>
                <a:spcPts val="400"/>
              </a:spcAft>
            </a:pPr>
            <a:r>
              <a:rPr sz="1050" b="1">
                <a:solidFill>
                  <a:srgbClr val="002632"/>
                </a:solidFill>
                <a:latin typeface="맑은 고딕"/>
              </a:rPr>
              <a:t>· 거래량 변동폭 &gt; 가격 변동폭  </a:t>
            </a:r>
            <a:r>
              <a:rPr sz="1050" b="0">
                <a:solidFill>
                  <a:srgbClr val="5B6B70"/>
                </a:solidFill>
                <a:latin typeface="맑은 고딕"/>
              </a:rPr>
              <a:t>정책·금리 변화 시점과 거래량 급변 시점이 겹친다(인과는 미검증)</a:t>
            </a:r>
          </a:p>
          <a:p>
            <a:pPr algn="l" marL="109728">
              <a:lnSpc>
                <a:spcPct val="125000"/>
              </a:lnSpc>
              <a:spcAft>
                <a:spcPts val="400"/>
              </a:spcAft>
            </a:pPr>
            <a:r>
              <a:rPr sz="1050" b="1">
                <a:solidFill>
                  <a:srgbClr val="002632"/>
                </a:solidFill>
                <a:latin typeface="맑은 고딕"/>
              </a:rPr>
              <a:t>· 구 평균 ≠ 동 흐름  </a:t>
            </a:r>
            <a:r>
              <a:rPr sz="1050" b="0">
                <a:solidFill>
                  <a:srgbClr val="5B6B70"/>
                </a:solidFill>
                <a:latin typeface="맑은 고딕"/>
              </a:rPr>
              <a:t>강남구 hedonic 평균은 +6.8%지만 역삼(-7.1%)~수서(+33.3%)까지 동별 편차 큼</a:t>
            </a:r>
          </a:p>
          <a:p>
            <a:pPr algn="l" marL="109728">
              <a:lnSpc>
                <a:spcPct val="125000"/>
              </a:lnSpc>
              <a:spcAft>
                <a:spcPts val="400"/>
              </a:spcAft>
            </a:pPr>
            <a:r>
              <a:rPr sz="1050" b="1">
                <a:solidFill>
                  <a:srgbClr val="002632"/>
                </a:solidFill>
                <a:latin typeface="맑은 고딕"/>
              </a:rPr>
              <a:t>· 입지 요인 중 상관 최강은 한강조망  </a:t>
            </a:r>
            <a:r>
              <a:rPr sz="1050" b="0">
                <a:solidFill>
                  <a:srgbClr val="5B6B70"/>
                </a:solidFill>
                <a:latin typeface="맑은 고딕"/>
              </a:rPr>
              <a:t>역세권(-0.17)보다 한강조망(0.29) 상관이 더 강함(둘 다 원시거래 상관)</a:t>
            </a:r>
          </a:p>
          <a:p>
            <a:pPr algn="l" marL="109728">
              <a:lnSpc>
                <a:spcPct val="125000"/>
              </a:lnSpc>
              <a:spcAft>
                <a:spcPts val="400"/>
              </a:spcAft>
            </a:pPr>
            <a:r>
              <a:rPr sz="1050" b="1">
                <a:solidFill>
                  <a:srgbClr val="002632"/>
                </a:solidFill>
                <a:latin typeface="맑은 고딕"/>
              </a:rPr>
              <a:t>· 정비사업 강도-변동성은 유의한 관계 못 찾음  </a:t>
            </a:r>
            <a:r>
              <a:rPr sz="1050" b="0">
                <a:solidFill>
                  <a:srgbClr val="5B6B70"/>
                </a:solidFill>
                <a:latin typeface="맑은 고딕"/>
              </a:rPr>
              <a:t>정상 범위 동만 보면 r=0.009, p=0.889로 선형관계 근거 없음</a:t>
            </a:r>
          </a:p>
          <a:p>
            <a:pPr algn="l" marL="109728">
              <a:lnSpc>
                <a:spcPct val="125000"/>
              </a:lnSpc>
              <a:spcAft>
                <a:spcPts val="400"/>
              </a:spcAft>
            </a:pPr>
            <a:r>
              <a:rPr sz="1050" b="1">
                <a:solidFill>
                  <a:srgbClr val="002632"/>
                </a:solidFill>
                <a:latin typeface="맑은 고딕"/>
              </a:rPr>
              <a:t>· 전세가율은 불안정한 약한 동반관계  </a:t>
            </a:r>
            <a:r>
              <a:rPr sz="1050" b="0">
                <a:solidFill>
                  <a:srgbClr val="5B6B70"/>
                </a:solidFill>
                <a:latin typeface="맑은 고딕"/>
              </a:rPr>
              <a:t>전체 상관 0.150이지만 연도별로 +0.27~-0.51로 부호가 뒤집힘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2000" b="1">
                <a:solidFill>
                  <a:srgbClr val="FFFFFF"/>
                </a:solidFill>
                <a:latin typeface="맑은 고딕"/>
              </a:rPr>
              <a:t>한계 및 다음 단계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14255" y="219456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 b="1">
                <a:solidFill>
                  <a:srgbClr val="40CDDC"/>
                </a:solidFill>
                <a:latin typeface="맑은 고딕"/>
              </a:rPr>
              <a:t>PART 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87552"/>
            <a:ext cx="11277295" cy="1037844"/>
          </a:xfrm>
          <a:prstGeom prst="roundRect">
            <a:avLst/>
          </a:prstGeom>
          <a:solidFill>
            <a:srgbClr val="F3F6F6"/>
          </a:solidFill>
          <a:ln w="15875">
            <a:solidFill>
              <a:srgbClr val="B176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109728"/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B1760A"/>
                </a:solidFill>
                <a:latin typeface="맑은 고딕"/>
              </a:rPr>
              <a:t>현재 결과의 한계 (provisional, 잠정적인 결과라는 뜻)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002632"/>
                </a:solidFill>
                <a:latin typeface="맑은 고딕"/>
              </a:rPr>
              <a:t>이벤트-가격, 정책-거래량 관계는 상관관계·시점이 겹치는 것일 뿐 인과관계가 아님. 3·4번 축은 현재 시점 단지 정보를 과거 거래에도 그대로 적용해서 비교한 시점 불일치가 있음. 6번 축(전세가율)은 여러 해·여러 동을 한꺼번에 묶어 계산한 상관이라, 그 시기 시장 전체가 오르내리는 공통 흐름과 진짜 선행성을 완전히 구분하지 못함. 9번 축(클러스터링)의 그룹 수(6개)는 분석자가 정한 값이고, 그룹이 왜 같이 움직이는지는 이 분석만으로 알 수 없음.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171700"/>
            <a:ext cx="11277295" cy="1316736"/>
          </a:xfrm>
          <a:prstGeom prst="roundRect">
            <a:avLst/>
          </a:prstGeom>
          <a:solidFill>
            <a:srgbClr val="F3F6F6"/>
          </a:solidFill>
          <a:ln w="15875">
            <a:solidFill>
              <a:srgbClr val="40CD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002632"/>
                </a:solidFill>
                <a:latin typeface="맑은 고딕"/>
              </a:rPr>
              <a:t>계획된 후속 작업</a:t>
            </a:r>
          </a:p>
          <a:p>
            <a:pPr algn="l" marL="109728">
              <a:lnSpc>
                <a:spcPct val="125000"/>
              </a:lnSpc>
              <a:spcAft>
                <a:spcPts val="400"/>
              </a:spcAft>
            </a:pPr>
            <a:r>
              <a:rPr sz="1050" b="1">
                <a:solidFill>
                  <a:srgbClr val="002632"/>
                </a:solidFill>
                <a:latin typeface="맑은 고딕"/>
              </a:rPr>
              <a:t>· 다변량 회귀 결과 활용  </a:t>
            </a:r>
            <a:r>
              <a:rPr sz="1050" b="0">
                <a:solidFill>
                  <a:srgbClr val="5B6B70"/>
                </a:solidFill>
                <a:latin typeface="맑은 고딕"/>
              </a:rPr>
              <a:t>여러 요인을 동시에 통제한 회귀분석(별도 자료)에서 조건부로 유의했던 요인들을 모델 feature와 교차 검증</a:t>
            </a:r>
          </a:p>
          <a:p>
            <a:pPr algn="l" marL="109728">
              <a:lnSpc>
                <a:spcPct val="125000"/>
              </a:lnSpc>
              <a:spcAft>
                <a:spcPts val="400"/>
              </a:spcAft>
            </a:pPr>
            <a:r>
              <a:rPr sz="1050" b="1">
                <a:solidFill>
                  <a:srgbClr val="002632"/>
                </a:solidFill>
                <a:latin typeface="맑은 고딕"/>
              </a:rPr>
              <a:t>· 클러스터링 그룹 원인 파악  </a:t>
            </a:r>
            <a:r>
              <a:rPr sz="1050" b="0">
                <a:solidFill>
                  <a:srgbClr val="5B6B70"/>
                </a:solidFill>
                <a:latin typeface="맑은 고딕"/>
              </a:rPr>
              <a:t>지리적으로 갈린 6개 그룹이 입지 유사성 때문인지 개발 이슈 동조 때문인지 추가 조사</a:t>
            </a:r>
          </a:p>
          <a:p>
            <a:pPr algn="l" marL="109728">
              <a:lnSpc>
                <a:spcPct val="125000"/>
              </a:lnSpc>
              <a:spcAft>
                <a:spcPts val="400"/>
              </a:spcAft>
            </a:pPr>
            <a:r>
              <a:rPr sz="1050" b="1">
                <a:solidFill>
                  <a:srgbClr val="002632"/>
                </a:solidFill>
                <a:latin typeface="맑은 고딕"/>
              </a:rPr>
              <a:t>· 모델 feature와 교차 검증  </a:t>
            </a:r>
            <a:r>
              <a:rPr sz="1050" b="0">
                <a:solidFill>
                  <a:srgbClr val="5B6B70"/>
                </a:solidFill>
                <a:latin typeface="맑은 고딕"/>
              </a:rPr>
              <a:t>이번 EDA에서 신뢰도 높게 남은 요인(한강조망, 역세권)이 모델(models/index) feature와 얼마나 겹치는지 확인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테마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테마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2026-06-04T01:48:04Z</dcterms:created>
  <dc:creator>정선우</dc:creator>
</cp:coreProperties>
</file>