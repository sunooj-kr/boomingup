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슬라이드마다 '무엇을 보려던 건지 → 뭘로 측정했는지 → 결과가 뭐였는지 → 어떻게 해석하는지' 순서로 말씀드리겠습니다.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2006~2008년 평균을 100으로 놓고 지수화하면 같은 척도에서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-71%까지 급감했는데 가격은 -3.3%밖에 안 빠졌습니다.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가격지수의 실제 상승률(%)이고, 세로축은 동 이름과 소속 구입니다(초록=상승, 빨강=하락). 앞 슬라이드의 '자치구별 단가'는 원시거래 중앙값 기준이고, 이 슬라이드는 같은 hedonic 지수로 구·동을 동시에 비교한 것이라 서로 다른 지표입니다.</a:t>
            </a:r>
          </a:p>
          <a:p/>
          <a:p>
            <a:r>
              <a:t>③ 결과가 뭐였나: 강남구 표본기준을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재건축 기대감이 반영됐을 거라는 게 자연스러운 가설이라 다음 슬라이드에서 정비사업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가로축은 정비사업 진행 단계(구역지정부터 건축심의까지), 세로축은 정비사업 대상이 아닌 일반 단지를 0%로 놓았을 때의 단가 프리미엄(%)입니다.</a:t>
            </a:r>
          </a:p>
          <a:p/>
          <a:p>
            <a:r>
              <a:t>③ 결과가 뭐였나: 건축심의 단계 단지가 154%로 가장 높고, 관리처분 단계가 오히려 34%로 낮게 나옵니다. 착공 단계는 거래 46건뿐이라 표본이 작습니다.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매매가의 선행 신호인지' 확인하려는 그래프입니다.</a:t>
            </a:r>
          </a:p>
          <a:p/>
          <a:p>
            <a:r>
              <a:t>② 뭘로 측정했나: 가로축은 '기점 분기의 전세가율'을 낮은 순서대로 5등분한 그룹(Q1~Q5), 세로축은 그 기점으로부터 1년 뒤 매매 가격지수가 평균 몇 % 올랐는지입니다. 기점 분기 기준으로 직전 4분기 매매 거래가 20건 이상인 동만 포함합니다(표본이 너무 적은 동은 지수 자체의 신뢰도가 낮기 때문입니다).</a:t>
            </a:r>
          </a:p>
          <a:p/>
          <a:p>
            <a:r>
              <a:t>③ 결과가 뭐였나: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5개 이벤트 전부가 ±4분기 안에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변화율의 상관행렬을 구해 계층적 클러스터링으로 6개 그룹으로 나눴습니다. 가로축은 클러스터 번호, 세로축은 그 클러스터에 속한 동 개수입니다.</a:t>
            </a:r>
          </a:p>
          <a:p/>
          <a:p>
            <a:r>
              <a:t>③ 결과가 뭐였나: 195개 동 중 167개(85%)가 5번 클러스터 하나에 몰렸습니다. 원인은 표본이 부족해서 제외된 동이 하나라도 있는 분기를 통째로 버렸기 때문에, 41개 분기 중 24개만 남고 그마저 중간에 끊겨서(2021Q3 다음이 바로 2025Q1) 신호가 제대로 안 잡힌 것으로 보입니다.</a:t>
            </a:r>
          </a:p>
          <a:p/>
          <a:p>
            <a:r>
              <a:t>④ 어떻게 해석하나: 이번 방식으로는 해석 가능한 결과를 얻지 못했습니다.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가장 확실하게 남는 건 두 가지입니다 — 거래량이 가격보다 훨씬 크게 흔들린다는 것과, 구 단위 평균만 보면 안 되고 동 단위 편차를 봐야 한다는 것입니다. 반면 정비사업 강도나 전세가율처럼 얼핏 관계가 있어 보였던 지표들은 자세히 뜯어보면 통계적 근거가 약하거나 불안정하다는 것도 같이 말씀드리고 싶습니다.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클러스터링을 다시 시도하고, 3~5번 축처럼 여러 요인이 뒤섞인 분석은 제대로 된 회귀분석으로 재설계하고, 오늘 그나마 신뢰도 있게 남은 요인들을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정책·금리 발표 시점과 거래량이 실제로 겹쳐 움직이는지 확인</a:t>
            </a:r>
          </a:p>
        </p:txBody>
      </p:sp>
      <p:pic>
        <p:nvPicPr>
          <p:cNvPr id="5" name="Picture 4" descr="01a_quarterly_volume_events.png"/>
          <p:cNvPicPr>
            <a:picLocks noChangeAspect="1"/>
          </p:cNvPicPr>
          <p:nvPr/>
        </p:nvPicPr>
        <p:blipFill>
          <a:blip r:embed="rId2"/>
          <a:stretch>
            <a:fillRect/>
          </a:stretch>
        </p:blipFill>
        <p:spPr>
          <a:xfrm>
            <a:off x="2226106" y="1968929"/>
            <a:ext cx="7739481" cy="383060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거래량과 단가 중 어느 쪽이 더 크게 출렁이는지 같은 척도로 비교</a:t>
            </a:r>
          </a:p>
        </p:txBody>
      </p:sp>
      <p:pic>
        <p:nvPicPr>
          <p:cNvPr id="5" name="Picture 4" descr="01b_volume_vs_price_index.png"/>
          <p:cNvPicPr>
            <a:picLocks noChangeAspect="1"/>
          </p:cNvPicPr>
          <p:nvPr/>
        </p:nvPicPr>
        <p:blipFill>
          <a:blip r:embed="rId2"/>
          <a:stretch>
            <a:fillRect/>
          </a:stretch>
        </p:blipFill>
        <p:spPr>
          <a:xfrm>
            <a:off x="2226106" y="1490079"/>
            <a:ext cx="7739481" cy="3828183"/>
          </a:xfrm>
          <a:prstGeom prst="rect">
            <a:avLst/>
          </a:prstGeom>
        </p:spPr>
      </p:pic>
      <p:sp>
        <p:nvSpPr>
          <p:cNvPr id="6" name="Rounded Rectangle 5"/>
          <p:cNvSpPr/>
          <p:nvPr/>
        </p:nvSpPr>
        <p:spPr>
          <a:xfrm>
            <a:off x="457200" y="5373127"/>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2022년 거래량 -71.3% (전년 대비), 2023년 182.5%. 같은 기간 가격 변화는 -3.3% → 4.3%로 훨씬 완만함.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같은 서울 안에서 자치구별 가격 수준이 얼마나 다른지 확인</a:t>
            </a:r>
          </a:p>
        </p:txBody>
      </p:sp>
      <p:pic>
        <p:nvPicPr>
          <p:cNvPr id="5" name="Picture 4" descr="02a_gu_price_2026.png"/>
          <p:cNvPicPr>
            <a:picLocks noChangeAspect="1"/>
          </p:cNvPicPr>
          <p:nvPr/>
        </p:nvPicPr>
        <p:blipFill>
          <a:blip r:embed="rId2"/>
          <a:stretch>
            <a:fillRect/>
          </a:stretch>
        </p:blipFill>
        <p:spPr>
          <a:xfrm>
            <a:off x="4010220" y="1526926"/>
            <a:ext cx="4171254" cy="471461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구 평균 하나로는 안 보이는 동별 편차가 실제로 있는지 확인</a:t>
            </a:r>
          </a:p>
        </p:txBody>
      </p:sp>
      <p:pic>
        <p:nvPicPr>
          <p:cNvPr id="5" name="Picture 4" descr="02b_dong_yoy_top_bottom.png"/>
          <p:cNvPicPr>
            <a:picLocks noChangeAspect="1"/>
          </p:cNvPicPr>
          <p:nvPr/>
        </p:nvPicPr>
        <p:blipFill>
          <a:blip r:embed="rId2"/>
          <a:stretch>
            <a:fillRect/>
          </a:stretch>
        </p:blipFill>
        <p:spPr>
          <a:xfrm>
            <a:off x="3908129" y="1470233"/>
            <a:ext cx="4375437" cy="3410676"/>
          </a:xfrm>
          <a:prstGeom prst="rect">
            <a:avLst/>
          </a:prstGeom>
        </p:spPr>
      </p:pic>
      <p:sp>
        <p:nvSpPr>
          <p:cNvPr id="6" name="Rounded Rectangle 5"/>
          <p:cNvSpPr/>
          <p:nvPr/>
        </p:nvSpPr>
        <p:spPr>
          <a:xfrm>
            <a:off x="457200" y="4935773"/>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같은 기준(hedonic, 25Q2→26Q2)으로 본 강남구</a:t>
            </a:r>
          </a:p>
          <a:p>
            <a:pPr algn="l">
              <a:lnSpc>
                <a:spcPct val="130000"/>
              </a:lnSpc>
            </a:pPr>
            <a:r>
              <a:rPr sz="1050" b="0">
                <a:solidFill>
                  <a:srgbClr val="002632"/>
                </a:solidFill>
                <a:latin typeface="맑은 고딕"/>
              </a:rPr>
              <a:t>강남구 소속 동 중 표본기준(직전 4분기 거래 20건 이상)을 통과한 13개 동의 평균 상승률은 +6.8%인데, 그 안에서 역삼동 -7.1%부터 수서동 +33.3%까지 동별로 크게 갈립니다. 용산구 보광동은 +46.3%로 조사 대상 중 가장 많이 올랐습니다.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단지가 지어진 지 얼마나 됐는지가 가격과 어떤 모양으로 관계되는지 확인</a:t>
            </a:r>
          </a:p>
        </p:txBody>
      </p:sp>
      <p:pic>
        <p:nvPicPr>
          <p:cNvPr id="5" name="Picture 4" descr="03a_age_price.png"/>
          <p:cNvPicPr>
            <a:picLocks noChangeAspect="1"/>
          </p:cNvPicPr>
          <p:nvPr/>
        </p:nvPicPr>
        <p:blipFill>
          <a:blip r:embed="rId2"/>
          <a:stretch>
            <a:fillRect/>
          </a:stretch>
        </p:blipFill>
        <p:spPr>
          <a:xfrm>
            <a:off x="2562606" y="1940079"/>
            <a:ext cx="7066483" cy="388830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정비사업이 실제로 진행 중인 단지가 가격에 프리미엄을 받는지 확인</a:t>
            </a:r>
          </a:p>
        </p:txBody>
      </p:sp>
      <p:pic>
        <p:nvPicPr>
          <p:cNvPr id="5" name="Picture 4" descr="03b_redevelop_premium.png"/>
          <p:cNvPicPr>
            <a:picLocks noChangeAspect="1"/>
          </p:cNvPicPr>
          <p:nvPr/>
        </p:nvPicPr>
        <p:blipFill>
          <a:blip r:embed="rId2"/>
          <a:stretch>
            <a:fillRect/>
          </a:stretch>
        </p:blipFill>
        <p:spPr>
          <a:xfrm>
            <a:off x="3346902" y="1466575"/>
            <a:ext cx="5497889" cy="3326551"/>
          </a:xfrm>
          <a:prstGeom prst="rect">
            <a:avLst/>
          </a:prstGeom>
        </p:spPr>
      </p:pic>
      <p:sp>
        <p:nvSpPr>
          <p:cNvPr id="6" name="Rounded Rectangle 5"/>
          <p:cNvSpPr/>
          <p:nvPr/>
        </p:nvSpPr>
        <p:spPr>
          <a:xfrm>
            <a:off x="457200" y="4847991"/>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'건축심의' 단계 단지는 정비사업 대상이 아닌 일반 단지보다 ㎡당 단가가 154% 더 높음.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지하철역까지 거리가 가까울수록 실제로 비싼지 확인</a:t>
            </a:r>
          </a:p>
        </p:txBody>
      </p:sp>
      <p:pic>
        <p:nvPicPr>
          <p:cNvPr id="5" name="Picture 4" descr="04a_station_distance_price.png"/>
          <p:cNvPicPr>
            <a:picLocks noChangeAspect="1"/>
          </p:cNvPicPr>
          <p:nvPr/>
        </p:nvPicPr>
        <p:blipFill>
          <a:blip r:embed="rId2"/>
          <a:stretch>
            <a:fillRect/>
          </a:stretch>
        </p:blipFill>
        <p:spPr>
          <a:xfrm>
            <a:off x="2562606" y="1940079"/>
            <a:ext cx="7066483" cy="38883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입지 요인들(한강조망·학군 등) 중 가격과 가장 밀접한 게 무엇인지 비교</a:t>
            </a:r>
          </a:p>
        </p:txBody>
      </p:sp>
      <p:pic>
        <p:nvPicPr>
          <p:cNvPr id="5" name="Picture 4" descr="04b_river_view_price.png"/>
          <p:cNvPicPr>
            <a:picLocks noChangeAspect="1"/>
          </p:cNvPicPr>
          <p:nvPr/>
        </p:nvPicPr>
        <p:blipFill>
          <a:blip r:embed="rId2"/>
          <a:stretch>
            <a:fillRect/>
          </a:stretch>
        </p:blipFill>
        <p:spPr>
          <a:xfrm>
            <a:off x="4278386" y="1466575"/>
            <a:ext cx="3634922" cy="3326551"/>
          </a:xfrm>
          <a:prstGeom prst="rect">
            <a:avLst/>
          </a:prstGeom>
        </p:spPr>
      </p:pic>
      <p:sp>
        <p:nvSpPr>
          <p:cNvPr id="6" name="Rounded Rectangle 5"/>
          <p:cNvSpPr/>
          <p:nvPr/>
        </p:nvSpPr>
        <p:spPr>
          <a:xfrm>
            <a:off x="457200" y="4847991"/>
            <a:ext cx="11277295" cy="850392"/>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참고: 학군 거리는 영향이 약함</a:t>
            </a:r>
          </a:p>
          <a:p>
            <a:pPr algn="l">
              <a:lnSpc>
                <a:spcPct val="130000"/>
              </a:lnSpc>
            </a:pPr>
            <a:r>
              <a:rPr sz="1050" b="0">
                <a:solidFill>
                  <a:srgbClr val="002632"/>
                </a:solidFill>
                <a:latin typeface="맑은 고딕"/>
              </a:rPr>
              <a:t>초등학교(-0.007)·중학교(-0.067)·고등학교(-0.039)까지 거리는 단가와의 상관계수가 -0.07~-0.01 수준으로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같은 단지 안에서도 층수가 가격에 영향을 주는지 확인</a:t>
            </a:r>
          </a:p>
        </p:txBody>
      </p:sp>
      <p:pic>
        <p:nvPicPr>
          <p:cNvPr id="5" name="Picture 4" descr="05a_floor_price.png"/>
          <p:cNvPicPr>
            <a:picLocks noChangeAspect="1"/>
          </p:cNvPicPr>
          <p:nvPr/>
        </p:nvPicPr>
        <p:blipFill>
          <a:blip r:embed="rId2"/>
          <a:stretch>
            <a:fillRect/>
          </a:stretch>
        </p:blipFill>
        <p:spPr>
          <a:xfrm>
            <a:off x="2562606" y="1940079"/>
            <a:ext cx="7066483" cy="388830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면적대별로 ㎡당 가격이 어떤 모양으로 다른지 확인</a:t>
            </a:r>
          </a:p>
        </p:txBody>
      </p:sp>
      <p:pic>
        <p:nvPicPr>
          <p:cNvPr id="5" name="Picture 4" descr="05b_area_price.png"/>
          <p:cNvPicPr>
            <a:picLocks noChangeAspect="1"/>
          </p:cNvPicPr>
          <p:nvPr/>
        </p:nvPicPr>
        <p:blipFill>
          <a:blip r:embed="rId2"/>
          <a:stretch>
            <a:fillRect/>
          </a:stretch>
        </p:blipFill>
        <p:spPr>
          <a:xfrm>
            <a:off x="2478481" y="1896332"/>
            <a:ext cx="7234732" cy="397579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전세가율이 높은 동네가 1년 뒤 매매가도 더 오르는지 확인</a:t>
            </a:r>
          </a:p>
        </p:txBody>
      </p:sp>
      <p:pic>
        <p:nvPicPr>
          <p:cNvPr id="5" name="Picture 4" descr="06_jeonse_ratio_future_change.png"/>
          <p:cNvPicPr>
            <a:picLocks noChangeAspect="1"/>
          </p:cNvPicPr>
          <p:nvPr/>
        </p:nvPicPr>
        <p:blipFill>
          <a:blip r:embed="rId2"/>
          <a:stretch>
            <a:fillRect/>
          </a:stretch>
        </p:blipFill>
        <p:spPr>
          <a:xfrm>
            <a:off x="3663571" y="1466575"/>
            <a:ext cx="4864551" cy="3326551"/>
          </a:xfrm>
          <a:prstGeom prst="rect">
            <a:avLst/>
          </a:prstGeom>
        </p:spPr>
      </p:pic>
      <p:sp>
        <p:nvSpPr>
          <p:cNvPr id="6" name="Rounded Rectangle 5"/>
          <p:cNvSpPr/>
          <p:nvPr/>
        </p:nvSpPr>
        <p:spPr>
          <a:xfrm>
            <a:off x="457200" y="4847991"/>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전체 상관계수와 한계</a:t>
            </a:r>
          </a:p>
          <a:p>
            <a:pPr algn="l">
              <a:lnSpc>
                <a:spcPct val="130000"/>
              </a:lnSpc>
            </a:pPr>
            <a:r>
              <a:rPr sz="1050" b="0">
                <a:solidFill>
                  <a:srgbClr val="002632"/>
                </a:solidFill>
                <a:latin typeface="맑은 고딕"/>
              </a:rPr>
              <a:t>전세가율 하위 20% 동은 1년 뒤 평균 6.6%, 상위 20%는 11.0% 올라 방향은 일관되지만, 전체 상관계수는 0.150(n=12,440)로 크지 않습니다. 연도별로 쪼개면 +0.27~-0.51로 부호가 뒤집혀(다음 슬라이드), '선행지표'보다는 '약하고 불안정한 동반관계'가 정확한 표현입니다.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앞 슬라이드의 전세가율-가격 관계가 해마다 안정적으로 유지되는지 확인</a:t>
            </a:r>
          </a:p>
        </p:txBody>
      </p:sp>
      <p:pic>
        <p:nvPicPr>
          <p:cNvPr id="5" name="Picture 4" descr="06b_jeonse_corr_by_year.png"/>
          <p:cNvPicPr>
            <a:picLocks noChangeAspect="1"/>
          </p:cNvPicPr>
          <p:nvPr/>
        </p:nvPicPr>
        <p:blipFill>
          <a:blip r:embed="rId2"/>
          <a:stretch>
            <a:fillRect/>
          </a:stretch>
        </p:blipFill>
        <p:spPr>
          <a:xfrm>
            <a:off x="2730855" y="1847277"/>
            <a:ext cx="6729984" cy="407390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정비사업이 '얼마나 큰 규모로' 진행되는지가 가격 변동성과 관련 있는지 확인</a:t>
            </a:r>
          </a:p>
        </p:txBody>
      </p:sp>
      <p:pic>
        <p:nvPicPr>
          <p:cNvPr id="5" name="Picture 4" descr="07_redevelop_intensity_volatility.png"/>
          <p:cNvPicPr>
            <a:picLocks noChangeAspect="1"/>
          </p:cNvPicPr>
          <p:nvPr/>
        </p:nvPicPr>
        <p:blipFill>
          <a:blip r:embed="rId2"/>
          <a:stretch>
            <a:fillRect/>
          </a:stretch>
        </p:blipFill>
        <p:spPr>
          <a:xfrm>
            <a:off x="3912289" y="1466575"/>
            <a:ext cx="4367115" cy="3326551"/>
          </a:xfrm>
          <a:prstGeom prst="rect">
            <a:avLst/>
          </a:prstGeom>
        </p:spPr>
      </p:pic>
      <p:sp>
        <p:nvSpPr>
          <p:cNvPr id="6" name="Rounded Rectangle 5"/>
          <p:cNvSpPr/>
          <p:nvPr/>
        </p:nvSpPr>
        <p:spPr>
          <a:xfrm>
            <a:off x="457200" y="4847991"/>
            <a:ext cx="11277295" cy="1225295"/>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유의한 선형관계를 확인하지 못함</a:t>
            </a:r>
          </a:p>
          <a:p>
            <a:pPr algn="l">
              <a:lnSpc>
                <a:spcPct val="130000"/>
              </a:lnSpc>
            </a:pPr>
            <a:r>
              <a:rPr sz="1050" b="0">
                <a:solidFill>
                  <a:srgbClr val="002632"/>
                </a:solidFill>
                <a:latin typeface="맑은 고딕"/>
              </a:rPr>
              <a:t>정비사업 강도(재고 대비 진행 세대 비중)가 19개 동에서 100%를 넘습니다(최댓값 946%, 보광동 — 원본 데이터의 두 항목이 서로 다른 범위를 집계한 것으로 보임). 이 이상치들을 포함하면 상관계수가 있어 보이지만, 명목상 정상 범위(강도≤1)만 남기면 r=0.009(p=0.889)로 통계적으로 유의한 선형관계를 확인하지 못했습니다. (p값은 '실제로는 관계가 없다고 가정했을 때, 지금 본 것만큼 강한 결과가 우연히 나올 확률'이며, 관례상 0.05보다 크면 '유의하지 않다'고 판단합니다. 다만 p값이 크다고 '관계가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동네마다 반응이 크게 갈린 이벤트를 찾아, 원인을 그 이벤트로 특정할 수 있는지 확인</a:t>
            </a:r>
          </a:p>
        </p:txBody>
      </p:sp>
      <p:pic>
        <p:nvPicPr>
          <p:cNvPr id="5" name="Picture 4" descr="08_low_consensus_events.png"/>
          <p:cNvPicPr>
            <a:picLocks noChangeAspect="1"/>
          </p:cNvPicPr>
          <p:nvPr/>
        </p:nvPicPr>
        <p:blipFill>
          <a:blip r:embed="rId2"/>
          <a:stretch>
            <a:fillRect/>
          </a:stretch>
        </p:blipFill>
        <p:spPr>
          <a:xfrm>
            <a:off x="3386037" y="1466575"/>
            <a:ext cx="5419619" cy="3326551"/>
          </a:xfrm>
          <a:prstGeom prst="rect">
            <a:avLst/>
          </a:prstGeom>
        </p:spPr>
      </p:pic>
      <p:sp>
        <p:nvSpPr>
          <p:cNvPr id="6" name="Rounded Rectangle 5"/>
          <p:cNvSpPr/>
          <p:nvPr/>
        </p:nvSpPr>
        <p:spPr>
          <a:xfrm>
            <a:off x="457200" y="4829703"/>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선택된 5개 이벤트 전부가 다른 이벤트와 겹칩니다</a:t>
            </a:r>
          </a:p>
          <a:p>
            <a:pPr algn="l">
              <a:lnSpc>
                <a:spcPct val="130000"/>
              </a:lnSpc>
            </a:pPr>
            <a:r>
              <a:rPr sz="1050" b="0">
                <a:solidFill>
                  <a:srgbClr val="002632"/>
                </a:solidFill>
                <a:latin typeface="맑은 고딕"/>
              </a:rPr>
              <a:t>김용진 님 EDA 제안 문서(eda_filelist.md)의 관점을 반영했습니다. event_summary의 overlapping_events(사건 앞뒤 ±4분기 안에 겹치는 다른 사건이 있는지 표시한 값)를 확인한 결과, 이번에 고른 5개 이벤트 전부가 다른 이벤트와 겹쳐서, 5개 중 어느 것도 개별 효과로 분리 해석할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가격이 비슷하게 오르내리는 동끼리 묶이는 그룹이 있는지 확인</a:t>
            </a:r>
          </a:p>
        </p:txBody>
      </p:sp>
      <p:pic>
        <p:nvPicPr>
          <p:cNvPr id="5" name="Picture 4" descr="09_cluster_size_imbalance.png"/>
          <p:cNvPicPr>
            <a:picLocks noChangeAspect="1"/>
          </p:cNvPicPr>
          <p:nvPr/>
        </p:nvPicPr>
        <p:blipFill>
          <a:blip r:embed="rId2"/>
          <a:stretch>
            <a:fillRect/>
          </a:stretch>
        </p:blipFill>
        <p:spPr>
          <a:xfrm>
            <a:off x="3752816" y="1466575"/>
            <a:ext cx="4686061" cy="3326551"/>
          </a:xfrm>
          <a:prstGeom prst="rect">
            <a:avLst/>
          </a:prstGeom>
        </p:spPr>
      </p:pic>
      <p:sp>
        <p:nvSpPr>
          <p:cNvPr id="6" name="Rounded Rectangle 5"/>
          <p:cNvSpPr/>
          <p:nvPr/>
        </p:nvSpPr>
        <p:spPr>
          <a:xfrm>
            <a:off x="457200" y="4829703"/>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한계 — 해석 가능한 결과를 얻지 못했습니다</a:t>
            </a:r>
          </a:p>
          <a:p>
            <a:pPr algn="l">
              <a:lnSpc>
                <a:spcPct val="130000"/>
              </a:lnSpc>
            </a:pPr>
            <a:r>
              <a:rPr sz="1050" b="0">
                <a:solidFill>
                  <a:srgbClr val="002632"/>
                </a:solidFill>
                <a:latin typeface="맑은 고딕"/>
              </a:rPr>
              <a:t>결측 분기(표본 부족으로 제외된 동)가 있는 분기를 통째로 제외하는 방식이라 41개 분기 중 24개만 남고 시계열이 끊겼습니다. 그 결과 195개 동 중 167개가 한 클러스터에 몰려 그룹 간 차이를 해석할 수 없었습니다. 결측 보간이나 임계값 조정 후 재시도가 필요합니다.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무엇을 보려는 건가</a:t>
            </a:r>
          </a:p>
          <a:p>
            <a:pPr algn="l" marL="109728">
              <a:lnSpc>
                <a:spcPct val="125000"/>
              </a:lnSpc>
              <a:spcAft>
                <a:spcPts val="400"/>
              </a:spcAft>
            </a:pPr>
            <a:r>
              <a:rPr sz="1050" b="1">
                <a:solidFill>
                  <a:srgbClr val="002632"/>
                </a:solidFill>
                <a:latin typeface="맑은 고딕"/>
              </a:rPr>
              <a:t>· 질문  </a:t>
            </a:r>
            <a:r>
              <a:rPr sz="1050" b="0">
                <a:solidFill>
                  <a:srgbClr val="5B6B70"/>
                </a:solidFill>
                <a:latin typeface="맑은 고딕"/>
              </a:rPr>
              <a:t>2번 축에서 강남구 평균은 오르는데 역삼·대치·압구정동은 내려간 이유가 인구 변화 때문일까?</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50976"/>
            <a:ext cx="11277295" cy="279527"/>
          </a:xfrm>
          <a:prstGeom prst="rect">
            <a:avLst/>
          </a:prstGeom>
          <a:noFill/>
        </p:spPr>
        <p:txBody>
          <a:bodyPr wrap="none">
            <a:spAutoFit/>
          </a:bodyPr>
          <a:lstStyle/>
          <a:p>
            <a:pPr algn="l"/>
            <a:r>
              <a:rPr sz="1300" b="1">
                <a:solidFill>
                  <a:srgbClr val="002632"/>
                </a:solidFill>
                <a:latin typeface="맑은 고딕"/>
              </a:rPr>
              <a:t>무엇을 보려는 그래프인가: 인구가 줄어든 동네와 가격이 오른 동네가 실제로 겹치는지 확인</a:t>
            </a:r>
          </a:p>
        </p:txBody>
      </p:sp>
      <p:pic>
        <p:nvPicPr>
          <p:cNvPr id="5" name="Picture 4" descr="10_population_vs_price.png"/>
          <p:cNvPicPr>
            <a:picLocks noChangeAspect="1"/>
          </p:cNvPicPr>
          <p:nvPr/>
        </p:nvPicPr>
        <p:blipFill>
          <a:blip r:embed="rId2"/>
          <a:stretch>
            <a:fillRect/>
          </a:stretch>
        </p:blipFill>
        <p:spPr>
          <a:xfrm>
            <a:off x="3839125" y="1466575"/>
            <a:ext cx="4513444" cy="3326551"/>
          </a:xfrm>
          <a:prstGeom prst="rect">
            <a:avLst/>
          </a:prstGeom>
        </p:spPr>
      </p:pic>
      <p:sp>
        <p:nvSpPr>
          <p:cNvPr id="6" name="Rounded Rectangle 5"/>
          <p:cNvSpPr/>
          <p:nvPr/>
        </p:nvSpPr>
        <p:spPr>
          <a:xfrm>
            <a:off x="457200" y="4847991"/>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통계적으로 유의하지 않음</a:t>
            </a:r>
          </a:p>
          <a:p>
            <a:pPr algn="l">
              <a:lnSpc>
                <a:spcPct val="130000"/>
              </a:lnSpc>
            </a:pPr>
            <a:r>
              <a:rPr sz="1050" b="0">
                <a:solidFill>
                  <a:srgbClr val="002632"/>
                </a:solidFill>
                <a:latin typeface="맑은 고딕"/>
              </a:rPr>
              <a:t>전체 231개 동 상관계수는 -0.108(p=0.10, 유의하지 않음)이고, 보광동 하나를 빼면 -0.001(p=0.98)로 사실상 관계가 사라집니다. '인구가 줄면 가격이 오른다'는 일반적 경향이 아니라 보광동이라는 특정 사례 하나가 만든 그림입니다.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TextBox 3"/>
          <p:cNvSpPr txBox="1"/>
          <p:nvPr/>
        </p:nvSpPr>
        <p:spPr>
          <a:xfrm>
            <a:off x="457200" y="969264"/>
            <a:ext cx="11277295" cy="279527"/>
          </a:xfrm>
          <a:prstGeom prst="rect">
            <a:avLst/>
          </a:prstGeom>
          <a:noFill/>
        </p:spPr>
        <p:txBody>
          <a:bodyPr wrap="none">
            <a:spAutoFit/>
          </a:bodyPr>
          <a:lstStyle/>
          <a:p>
            <a:pPr algn="l"/>
            <a:r>
              <a:rPr sz="1300" b="1">
                <a:solidFill>
                  <a:srgbClr val="002632"/>
                </a:solidFill>
                <a:latin typeface="맑은 고딕"/>
              </a:rPr>
              <a:t>무엇을 보려는 표인가: 2번 축에서 짚었던 동 5곳의 인구·가격 변화를 나란히 비교</a:t>
            </a:r>
          </a:p>
        </p:txBody>
      </p:sp>
      <p:graphicFrame>
        <p:nvGraphicFramePr>
          <p:cNvPr id="5" name="Table 4"/>
          <p:cNvGraphicFramePr>
            <a:graphicFrameLocks noGrp="1"/>
          </p:cNvGraphicFramePr>
          <p:nvPr/>
        </p:nvGraphicFramePr>
        <p:xfrm>
          <a:off x="457200" y="1340231"/>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239135"/>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3568319"/>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결론</a:t>
            </a:r>
          </a:p>
          <a:p>
            <a:pPr algn="l">
              <a:lnSpc>
                <a:spcPct val="130000"/>
              </a:lnSpc>
            </a:pPr>
            <a:r>
              <a:rPr sz="1050" b="0">
                <a:solidFill>
                  <a:srgbClr val="002632"/>
                </a:solidFill>
                <a:latin typeface="맑은 고딕"/>
              </a:rPr>
              <a:t>① '인구가 줄면 가격이 오른다'는 231개 동 전체의 일반적 관계는 통계적으로 근거가 없다(보광동 제외 시 r=-0.001). ② 다만 보광동 개별 사례(인구 -26.5%, 가격 +46.3%)는 정비사업 이주로 추정해볼 만한 값이라 눈여겨볼 필요는 있다(원인은 별도 확인 필요). ③ 강남구 내부 편차(역삼·대치·압구정 하락)는 인구로 설명되지 않는다 — 인구 변화가 다들 -1% 안팎으로 비슷했다.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유의한 관계 못 찾음  </a:t>
            </a:r>
            <a:r>
              <a:rPr sz="1050" b="0">
                <a:solidFill>
                  <a:srgbClr val="5B6B70"/>
                </a:solidFill>
                <a:latin typeface="맑은 고딕"/>
              </a:rPr>
              <a:t>정상 범위 동만 보면 r=0.009, p=0.889로 선형관계 근거 없음</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9번 축(클러스터링)은 방법론 재설계가 필요함. 6번 축(전세가율)은 여러 해·여러 동을 한꺼번에 묶어 계산한 상관이라, 그 시기 시장 전체가 오르내리는 공통 흐름과 진짜 선행성을 완전히 구분하지 못함.</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회귀분석으로 재설계  </a:t>
            </a:r>
            <a:r>
              <a:rPr sz="1050" b="0">
                <a:solidFill>
                  <a:srgbClr val="5B6B70"/>
                </a:solidFill>
                <a:latin typeface="맑은 고딕"/>
              </a:rPr>
              <a:t>3~5번 축을 여러 요인(면적·연식·구·분기 등)을 한 번에 통제하는 회귀분석으로 다시 보기</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