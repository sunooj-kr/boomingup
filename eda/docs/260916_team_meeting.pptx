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이 분석은 '동 하나 + 분기 하나'의 조합을 관찰 단위 하나로 씁니다. 예를 들면 '역삼동의 2020년 1분기', '대치동의 2019년 3분기'처럼요. 이런 조합이 서울 전체에 걸쳐 수백~수천 개 있는데, 그 하나하나를 '기점'(비교의 출발점)이라고 부릅니다. '역삼동 2020년 1분기'가 기점이면, 그 시점의 역삼동 전세가율을 구하고, 거기서부터 1년 뒤(2021년 1분기)까지 역삼동 가격이 몇 % 올랐는지를 구해서 한 쌍으로 기록합니다. 이 작업을 가능한 모든 (동, 분기) 조합에 반복한 뒤, 그 수많은 기점들을 '그 시점의 전세가율'이 낮은 순서대로 5등분한 그룹(Q1~Q5)이 가로축이고, 세로축은 각 그룹에 속한 기점들이 1년 뒤 평균 몇 % 올랐는지 입니다. 표본이 너무 적은 동·분기는 지수 자체의 신뢰도가 낮아서, 그 기점 기준 직전 4분기 매매 거래가 20건 이상인 경우만 포함했습니다.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앞 슬라이드에서 설명한 '동+분기' 기점들을, 이번엔 5등분하지 않고 기점이 속한 연도별로 모았습니다. 가로축은 그 연도, 세로축은 '그 연도에 시작한 기점들만' 따로 모아 계산한 전세가율-미래상승률 상관계수입니다(즉 2024년 막대는 2024년에 시작한 기점들만으로 구한 상관계수).</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2900437" y="1911461"/>
            <a:ext cx="6390820" cy="3163092"/>
          </a:xfrm>
          <a:prstGeom prst="rect">
            <a:avLst/>
          </a:prstGeom>
        </p:spPr>
      </p:pic>
      <p:sp>
        <p:nvSpPr>
          <p:cNvPr id="6" name="TextBox 5"/>
          <p:cNvSpPr txBox="1"/>
          <p:nvPr/>
        </p:nvSpPr>
        <p:spPr>
          <a:xfrm>
            <a:off x="883767" y="5147706"/>
            <a:ext cx="1042416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2940936" y="1909632"/>
            <a:ext cx="6309821" cy="3121030"/>
          </a:xfrm>
          <a:prstGeom prst="rect">
            <a:avLst/>
          </a:prstGeom>
        </p:spPr>
      </p:pic>
      <p:sp>
        <p:nvSpPr>
          <p:cNvPr id="6" name="TextBox 5"/>
          <p:cNvSpPr txBox="1"/>
          <p:nvPr/>
        </p:nvSpPr>
        <p:spPr>
          <a:xfrm>
            <a:off x="883767" y="5103815"/>
            <a:ext cx="104241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715181" y="1909632"/>
            <a:ext cx="2761333" cy="3121030"/>
          </a:xfrm>
          <a:prstGeom prst="rect">
            <a:avLst/>
          </a:prstGeom>
        </p:spPr>
      </p:pic>
      <p:sp>
        <p:nvSpPr>
          <p:cNvPr id="6" name="TextBox 5"/>
          <p:cNvSpPr txBox="1"/>
          <p:nvPr/>
        </p:nvSpPr>
        <p:spPr>
          <a:xfrm>
            <a:off x="1432407" y="5103815"/>
            <a:ext cx="93268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066937" y="1911461"/>
            <a:ext cx="4057820"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516738" y="1909632"/>
            <a:ext cx="5158218"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522249" y="1909632"/>
            <a:ext cx="7147196" cy="3121030"/>
          </a:xfrm>
          <a:prstGeom prst="rect">
            <a:avLst/>
          </a:prstGeom>
        </p:spPr>
      </p:pic>
      <p:sp>
        <p:nvSpPr>
          <p:cNvPr id="6" name="TextBox 5"/>
          <p:cNvSpPr txBox="1"/>
          <p:nvPr/>
        </p:nvSpPr>
        <p:spPr>
          <a:xfrm>
            <a:off x="700887" y="5103815"/>
            <a:ext cx="1078992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217918" y="1911461"/>
            <a:ext cx="5755857"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3783088" y="1911461"/>
            <a:ext cx="4625518" cy="3163092"/>
          </a:xfrm>
          <a:prstGeom prst="rect">
            <a:avLst/>
          </a:prstGeom>
        </p:spPr>
      </p:pic>
      <p:sp>
        <p:nvSpPr>
          <p:cNvPr id="6" name="TextBox 5"/>
          <p:cNvSpPr txBox="1"/>
          <p:nvPr/>
        </p:nvSpPr>
        <p:spPr>
          <a:xfrm>
            <a:off x="1523847" y="5147706"/>
            <a:ext cx="914400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483177" y="1911461"/>
            <a:ext cx="5225340"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047194" y="1909632"/>
            <a:ext cx="4097305"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553455" y="1909632"/>
            <a:ext cx="5084783" cy="3121030"/>
          </a:xfrm>
          <a:prstGeom prst="rect">
            <a:avLst/>
          </a:prstGeom>
        </p:spPr>
      </p:pic>
      <p:sp>
        <p:nvSpPr>
          <p:cNvPr id="6" name="TextBox 5"/>
          <p:cNvSpPr txBox="1"/>
          <p:nvPr/>
        </p:nvSpPr>
        <p:spPr>
          <a:xfrm>
            <a:off x="1158087" y="5103815"/>
            <a:ext cx="98755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249137" y="1909632"/>
            <a:ext cx="7693420" cy="3121030"/>
          </a:xfrm>
          <a:prstGeom prst="rect">
            <a:avLst/>
          </a:prstGeom>
        </p:spPr>
      </p:pic>
      <p:sp>
        <p:nvSpPr>
          <p:cNvPr id="6" name="TextBox 5"/>
          <p:cNvSpPr txBox="1"/>
          <p:nvPr/>
        </p:nvSpPr>
        <p:spPr>
          <a:xfrm>
            <a:off x="792327" y="5103815"/>
            <a:ext cx="1060704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535070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535070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동네이고 최근 얼마나 올랐는가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5726221" y="4346204"/>
            <a:ext cx="739252" cy="566908"/>
          </a:xfrm>
          <a:prstGeom prst="rect">
            <a:avLst/>
          </a:prstGeom>
        </p:spPr>
      </p:pic>
      <p:sp>
        <p:nvSpPr>
          <p:cNvPr id="8" name="TextBox 7"/>
          <p:cNvSpPr txBox="1"/>
          <p:nvPr/>
        </p:nvSpPr>
        <p:spPr>
          <a:xfrm>
            <a:off x="3078327" y="4986263"/>
            <a:ext cx="6035040" cy="201168"/>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5205719"/>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5205719"/>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3978550" y="1909632"/>
            <a:ext cx="4234594"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찾음(r=0.009, p=0.889)</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