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예쁘게 요약한 결론만 보여드리는 게 아니라, 어떤 데이터로 어떻게 계산했는지 하나하나 같이 짚으면서 가겠습니다.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데이터로 확인한 그림 한두 장과 핵심 메시지를 같이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Railway Postgres에 올려둔 정제 테이블이고, read-only 계정으로만 접속했기 때문에 이 작업으로 팀 데이터에 영향을 준 건 전혀 없습니다. 매매·전월세 원장이 각각 140만 건, 300만 건 정도고, 여기에 단지 정보·법정동 가격지수·정책 이벤트를 붙여서 분석했습니다. 마지막 한 줄만 예외인데, 10번 축(인구·세대수)은 DB에 없는 정보라 행정안전부 공공데이터를 저희가 별도로 받아왔습니다 — 이것도 팀 DB와는 무관한 외부 API라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분기(2006Q1부터 2026Q3까지), 세로축은 그 분기의 매매 거래 건수입니다. 빨간 점선은 2017년 8·2 대책 같은 규제 강화 시점, 초록 점선은 2023년 1월 규제지역 해제 시점입니다. 2022년에 거래량이 바닥까지 떨어졌다가 2023년 규제 해제 직후부터 반등하는 게 시점상 겹쳐 보입니다. 다만 이건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그래프는 2006~2008년 3개년 평균을 100으로 놓고 거래량과 단가가 각각 얼마나 커졌는지 지수화한 것입니다. 2006년 한 해만 기준으로 삼으면 왜곡이 있어서(2006년은 거래량이 유난히 많고 가격은 유난히 낮았던 이상치에 가까운 해였습니다) 3개년 평균으로 바꿨습니다. 가로축은 연도, 세로축은 지수값이고, 하늘색이 거래량, 남색이 단가입니다. 두 선이 같이 우상향하지 않고 거래량(하늘색)이 훨씬 크게 출렁이는 걸 보실 수 있습니다. 방금 화면에서 말씀드린 것처럼 2022년에 거래량이 -71%까지 급감했는데 가격은 -3.3%밖에 안 빠졌어요. 거래량이 가격보다 훨씬 크게 변한다는 건 확인된 사실이지만, 왜 그런지(정책·금리 때문인지 다른 이유인지)는 이 그래프만으로는 알 수 없다는 점을 짚고 가겠습니다. 그리고 점선으로 표시한 맨 끝 2026년 구간은 8월까지만 집계된 데이터라 실선과 다르게 그렸습니다 — 이 구간을 '연간 하락'처럼 읽으면 안 됩니다. 같은 개월수(1~8월)로 전년과 비교하면 실제로는 거래량 -7.1%, 단가 -9.0% 정도입니다.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2026년 거래의 ㎡당 단가 중앙값(만원), 세로축은 자치구입니다. 주황색이 강남3구(강남·서초·송파), 하늘색이 나머지 22개 구입니다. 강남구가 3,531만원으로 가장 낮은 도봉구(802만원)의 4.4배입니다. 같은 서울이라도 구 단위로 보면 이 정도 격차가 있다는 걸 먼저 보여드리는 그림입니다.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2025Q2에서 2026Q2까지 1년간 법정동 hedonic 가격지수의 실제 상승률(%)이고, 세로축은 동 이름과 소속 구입니다. 초록이 상승, 빨강이 하락입니다. 이전 버전에서는 이 숫자를 log 지수 차이를 그대로 %로 표기하는 오류가 있어서 다시 계산했습니다(보광동은 +38.0%가 아니라 +46.3%, 순위는 바뀌지 않습니다). 그리고 앞 슬라이드의 '자치구별 단가'는 원시거래 중앙값(2023~2026년)이고 이 슬라이드의 동별 순위는 hedonic 지수(25Q2→26Q2)라서 서로 다른 기준이었습니다 — 그래서 이번엔 같은 hedonic 기준으로 강남구 평균 상승률도 새로 계산했습니다. 강남구 eligible 동 13개 평균은 +6.8%로 실제로도 플러스지만, 그 안에서 역삼동(-7.1%)부터 수서동(+33.3%)까지 동별 편차가 굉장히 큽니다. '구 평균이 오른다고 그 구의 모든 동이 다 오르는 건 아니다'라는 메시지는 같은 기준으로 다시 봐도 여전히 유효합니다. 다만 이 지수는 같은 동 안에서의 시점 간 변화만 비교 가능하다는 점(동 간 수준 비교는 부적절)을 참고로 말씀드립니다.</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준공 후 연차 구간(0~5년부터 40~60년까지), 세로축은 2024~2026년 거래의 ㎡당 단가 중앙값입니다. 신축(0~10년)이 비싸다가 10~40년 구간에서 떨어지고, 40년 이상 노후 단지에서 다시 가장 비싸지는 U자형입니다. 재건축 기대감이 반영됐을 거라는 게 자연스러운 가설이라 다음 슬라이드에서 정비사업 단계별로 직접 확인해보겠습니다 —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정비사업 진행 단계(구역지정부터 건축심의까지), 세로축은 정비사업 대상이 아닌 일반 단지를 0%로 놓았을 때의 단가 프리미엄(%)입니다. 건축심의 단계 단지가 154%로 가장 높고, 관리처분 단계가 오히려 34%로 낮게 나오는데, 이게 왜 그런지(이주로 인한 건물 상태 때문인지 다른 이유인지)는 이 데이터만으로는 확인할 수 없어서 가능한 해석 중 하나로만 말씀드립니다. 그리고 한 가지 중요한 한계가 있는데, 정비사업 단계는 '지금 시점(2026년) 기준'이고 이걸 2024년, 2020년 등 과거 거래에도 그대로 붙여서 비교했습니다 — 그 단지가 그때도 같은 단계였다는 보장이 없는 시점 불일치가 있습니다. 착공 단계는 거래 46건뿐이라 표본도 작습니다.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단지에서 가장 가까운 지하철역까지 거리 구간, 세로축은 ㎡당 단가 중앙값입니다. 300m 이내가 1,466만원인데 2km를 넘어가면 687만원으로 거의 반토막입니다. 거리가 멀어질수록 단가가 계단식으로 낮아지는, 아주 뚜렷한 역세권 프리미엄입니다.</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한강 조망 세대가 있는지 여부(O/X), 세로축은 ㎡당 단가입니다. 한강 조망이 있는 단지가 1,850만원, 없는 단지가 1,194만원으로 약 55% 차이가 납니다. 저희가 확인한 입지 요인 중에서 상관계수가 가장 높게(0.29) 나온 게 이 한강조망이었습니다. 반면 학교까지 거리는 생각보다 영향이 거의 없었는데, 이건 아마 '학군'이라는 게 물리적 거리보다 특정 동 전체의 평판이나 배정 학교 자체로 작동하기 때문일 것 같습니다. 그래프는 따로 안 붙였고 콜아웃으로만 짚었습니다.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층대(지하/1층부터 21층 이상까지), 세로축은 ㎡당 단가 중앙값입니다. 층이 높아질수록 계속 단가가 오르다가 21층 이상 구간에서 922만원으로 크게 뜁니다. 다만 이건 지역·연식·단지를 따로 통제하지 않은 단순 비교라서, 왜 이렇게 나오는지(고층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전용면적 구간, 세로축은 ㎡당 단가 중앙값입니다. 흔히 '국민평형'이라 부르는 60~85㎡ 구간이 오히려 가장 싸고(612만원), 40㎡ 이하 소형(761만원)과 165㎡ 이상 대형(921만원) 양쪽 끝이 더 비싼 U자형입니다.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'기점 분기의 전세가율'을 낮은 순서대로 5등분한 그룹(Q1~Q5), 세로축은 그 기점으로부터 1년 뒤 매매 가격지수가 평균 몇 % 올랐는지입니다. 5개 구간이 순서대로 증가하는 모양 자체는 그대로입니다. 다만 원래 코드에 버그가 있었습니다 — '1년 뒤에도 거래가 충분한 동'만 골라서 비교했는데, 이건 기점 시점엔 알 수 없는 미래 정보로 표본을 고른 셈이라 고쳤습니다. 고친 뒤 상관계수는 0.150로 이전 0.135와 비슷하지만, 이번엔 기점 연도별로 쪼개서 다시 봤더니 해마다 부호가 뒤집혔습니다(다음 슬라이드에서 보여드립니다) — 그래서 '전세가율이 매매가를 선행한다'는 표현은 과한 것 같고, '약하고 불안정한 동반관계' 정도로 정정하겠습니다.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기점 연도, 세로축은 그 연도에 시작한 동x기점 표본만으로 계산한 전세가율-미래상승률 상관계수입니다. 2011·2018·2021·2022년처럼 초록색(양의 상관)인 해도 있지만, 2015~2017년, 2019년, 2023~2025년은 빨간색(음의 상관)이고 특히 2024년은 -0.507로 꽤 강한 음의 상관입니다. 즉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동에서 정비사업이 진행 중인 세대가 전체 재고 세대 대비 차지하는 비중(강도), 세로축은 그 동의 분기별 가격 변화율의 표준편차(변동성)입니다. 하늘색이 강도가 정상 범위(0~1, 즉 0~100%)인 동, 빨간색이 100%를 넘는 이상치 동입니다. 원래 발표에서는 '강도가 유무보다 중요하다'고 말씀드렸는데, 코드를 다시 검토하면서 두 가지 버그를 발견했습니다. 하나는 표본이 부족해 빠진 분기가 있으면 여러 분기 차이를 한 분기 변화로 잘못 계산하던 것이고, 다른 하나는 정비사업 강도 지표 자체가 19개 동에서 100%를 넘는(최댓값 946%, 보광동) 비정상 값이었다는 겁니다. 재고 대비 진행 세대 비중이 100%를 넘는 건 원본 데이터의 두 항목(진행 세대수, 재고 세대수)이 서로 다른 범위나 시점을 집계했을 가능성이 있는데, 저희가 고칠 수 있는 부분이 아니라서 이상치로 분리해서 보고합니다. 이 이상치들을 빼고 정상 범위만 보면 상관계수가 0.009, p값은 0.889로 통계적으로 유의한 관계가 전혀 없습니다. 그래서 '정비사업 강도가 변동성과 관련 있다'는 원래 결론은 철회하고, '이번 데이터로는 유의한 관계를 찾지 못했다'로 정정하겠습니다.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이벤트 4분기 뒤 상승한 동의 비율(%), 세로축은 상승한 동 비율이 50%에 가장 가까운(=반반으로 갈린) 이벤트 5개입니다. 이전 버전은 선택 기준으로 다른 컬럼을 썼는데, 그 컬럼이 평균이 어느 쪽으로 치우쳤는지에 따라 '반반 갈림'과 다른 의미가 될 수 있어서 저희가 화면에 실제로 쓰는 정의(상승한 동 비율 50% 근접)로 다시 골랐습니다 — 같은 5개 이벤트가 나왔지만 순서가 바뀌었습니다. 점선이 50% 기준선이고, 초록은 상승한 동이 더 많았던 이벤트, 빨강은 하락한 동이 더 많았던 이벤트입니다. 그리고 이번에 이벤트 겹침 여부를 5개 전부 대해 다시 확인했더니, 놀랍게도 5개 전부가 ±4분기 안에 다른 이벤트와 겹쳐 있었습니다 (이전엔 2쌍만 언급했었습니다). 그러니까 이 슬라이드는 '동네마다 반응이 갈린다'는 사실은 보여주지만, '어느 이벤트 때문에 갈렸는지'는 이 5개 중 단 하나도 답할 수 없다는 점을 분명히 말씀드립니다.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이것도 김용진 님 제안('함께 움직이는 동 묶음 찾기')을 시도해본 것인데, 솔직히 이번엔 실패에 가깝습니다. 가로축은 클러스터 번호, 세로축은 그 클러스터에 속한 동 개수입니다. 6개로 나눴는데 195개 동 중 167개(85%)가 5번 클러스터 하나에 몰렸습니다. 원인은 상관계수를 계산할 때 표본이 부족해서 제외된 동이 하나라도 있는 분기를 통째로 버렸기 때문에, 41개 분기 중 24개만 남고 그마저 중간에 뻥 뚫려서(2021Q3 다음이 바로 2025Q1) 신호가 제대로 안 잡힌 것 같습니다. 결측을 버리지 않고 보간하거나 임계값을 조정하면 나아질 수 있어서, 이건 다음 단계 과제로 남겨두겠습니다.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축은 사전에 계획했던 게 아니라, 2번 축을 보다가 '강남구 평균은 오르는데 왜 역삼·대치동은 내려갔을까, 혹시 그 동네 인구가 줄어드는 중 아닐까' 하는 의문에서 새로 추가한 겁니다. DB에는 인구 데이터가 없어서, 행정안전부가 공공데이터포털에 무료로 공개한 법정동별 주민등록 인구·세대현황 API를 새로 받아왔습니다. 동 이름을 법정동코드로 바꾸는 과정(Kakao 주소검색 API)까지 거쳐서 340개 동의 2025Q2·2026Q2 인구·세대수를 확보했고, 이걸 2번 축에서 이미 계산해둔 동별 가격 변화율과 합쳤습니다. 참고로 이 인구 통계는 2022년 10월부터만 공식 집계되고, 한 번에 3개월까지만 조회할 수 있어서 이번엔 비교가 가능한 딱 두 분기(2025Q2, 2026Q2)만 받았습니다.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가로축은 그 동의 1년간 인구 변화율(%), 세로축은 같은 기간 hedonic 가격지수 변화율(%)입니다. 점 하나가 법정동 하나(231개)이고, 빨간 점 하나가 용산구 보광동입니다. 처음엔 전체 상관계수가 약 -0.11이라서 '인구가 줄어든 동이 오히려 더 오른다'는 경향처럼 보였는데, 유의성 검정을 해보니 p값이 0.10로 통계적으로 유의하지 않았습니다. 그리고 결정적으로, 보광동 하나를 빼고 나머지 230개 동만 다시 계산하면 상관계수가 거의 0으로 사라집니다. 즉 저희가 봤던 '패턴'은 사실 전체 동네의 일반적인 경향이 아니라, 보광동이라는 특정 사례 하나가 만든 그림이었다는 뜻입니다. 이건 7번 축(정비사업 강도)에서 봤던 것과 똑같은 패턴이에요 — 이상치 하나가 전체 상관을 만드는 경우요.</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 표는 2번 축에서 이름이 나왔던 동 5개만 따로 뽑은 겁니다.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 앞 슬라이드에서 말씀드린 것처럼 이걸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추측이라는 걸 다시 한번 말씀드립니다.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codex로 두 차례 독립 검증을 거치면서 정비사업 강도 결론은 철회했고, 전세가율·구-동 비교·거래량-정책 관계는 표현을 더 신중하게 고쳤습니다. 가장 확실하게 남는 건 두 가지입니다 — 거래량이 가격보다 훨씬 크게 흔들린다는 것과, 구 단위 평균만 보면 안 되고 동 단위 편차를 봐야 한다는 것입니다.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오늘 자료가 어떻게 검증됐는지부터 말씀드리겠습니다. 발표 준비를 마친 뒤 codex 세션 두 개를 독립적으로 띄워서 전체 분석 과정을 재검토받았습니다. 두 세션이 공통으로 지적한 문제들은 전부 코드를 고치고 숫자를 다시 계산했습니다 — 그중 정비사업 강도 결론은 버그를 고치고 나니 통계적으로 유의하지 않아서 완전히 철회했습니다. 나머지도 상당수는 상관관계지 인과관계가 아니라는 점을 다시 한번 강조드리고 싶습니다. 다음 단계로는 클러스터링을 다시 시도하고, 3~5번 축처럼 여러 요인이 뒤섞인 분석은 제대로 된 회귀분석으로 재설계하고, 오늘 그나마 신뢰도 있게 남은 요인들을 모델 담당자와 같이 확인해보면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시도,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628900"/>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689604"/>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1a_quarterly_volume_events.png"/>
          <p:cNvPicPr>
            <a:picLocks noChangeAspect="1"/>
          </p:cNvPicPr>
          <p:nvPr/>
        </p:nvPicPr>
        <p:blipFill>
          <a:blip r:embed="rId2"/>
          <a:stretch>
            <a:fillRect/>
          </a:stretch>
        </p:blipFill>
        <p:spPr>
          <a:xfrm>
            <a:off x="2226106" y="1756014"/>
            <a:ext cx="7739481" cy="383060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1b_volume_vs_price_index.png"/>
          <p:cNvPicPr>
            <a:picLocks noChangeAspect="1"/>
          </p:cNvPicPr>
          <p:nvPr/>
        </p:nvPicPr>
        <p:blipFill>
          <a:blip r:embed="rId2"/>
          <a:stretch>
            <a:fillRect/>
          </a:stretch>
        </p:blipFill>
        <p:spPr>
          <a:xfrm>
            <a:off x="2226106" y="1757224"/>
            <a:ext cx="7739481" cy="3828183"/>
          </a:xfrm>
          <a:prstGeom prst="rect">
            <a:avLst/>
          </a:prstGeom>
        </p:spPr>
      </p:pic>
      <p:sp>
        <p:nvSpPr>
          <p:cNvPr id="5" name="Rounded Rectangle 4"/>
          <p:cNvSpPr/>
          <p:nvPr/>
        </p:nvSpPr>
        <p:spPr>
          <a:xfrm>
            <a:off x="457200" y="5640271"/>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2022년 거래량 -71.3% (전년 대비), 2023년 182.5%. 같은 기간 가격 변화는 -3.3% → 4.3%로 훨씬 완만함.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2a_gu_price_2026.png"/>
          <p:cNvPicPr>
            <a:picLocks noChangeAspect="1"/>
          </p:cNvPicPr>
          <p:nvPr/>
        </p:nvPicPr>
        <p:blipFill>
          <a:blip r:embed="rId2"/>
          <a:stretch>
            <a:fillRect/>
          </a:stretch>
        </p:blipFill>
        <p:spPr>
          <a:xfrm>
            <a:off x="3836913" y="1118128"/>
            <a:ext cx="4517868" cy="5106375"/>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2b_dong_yoy_top_bottom.png"/>
          <p:cNvPicPr>
            <a:picLocks noChangeAspect="1"/>
          </p:cNvPicPr>
          <p:nvPr/>
        </p:nvPicPr>
        <p:blipFill>
          <a:blip r:embed="rId2"/>
          <a:stretch>
            <a:fillRect/>
          </a:stretch>
        </p:blipFill>
        <p:spPr>
          <a:xfrm>
            <a:off x="3656838" y="1061435"/>
            <a:ext cx="4878018" cy="3802441"/>
          </a:xfrm>
          <a:prstGeom prst="rect">
            <a:avLst/>
          </a:prstGeom>
        </p:spPr>
      </p:pic>
      <p:sp>
        <p:nvSpPr>
          <p:cNvPr id="5" name="Rounded Rectangle 4"/>
          <p:cNvSpPr/>
          <p:nvPr/>
        </p:nvSpPr>
        <p:spPr>
          <a:xfrm>
            <a:off x="457200" y="491874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같은 기준(hedonic, 25Q2→26Q2)으로 본 강남구</a:t>
            </a:r>
          </a:p>
          <a:p>
            <a:pPr algn="l">
              <a:lnSpc>
                <a:spcPct val="130000"/>
              </a:lnSpc>
            </a:pPr>
            <a:r>
              <a:rPr sz="1050" b="0">
                <a:solidFill>
                  <a:srgbClr val="002632"/>
                </a:solidFill>
                <a:latin typeface="맑은 고딕"/>
              </a:rPr>
              <a:t>강남구 소속 eligible 동 13개의 평균 상승률은 +6.8%인데, 그 안에서 역삼동 -7.1%부터 수서동 +33.3%까지 동별로 크게 갈립니다. 용산구 보광동은 +46.3%로 조사 대상 중 가장 많이 올랐습니다.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3a_age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3b_redevelop_premium.png"/>
          <p:cNvPicPr>
            <a:picLocks noChangeAspect="1"/>
          </p:cNvPicPr>
          <p:nvPr/>
        </p:nvPicPr>
        <p:blipFill>
          <a:blip r:embed="rId2"/>
          <a:stretch>
            <a:fillRect/>
          </a:stretch>
        </p:blipFill>
        <p:spPr>
          <a:xfrm>
            <a:off x="3023162" y="1057777"/>
            <a:ext cx="6145370" cy="3718316"/>
          </a:xfrm>
          <a:prstGeom prst="rect">
            <a:avLst/>
          </a:prstGeom>
        </p:spPr>
      </p:pic>
      <p:sp>
        <p:nvSpPr>
          <p:cNvPr id="5" name="Rounded Rectangle 4"/>
          <p:cNvSpPr/>
          <p:nvPr/>
        </p:nvSpPr>
        <p:spPr>
          <a:xfrm>
            <a:off x="457200" y="4830958"/>
            <a:ext cx="11277295" cy="777240"/>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수치</a:t>
            </a:r>
          </a:p>
          <a:p>
            <a:pPr algn="l">
              <a:lnSpc>
                <a:spcPct val="130000"/>
              </a:lnSpc>
            </a:pPr>
            <a:r>
              <a:rPr sz="1050" b="0">
                <a:solidFill>
                  <a:srgbClr val="002632"/>
                </a:solidFill>
                <a:latin typeface="맑은 고딕"/>
              </a:rPr>
              <a:t>'건축심의' 단계 단지는 정비사업 대상이 아닌 일반 단지보다 ㎡당 단가가 154% 더 높음.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4a_station_distance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4b_river_view_price.png"/>
          <p:cNvPicPr>
            <a:picLocks noChangeAspect="1"/>
          </p:cNvPicPr>
          <p:nvPr/>
        </p:nvPicPr>
        <p:blipFill>
          <a:blip r:embed="rId2"/>
          <a:stretch>
            <a:fillRect/>
          </a:stretch>
        </p:blipFill>
        <p:spPr>
          <a:xfrm>
            <a:off x="4064345" y="1057777"/>
            <a:ext cx="4063003"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5B6B7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5B6B70"/>
                </a:solidFill>
                <a:latin typeface="맑은 고딕"/>
              </a:rPr>
              <a:t>참고: 학군 거리는 영향이 약함</a:t>
            </a:r>
          </a:p>
          <a:p>
            <a:pPr algn="l">
              <a:lnSpc>
                <a:spcPct val="130000"/>
              </a:lnSpc>
            </a:pPr>
            <a:r>
              <a:rPr sz="1050" b="0">
                <a:solidFill>
                  <a:srgbClr val="002632"/>
                </a:solidFill>
                <a:latin typeface="맑은 고딕"/>
              </a:rPr>
              <a:t>초등학교(-0.007)·중학교(-0.067)·고등학교(-0.039)까지 거리는 단가와의 상관계수가 -0.07~-0.01 수준으로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5a_floor_price.png"/>
          <p:cNvPicPr>
            <a:picLocks noChangeAspect="1"/>
          </p:cNvPicPr>
          <p:nvPr/>
        </p:nvPicPr>
        <p:blipFill>
          <a:blip r:embed="rId2"/>
          <a:stretch>
            <a:fillRect/>
          </a:stretch>
        </p:blipFill>
        <p:spPr>
          <a:xfrm>
            <a:off x="2562606" y="1727164"/>
            <a:ext cx="7066483" cy="388830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5b_area_price.png"/>
          <p:cNvPicPr>
            <a:picLocks noChangeAspect="1"/>
          </p:cNvPicPr>
          <p:nvPr/>
        </p:nvPicPr>
        <p:blipFill>
          <a:blip r:embed="rId2"/>
          <a:stretch>
            <a:fillRect/>
          </a:stretch>
        </p:blipFill>
        <p:spPr>
          <a:xfrm>
            <a:off x="2478481" y="1683416"/>
            <a:ext cx="7234732" cy="3975798"/>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6_jeonse_ratio_future_change.png"/>
          <p:cNvPicPr>
            <a:picLocks noChangeAspect="1"/>
          </p:cNvPicPr>
          <p:nvPr/>
        </p:nvPicPr>
        <p:blipFill>
          <a:blip r:embed="rId2"/>
          <a:stretch>
            <a:fillRect/>
          </a:stretch>
        </p:blipFill>
        <p:spPr>
          <a:xfrm>
            <a:off x="3377125" y="1057777"/>
            <a:ext cx="5437444"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수정 — 방법론 버그를 고친 뒤의 수치와 한계</a:t>
            </a:r>
          </a:p>
          <a:p>
            <a:pPr algn="l">
              <a:lnSpc>
                <a:spcPct val="130000"/>
              </a:lnSpc>
            </a:pPr>
            <a:r>
              <a:rPr sz="1050" b="0">
                <a:solidFill>
                  <a:srgbClr val="002632"/>
                </a:solidFill>
                <a:latin typeface="맑은 고딕"/>
              </a:rPr>
              <a:t>전세가율 하위 20% 동은 1년 뒤 평균 5.5%, 상위 20%는 10.2% 올라 방향은 그대로지만, 전체 상관계수는 0.150(n=12,440, 미래시점 표본선택 편향을 고친 값)입니다. 연도별로 쪼개면 +0.27~-0.51로 부호가 뒤집혀 (다음 슬라이드), '선행지표'보다는 '약하고 불안정한 동반관계'가 정확한 표현입니다.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6b_jeonse_corr_by_year.png"/>
          <p:cNvPicPr>
            <a:picLocks noChangeAspect="1"/>
          </p:cNvPicPr>
          <p:nvPr/>
        </p:nvPicPr>
        <p:blipFill>
          <a:blip r:embed="rId2"/>
          <a:stretch>
            <a:fillRect/>
          </a:stretch>
        </p:blipFill>
        <p:spPr>
          <a:xfrm>
            <a:off x="2730855" y="1634361"/>
            <a:ext cx="6729984" cy="407390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관계 없음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7_redevelop_intensity_volatility.png"/>
          <p:cNvPicPr>
            <a:picLocks noChangeAspect="1"/>
          </p:cNvPicPr>
          <p:nvPr/>
        </p:nvPicPr>
        <p:blipFill>
          <a:blip r:embed="rId2"/>
          <a:stretch>
            <a:fillRect/>
          </a:stretch>
        </p:blipFill>
        <p:spPr>
          <a:xfrm>
            <a:off x="3655134" y="1057777"/>
            <a:ext cx="4881425"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정정 — 원래 결론(강도가 유무보다 중요하다)을 철회합니다</a:t>
            </a:r>
          </a:p>
          <a:p>
            <a:pPr algn="l">
              <a:lnSpc>
                <a:spcPct val="130000"/>
              </a:lnSpc>
            </a:pPr>
            <a:r>
              <a:rPr sz="1050" b="0">
                <a:solidFill>
                  <a:srgbClr val="002632"/>
                </a:solidFill>
                <a:latin typeface="맑은 고딕"/>
              </a:rPr>
              <a:t>코드 버그 두 개를 고친 뒤 다시 계산했습니다. 정비사업 강도(재고 대비 진행 세대 비중)가 19개 동에서 100%를 넘었고(최댓값 946%, 보광동 — 분모 데이터 자체의 문제로 보임) 이 이상치들이 상관계수 0.21을 만들었습니다. 정상 범위(강도≤1)만 남기면 r=0.009(p=0.889)로 통계적으로 아무 관계가 없습니다.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8_low_consensus_events.png"/>
          <p:cNvPicPr>
            <a:picLocks noChangeAspect="1"/>
          </p:cNvPicPr>
          <p:nvPr/>
        </p:nvPicPr>
        <p:blipFill>
          <a:blip r:embed="rId2"/>
          <a:stretch>
            <a:fillRect/>
          </a:stretch>
        </p:blipFill>
        <p:spPr>
          <a:xfrm>
            <a:off x="3066906" y="1057777"/>
            <a:ext cx="6057882" cy="3718316"/>
          </a:xfrm>
          <a:prstGeom prst="rect">
            <a:avLst/>
          </a:prstGeom>
        </p:spPr>
      </p:pic>
      <p:sp>
        <p:nvSpPr>
          <p:cNvPr id="5" name="Rounded Rectangle 4"/>
          <p:cNvSpPr/>
          <p:nvPr/>
        </p:nvSpPr>
        <p:spPr>
          <a:xfrm>
            <a:off x="457200" y="481267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주의 — 선택된 5개 전부가 다른 이벤트와 겹칩니다</a:t>
            </a:r>
          </a:p>
          <a:p>
            <a:pPr algn="l">
              <a:lnSpc>
                <a:spcPct val="130000"/>
              </a:lnSpc>
            </a:pPr>
            <a:r>
              <a:rPr sz="1050" b="0">
                <a:solidFill>
                  <a:srgbClr val="002632"/>
                </a:solidFill>
                <a:latin typeface="맑은 고딕"/>
              </a:rPr>
              <a:t>김용진 님 EDA 제안 문서(eda_filelist.md)의 관점을 반영했습니다. event_summary의 overlapping_events를 전수 확인한 결과, 이번에 고른 5개 이벤트 전부가 ±4분기 내에 다른 이벤트와 겹쳐서, 5개 중 어느 것도 개별 효과로 분리 해석할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시도)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09_cluster_size_imbalance.png"/>
          <p:cNvPicPr>
            <a:picLocks noChangeAspect="1"/>
          </p:cNvPicPr>
          <p:nvPr/>
        </p:nvPicPr>
        <p:blipFill>
          <a:blip r:embed="rId2"/>
          <a:stretch>
            <a:fillRect/>
          </a:stretch>
        </p:blipFill>
        <p:spPr>
          <a:xfrm>
            <a:off x="3476880" y="1057777"/>
            <a:ext cx="5237934" cy="3718316"/>
          </a:xfrm>
          <a:prstGeom prst="rect">
            <a:avLst/>
          </a:prstGeom>
        </p:spPr>
      </p:pic>
      <p:sp>
        <p:nvSpPr>
          <p:cNvPr id="5" name="Rounded Rectangle 4"/>
          <p:cNvSpPr/>
          <p:nvPr/>
        </p:nvSpPr>
        <p:spPr>
          <a:xfrm>
            <a:off x="457200" y="4812670"/>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한계 — 이번엔 해석 가능한 결과를 못 얻었습니다</a:t>
            </a:r>
          </a:p>
          <a:p>
            <a:pPr algn="l">
              <a:lnSpc>
                <a:spcPct val="130000"/>
              </a:lnSpc>
            </a:pPr>
            <a:r>
              <a:rPr sz="1050" b="0">
                <a:solidFill>
                  <a:srgbClr val="002632"/>
                </a:solidFill>
                <a:latin typeface="맑은 고딕"/>
              </a:rPr>
              <a:t>결측 분기(표본 부족으로 제외된 동)가 있는 분기를 통째로 제외하는 방식이라 41개 분기 중 24개만 남고 시계열이 끊겼습니다. 그 결과 195개 동 중 167개가 한 클러스터에 몰려 그룹 간 차이를 해석할 수 없었습니다. 결측 보간이나 임계값 조정 후 재시도가 필요합니다.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무엇을 봤나</a:t>
            </a:r>
          </a:p>
          <a:p>
            <a:pPr algn="l" marL="109728">
              <a:lnSpc>
                <a:spcPct val="125000"/>
              </a:lnSpc>
              <a:spcAft>
                <a:spcPts val="400"/>
              </a:spcAft>
            </a:pPr>
            <a:r>
              <a:rPr sz="1050" b="1">
                <a:solidFill>
                  <a:srgbClr val="002632"/>
                </a:solidFill>
                <a:latin typeface="맑은 고딕"/>
              </a:rPr>
              <a:t>· 질문  </a:t>
            </a:r>
            <a:r>
              <a:rPr sz="1050" b="0">
                <a:solidFill>
                  <a:srgbClr val="5B6B70"/>
                </a:solidFill>
                <a:latin typeface="맑은 고딕"/>
              </a:rPr>
              <a:t>2번 축에서 강남구 평균은 오르는데 역삼·대치·압구정동은 내려간 이유가 인구 변화 때문일까?</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pic>
        <p:nvPicPr>
          <p:cNvPr id="4" name="Picture 3" descr="10_population_vs_price.png"/>
          <p:cNvPicPr>
            <a:picLocks noChangeAspect="1"/>
          </p:cNvPicPr>
          <p:nvPr/>
        </p:nvPicPr>
        <p:blipFill>
          <a:blip r:embed="rId2"/>
          <a:stretch>
            <a:fillRect/>
          </a:stretch>
        </p:blipFill>
        <p:spPr>
          <a:xfrm>
            <a:off x="3573353" y="1057777"/>
            <a:ext cx="5044988" cy="3718316"/>
          </a:xfrm>
          <a:prstGeom prst="rect">
            <a:avLst/>
          </a:prstGeom>
        </p:spPr>
      </p:pic>
      <p:sp>
        <p:nvSpPr>
          <p:cNvPr id="5" name="Rounded Rectangle 4"/>
          <p:cNvSpPr/>
          <p:nvPr/>
        </p:nvSpPr>
        <p:spPr>
          <a:xfrm>
            <a:off x="457200" y="4830958"/>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정정 — 최초 재수집(페이지네이션 버그) 때와 결론이 비슷하지만, 이번엔 유의성까지 확인</a:t>
            </a:r>
          </a:p>
          <a:p>
            <a:pPr algn="l">
              <a:lnSpc>
                <a:spcPct val="130000"/>
              </a:lnSpc>
            </a:pPr>
            <a:r>
              <a:rPr sz="1050" b="0">
                <a:solidFill>
                  <a:srgbClr val="002632"/>
                </a:solidFill>
                <a:latin typeface="맑은 고딕"/>
              </a:rPr>
              <a:t>전체 231개 동 상관계수는 -0.108(p=0.10, 유의하지 않음)이고, 보광동 하나를 빼면 -0.001(p=0.98)로 사실상 관계가 사라집니다. '인구가 줄면 가격이 오른다'는 일반적 경향이 아니라 보광동이라는 특정 사례 하나가 만든 그림입니다.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graphicFrame>
        <p:nvGraphicFramePr>
          <p:cNvPr id="4" name="Table 3"/>
          <p:cNvGraphicFramePr>
            <a:graphicFrameLocks noGrp="1"/>
          </p:cNvGraphicFramePr>
          <p:nvPr/>
        </p:nvGraphicFramePr>
        <p:xfrm>
          <a:off x="457200" y="1042416"/>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5" name="TextBox 4"/>
          <p:cNvSpPr txBox="1"/>
          <p:nvPr/>
        </p:nvSpPr>
        <p:spPr>
          <a:xfrm>
            <a:off x="457200" y="2941320"/>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6" name="Rounded Rectangle 5"/>
          <p:cNvSpPr/>
          <p:nvPr/>
        </p:nvSpPr>
        <p:spPr>
          <a:xfrm>
            <a:off x="457200" y="3270504"/>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핵심 결론</a:t>
            </a:r>
          </a:p>
          <a:p>
            <a:pPr algn="l">
              <a:lnSpc>
                <a:spcPct val="130000"/>
              </a:lnSpc>
            </a:pPr>
            <a:r>
              <a:rPr sz="1050" b="0">
                <a:solidFill>
                  <a:srgbClr val="002632"/>
                </a:solidFill>
                <a:latin typeface="맑은 고딕"/>
              </a:rPr>
              <a:t>① '인구가 줄면 가격이 오른다'는 231개 동 전체의 일반적 관계는 통계적으로 근거가 없다(보광동 제외 시 r=-0.001). ② 다만 보광동 개별 사례(인구 -26.5%, 가격 +46.3%)는 정비사업 이주로 추정해볼 만한 값이라 눈여겨볼 필요는 있다(원인은 별도 확인 필요). ③ 강남구 내부 미스터리(역삼·대치·압구정 하락)는 인구로 설명되지 않는다 — 인구 변화가 다들 -1% 안팎으로 비슷했다.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유의하지 않음  </a:t>
            </a:r>
            <a:r>
              <a:rPr sz="1050" b="0">
                <a:solidFill>
                  <a:srgbClr val="5B6B70"/>
                </a:solidFill>
                <a:latin typeface="맑은 고딕"/>
              </a:rPr>
              <a:t>버그 수정 후 r=0.009, p=0.889 — 원래 결론 철회</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검증 과정에서 고친 것들 (2026-09-16, codex 독립 검증 2건)</a:t>
            </a:r>
          </a:p>
          <a:p>
            <a:pPr algn="l">
              <a:lnSpc>
                <a:spcPct val="130000"/>
              </a:lnSpc>
            </a:pPr>
            <a:r>
              <a:rPr sz="1050" b="0">
                <a:solidFill>
                  <a:srgbClr val="002632"/>
                </a:solidFill>
                <a:latin typeface="맑은 고딕"/>
              </a:rPr>
              <a:t>이 발표자료는 codex 세션 두 개로 독립 검증을 받았고, 지적된 문제를 코드까지 고쳤습니다: ① 인구 데이터 페이지네이션 버그로 대치동 등 큰 동이 잘려있던 것 재수집, ② log 지수 차이를 실제 %로 잘못 표기하던 것 수정, ③ 6·7번 축의 표본선택·계산 버그 수정 후 정비사업 강도 결론은 철회, ④ 이벤트 선택 기준·겹침 경고를 실제 정의에 맞게 재정비.</a:t>
            </a:r>
          </a:p>
        </p:txBody>
      </p:sp>
      <p:sp>
        <p:nvSpPr>
          <p:cNvPr id="5" name="Rounded Rectangle 4"/>
          <p:cNvSpPr/>
          <p:nvPr/>
        </p:nvSpPr>
        <p:spPr>
          <a:xfrm>
            <a:off x="457200" y="2153412"/>
            <a:ext cx="11277295" cy="850392"/>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a:t>
            </a:r>
          </a:p>
          <a:p>
            <a:pPr algn="l">
              <a:lnSpc>
                <a:spcPct val="130000"/>
              </a:lnSpc>
            </a:pPr>
            <a:r>
              <a:rPr sz="1050" b="0">
                <a:solidFill>
                  <a:srgbClr val="002632"/>
                </a:solidFill>
                <a:latin typeface="맑은 고딕"/>
              </a:rPr>
              <a:t>이벤트-가격, 정책-거래량 관계는 상관·시점일치일 뿐 인과가 아님. 3·4번 축은 현재 시점 단지 정보를 과거 거래에 소급 적용한 시점 불일치가 있음. 9번 축(클러스터링)은 방법론 재설계가 필요함. 6번 축(전세가율)은 pooled 상관이라 국면 공통효과를 완전히 분리하지 못함.</a:t>
            </a:r>
          </a:p>
        </p:txBody>
      </p:sp>
      <p:sp>
        <p:nvSpPr>
          <p:cNvPr id="6" name="Rounded Rectangle 5"/>
          <p:cNvSpPr/>
          <p:nvPr/>
        </p:nvSpPr>
        <p:spPr>
          <a:xfrm>
            <a:off x="457200" y="313182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동 클러스터링 재시도  </a:t>
            </a:r>
            <a:r>
              <a:rPr sz="1050" b="0">
                <a:solidFill>
                  <a:srgbClr val="5B6B70"/>
                </a:solidFill>
                <a:latin typeface="맑은 고딕"/>
              </a:rPr>
              <a:t>결측 보간 또는 결측 허용 임계값 조정 후 다시 수행</a:t>
            </a:r>
          </a:p>
          <a:p>
            <a:pPr algn="l" marL="109728">
              <a:lnSpc>
                <a:spcPct val="125000"/>
              </a:lnSpc>
              <a:spcAft>
                <a:spcPts val="400"/>
              </a:spcAft>
            </a:pPr>
            <a:r>
              <a:rPr sz="1050" b="1">
                <a:solidFill>
                  <a:srgbClr val="002632"/>
                </a:solidFill>
                <a:latin typeface="맑은 고딕"/>
              </a:rPr>
              <a:t>· hedonic 회귀로 재설계  </a:t>
            </a:r>
            <a:r>
              <a:rPr sz="1050" b="0">
                <a:solidFill>
                  <a:srgbClr val="5B6B70"/>
                </a:solidFill>
                <a:latin typeface="맑은 고딕"/>
              </a:rPr>
              <a:t>3~5번 축을 log(가격/㎡) 회귀 + 구×분기·단지연식 고정효과로 다시 보기</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