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슬라이드마다 '무엇을 보려던 건지 → 뭘로 측정했는지 → 결과가 뭐였는지 → 어떻게 해석하는지' 순서로 말씀드리겠습니다. 목적은 하늘색 박스, 해석 시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2006~2008년 평균을 100으로 놓고 지수화하면 같은 척도에서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가격지수의 실제 상승률(%)이고, 세로축은 동 이름과 소속 구입니다(초록=상승, 빨강=하락). 앞 슬라이드의 '자치구별 단가'는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재건축 기대감이 반영됐을 거라는 게 자연스러운 가설이라 다음 슬라이드에서 정비사업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가로축은 정비사업 진행 단계(구역지정부터 건축심의까지), 세로축은 정비사업 대상이 아닌 일반 단지를 0%로 놓았을 때의 단가 프리미엄(%)입니다.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매매가의 선행 신호인지' 확인하려는 그래프입니다.</a:t>
            </a:r>
          </a:p>
          <a:p/>
          <a:p>
            <a:r>
              <a:t>② 뭘로 측정했나: 가로축은 '기점 분기의 전세가율'을 낮은 순서대로 5등분한 그룹(Q1~Q5), 세로축은 그 기점으로부터 1년 뒤 매매 가격지수가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변화율의 상관행렬을 구해 계층적 클러스터링으로 6개 그룹으로 나눴습니다. 가로축은 클러스터 번호, 세로축은 그 클러스터에 속한 동 개수입니다.</a:t>
            </a:r>
          </a:p>
          <a:p/>
          <a:p>
            <a:r>
              <a:t>③ 결과가 뭐였나: 195개 동 중 167개(85%)가 5번 클러스터 하나에 몰렸습니다. 원인은 표본이 부족해서 제외된 동이 하나라도 있는 분기를 통째로 버렸기 때문에, 41개 분기 중 24개만 남고 그마저 중간에 끊겨서(2021Q3 다음이 바로 2025Q1) 신호가 제대로 안 잡힌 것으로 보입니다.</a:t>
            </a:r>
          </a:p>
          <a:p/>
          <a:p>
            <a:r>
              <a:t>④ 어떻게 해석하나: 이번 방식으로는 해석 가능한 결과를 얻지 못했습니다.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가장 확실하게 남는 건 두 가지입니다 — 거래량이 가격보다 훨씬 크게 흔들린다는 것과, 구 단위 평균만 보면 안 되고 동 단위 편차를 봐야 한다는 것입니다. 반면 정비사업 강도나 전세가율처럼 얼핏 관계가 있어 보였던 지표들은 자세히 뜯어보면 통계적 근거가 약하거나 불안정하다는 것도 같이 말씀드리고 싶습니다.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클러스터링을 다시 시도하고, 3~5번 축처럼 여러 요인이 뒤섞인 분석은 제대로 된 회귀분석으로 재설계하고, 오늘 그나마 신뢰도 있게 남은 요인들을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Rounded Rectangle 5"/>
          <p:cNvSpPr/>
          <p:nvPr/>
        </p:nvSpPr>
        <p:spPr>
          <a:xfrm>
            <a:off x="457200" y="5120274"/>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그래프에 이벤트 시점을 표시해본 것일 뿐, 금리·계절성·다른 정책까지 통제해서 인과를 검정한 건 아닙니다. '정책 때문에 거래량이 움직였다'가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025974" y="1905975"/>
            <a:ext cx="6139745" cy="3036905"/>
          </a:xfrm>
          <a:prstGeom prst="rect">
            <a:avLst/>
          </a:prstGeom>
        </p:spPr>
      </p:pic>
      <p:sp>
        <p:nvSpPr>
          <p:cNvPr id="6" name="Rounded Rectangle 5"/>
          <p:cNvSpPr/>
          <p:nvPr/>
        </p:nvSpPr>
        <p:spPr>
          <a:xfrm>
            <a:off x="457200" y="4988600"/>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거래량이 가격보다 훨씬 크게 변한다는 건 사실이지만 원인은 이 그래프로 알 수 없습니다. 점선으로 표시한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52395" y="1905975"/>
            <a:ext cx="2686903" cy="3036905"/>
          </a:xfrm>
          <a:prstGeom prst="rect">
            <a:avLst/>
          </a:prstGeom>
        </p:spPr>
      </p:pic>
      <p:sp>
        <p:nvSpPr>
          <p:cNvPr id="6" name="Rounded Rectangle 5"/>
          <p:cNvSpPr/>
          <p:nvPr/>
        </p:nvSpPr>
        <p:spPr>
          <a:xfrm>
            <a:off x="457200" y="4988600"/>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원시거래 중앙값이라 특정 시기에 고가·저가 단지 거래가 몰리면 값이 흔들릴 수 있습니다. 구 하나를 대표하는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120897" y="1907804"/>
            <a:ext cx="3949899" cy="3078967"/>
          </a:xfrm>
          <a:prstGeom prst="rect">
            <a:avLst/>
          </a:prstGeom>
        </p:spPr>
      </p:pic>
      <p:sp>
        <p:nvSpPr>
          <p:cNvPr id="6" name="Rounded Rectangle 5"/>
          <p:cNvSpPr/>
          <p:nvPr/>
        </p:nvSpPr>
        <p:spPr>
          <a:xfrm>
            <a:off x="457200" y="5032491"/>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이 지수는 같은 동 안에서의 시점 간 변화만 비교 가능합니다. 동 간 수준(동 A가 동 B보다 비싸다는 식)을 이 지수로 직접 비교하면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98037" y="1907804"/>
            <a:ext cx="5595620" cy="3078967"/>
          </a:xfrm>
          <a:prstGeom prst="rect">
            <a:avLst/>
          </a:prstGeom>
        </p:spPr>
      </p:pic>
      <p:sp>
        <p:nvSpPr>
          <p:cNvPr id="6" name="Rounded Rectangle 5"/>
          <p:cNvSpPr/>
          <p:nvPr/>
        </p:nvSpPr>
        <p:spPr>
          <a:xfrm>
            <a:off x="457200" y="5032491"/>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지역·입지·단지규모를 따로 통제하지 않은 단순 중앙값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86256" y="1905975"/>
            <a:ext cx="5019182" cy="3036905"/>
          </a:xfrm>
          <a:prstGeom prst="rect">
            <a:avLst/>
          </a:prstGeom>
        </p:spPr>
      </p:pic>
      <p:sp>
        <p:nvSpPr>
          <p:cNvPr id="6" name="Rounded Rectangle 5"/>
          <p:cNvSpPr/>
          <p:nvPr/>
        </p:nvSpPr>
        <p:spPr>
          <a:xfrm>
            <a:off x="457200" y="4988600"/>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정비사업 단계는 '2026년 현재' 기준인데 이걸 2024·2020년 등 과거 거래에도 그대로 적용했습니다(시점 불일치). 착공 단계는 거래 46건뿐이라 표본도 작습니다.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98037" y="1907804"/>
            <a:ext cx="5595620" cy="3078967"/>
          </a:xfrm>
          <a:prstGeom prst="rect">
            <a:avLst/>
          </a:prstGeom>
        </p:spPr>
      </p:pic>
      <p:sp>
        <p:nvSpPr>
          <p:cNvPr id="6" name="Rounded Rectangle 5"/>
          <p:cNvSpPr/>
          <p:nvPr/>
        </p:nvSpPr>
        <p:spPr>
          <a:xfrm>
            <a:off x="457200" y="5032491"/>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이 그래프만으로는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436634" y="1905975"/>
            <a:ext cx="3318426" cy="3036905"/>
          </a:xfrm>
          <a:prstGeom prst="rect">
            <a:avLst/>
          </a:prstGeom>
        </p:spPr>
      </p:pic>
      <p:sp>
        <p:nvSpPr>
          <p:cNvPr id="6" name="Rounded Rectangle 5"/>
          <p:cNvSpPr/>
          <p:nvPr/>
        </p:nvSpPr>
        <p:spPr>
          <a:xfrm>
            <a:off x="457200" y="4988600"/>
            <a:ext cx="11277295" cy="850392"/>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참고: 학군 거리는 영향이 약함</a:t>
            </a:r>
          </a:p>
          <a:p>
            <a:pPr algn="l">
              <a:lnSpc>
                <a:spcPct val="130000"/>
              </a:lnSpc>
            </a:pPr>
            <a:r>
              <a:rPr sz="1050" b="0">
                <a:solidFill>
                  <a:srgbClr val="002632"/>
                </a:solidFill>
                <a:latin typeface="맑은 고딕"/>
              </a:rPr>
              <a:t>초등학교(-0.007)·중학교(-0.067)·고등학교(-0.039)까지 거리는 단가와의 상관계수가 -0.07~-0.01 수준으로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98037" y="1907804"/>
            <a:ext cx="5595620" cy="3078967"/>
          </a:xfrm>
          <a:prstGeom prst="rect">
            <a:avLst/>
          </a:prstGeom>
        </p:spPr>
      </p:pic>
      <p:sp>
        <p:nvSpPr>
          <p:cNvPr id="6" name="Rounded Rectangle 5"/>
          <p:cNvSpPr/>
          <p:nvPr/>
        </p:nvSpPr>
        <p:spPr>
          <a:xfrm>
            <a:off x="457200" y="5032491"/>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지역·연식·단지를 통제하지 않은 단순 비교라, 고층 자체의 프리미엄인지 최근 지어진 고층 대단지가 원래 비싼 지역에 많은 건지는 이 데이터만으로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94459" y="1907804"/>
            <a:ext cx="5602776" cy="3078968"/>
          </a:xfrm>
          <a:prstGeom prst="rect">
            <a:avLst/>
          </a:prstGeom>
        </p:spPr>
      </p:pic>
      <p:sp>
        <p:nvSpPr>
          <p:cNvPr id="6" name="Rounded Rectangle 5"/>
          <p:cNvSpPr/>
          <p:nvPr/>
        </p:nvSpPr>
        <p:spPr>
          <a:xfrm>
            <a:off x="457200" y="5032491"/>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소형은 수요층, 대형은 희소성이 이유일 거라는 가설은 세워볼 수 있지만 이 데이터만으로 확인된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844597" y="1907804"/>
            <a:ext cx="4502499" cy="3078967"/>
          </a:xfrm>
          <a:prstGeom prst="rect">
            <a:avLst/>
          </a:prstGeom>
        </p:spPr>
      </p:pic>
      <p:sp>
        <p:nvSpPr>
          <p:cNvPr id="6" name="Rounded Rectangle 5"/>
          <p:cNvSpPr/>
          <p:nvPr/>
        </p:nvSpPr>
        <p:spPr>
          <a:xfrm>
            <a:off x="457200" y="5032491"/>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전체 상관계수는 0.150(n=12,440)로 크지 않고, 연도별로 쪼개면 부호가 뒤집힙니다(다음 슬라이드). '선행지표'보다는 '약하고 불안정한 동반관계'가 정확한 표현입니다.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552663" y="1907804"/>
            <a:ext cx="5086368" cy="3078967"/>
          </a:xfrm>
          <a:prstGeom prst="rect">
            <a:avLst/>
          </a:prstGeom>
        </p:spPr>
      </p:pic>
      <p:sp>
        <p:nvSpPr>
          <p:cNvPr id="6" name="Rounded Rectangle 5"/>
          <p:cNvSpPr/>
          <p:nvPr/>
        </p:nvSpPr>
        <p:spPr>
          <a:xfrm>
            <a:off x="457200" y="5032491"/>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전체 상관 0.15는 여러 해의 신호가 섞여 나온 평균일 뿐, 어느 해에나 적용되는 안정적인 관계가 아닙니다. 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102414" y="1905975"/>
            <a:ext cx="3986865" cy="3036905"/>
          </a:xfrm>
          <a:prstGeom prst="rect">
            <a:avLst/>
          </a:prstGeom>
        </p:spPr>
      </p:pic>
      <p:sp>
        <p:nvSpPr>
          <p:cNvPr id="6" name="Rounded Rectangle 5"/>
          <p:cNvSpPr/>
          <p:nvPr/>
        </p:nvSpPr>
        <p:spPr>
          <a:xfrm>
            <a:off x="457200" y="4988600"/>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명목상 정상 범위(강도≤1)만 남기면 r=0.009(p=0.889)로 통계적으로 유의한 선형관계를 확인하지 못했습니다. p값이 크다고 '관계가 없음이 증명됐다'는 뜻은 아니라, '유의한 관계를 찾지 못했다'는 정도로 읽어주세요.</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621983" y="1905975"/>
            <a:ext cx="4947727" cy="3036905"/>
          </a:xfrm>
          <a:prstGeom prst="rect">
            <a:avLst/>
          </a:prstGeom>
        </p:spPr>
      </p:pic>
      <p:sp>
        <p:nvSpPr>
          <p:cNvPr id="6" name="Rounded Rectangle 5"/>
          <p:cNvSpPr/>
          <p:nvPr/>
        </p:nvSpPr>
        <p:spPr>
          <a:xfrm>
            <a:off x="457200" y="4988600"/>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김용진 님 EDA 제안 문서(eda_filelist.md)의 관점을 반영했습니다. 선택된 5개 이벤트 전부가 ±4분기 내에 다른 이벤트와 겹쳐서, 5개 중 어느 것도 개별 효과로 분리 해석할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3956826" y="1905975"/>
            <a:ext cx="4278041" cy="3036905"/>
          </a:xfrm>
          <a:prstGeom prst="rect">
            <a:avLst/>
          </a:prstGeom>
        </p:spPr>
      </p:pic>
      <p:sp>
        <p:nvSpPr>
          <p:cNvPr id="6" name="Rounded Rectangle 5"/>
          <p:cNvSpPr/>
          <p:nvPr/>
        </p:nvSpPr>
        <p:spPr>
          <a:xfrm>
            <a:off x="457200" y="4988600"/>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결측 분기(표본 부족으로 제외된 동)가 있는 분기를 통째로 제외하는 방식이라 41개 분기 중 24개만 남고 시계열이 끊겼습니다. 해석 가능한 결과를 얻지 못했습니다.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035620" y="1905975"/>
            <a:ext cx="4120454" cy="3036905"/>
          </a:xfrm>
          <a:prstGeom prst="rect">
            <a:avLst/>
          </a:prstGeom>
        </p:spPr>
      </p:pic>
      <p:sp>
        <p:nvSpPr>
          <p:cNvPr id="6" name="Rounded Rectangle 5"/>
          <p:cNvSpPr/>
          <p:nvPr/>
        </p:nvSpPr>
        <p:spPr>
          <a:xfrm>
            <a:off x="457200" y="4988600"/>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전체 231개 동 상관계수는 -0.108(p=0.10, 유의하지 않음)이고, 보광동 하나를 빼면 -0.001로 사실상 관계가 사라집니다. 일반적 경향이 아니라 보광동이라는 특정 사례 하나가 만든 그림입니다.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'인구가 줄면 가격이 오른다'는 231개 동 전체의 일반적 관계는 근거가 없습니다(보광동 제외 시 r=-0.001). 보광동의 인구 급감 원인(정비사업 이주 추정)도 데이터로 검증된 게 아니라 추측입니다. 강남구 내부 편차(역삼·대치·압구정 하락)도 인구로는 설명되지 않습니다.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유의한 관계 못 찾음  </a:t>
            </a:r>
            <a:r>
              <a:rPr sz="1050" b="0">
                <a:solidFill>
                  <a:srgbClr val="5B6B70"/>
                </a:solidFill>
                <a:latin typeface="맑은 고딕"/>
              </a:rPr>
              <a:t>정상 범위 동만 보면 r=0.009, p=0.889로 선형관계 근거 없음</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9번 축(클러스터링)은 방법론 재설계가 필요함. 6번 축(전세가율)은 여러 해·여러 동을 한꺼번에 묶어 계산한 상관이라, 그 시기 시장 전체가 오르내리는 공통 흐름과 진짜 선행성을 완전히 구분하지 못함.</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회귀분석으로 재설계  </a:t>
            </a:r>
            <a:r>
              <a:rPr sz="1050" b="0">
                <a:solidFill>
                  <a:srgbClr val="5B6B70"/>
                </a:solidFill>
                <a:latin typeface="맑은 고딕"/>
              </a:rPr>
              <a:t>3~5번 축을 여러 요인(면적·연식·구·분기 등)을 한 번에 통제하는 회귀분석으로 다시 보기</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