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이 통념의 논리는 이렇습니다 — 전세가는 순수하게 '이 집에 살고 싶다'는 거주 가치만 반영된 값이라고 봅니다(세입자는 나중에 집값이 오르든 내리든 자기 집이 아니니 상관없이 거주 가치에만 값을 매기니까요). 반면 매매가는 거주 가치에 '앞으로 이 집값이 오를 것'이라는 기대(투자 프리미엄)까지 얹힌 값이라고 봅니다. 그래서 매매가와 전세가의 차이('갭')가 작다, 즉 전세가율이 높다는 건 매매가에 낀 미래 기대(거품)가 별로 없다 — 거주 가치에 가깝게 저평가돼 있다는 뜻으로 해석되고, 반대로 갭이 크면(전세가율 낮으면) 이미 기대가 많이 반영돼 고평가됐다고 봅니다('갭투자'라는 말도 이 갭이 작을수록 투자금이 적게 든다는 데서 나온 표현입니다). 이건 어디까지나 투자자들 사이의 통념이고, 그 통념이 실제 데이터에서 맞는지 확인하는 게 이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슬라이드(14번)는 여러 해를 다 섞어서 평균 낸 결과였습니다. 그 관계가 '매년 똑같이' 나타나는 안정적인 관계인지, 아니면 특정 해에만 있던 우연인지 확인하려는 그래프입니다.</a:t>
            </a:r>
          </a:p>
          <a:p/>
          <a:p>
            <a:r>
              <a:t>② 뭘로 측정했나: 앞 슬라이드에서 설명한 '동+분기' 기점들을, 이번엔 5등분하지 않고 '2011년에 시작한 것들끼리', '2015년에 시작한 것들끼리'처럼 시작 연도별로 따로 묶었습니다. 그리고 각 연도 그룹 안에서만 전세가율-미래상승률 상관관계를 따로 구했습니다. 가로축이 그 시작 연도, 세로축이 그 연도만의 상관계수입니다.</a:t>
            </a:r>
          </a:p>
          <a:p/>
          <a:p>
            <a:r>
              <a:t>③ 결과가 뭐였나: 2011·2018·2021·2022년에 시작한 것들은 통념대로 '전세가율 높을수록 더 올랐다'(양의 관계, 초록색)로 나왔지만, 2015~2017년·2019년·2023~2025년에 시작한 것들은 정반대로 '전세가율 높을수록 오히려 덜 올랐다'(음의 관계, 빨간색)로 나왔습니다. 특히 2024년은 -0.507로 꽤 강하게 반대 방향이었습니다.</a:t>
            </a:r>
          </a:p>
          <a:p/>
          <a:p>
            <a:r>
              <a:t>④ 어떻게 해석하나: 그러니까 앞 슬라이드(14번)에서 본 상관계수 0.15는 '매년 이런 관계가 있다'는 뜻이 아니라, 이렇게 해마다 왔다 갔다 하는 걸 전부 평균 낸 결과일 뿐이었던 겁니다. 왜 이렇게 뒤집히는지는, 그 해 시장 전체가 오르는 시기인지 내리는 시기인지(시장 국면)가 전세가율과 미래 가격 양쪽에 동시에 영향을 줘서 생기는 착시일 가능성이 있습니다. 정리하면, 전세가율로 '이 동네가 오를 거다'를 예측하는 건 믿을 만한 방법이 아니라는 게 이 두 슬라이드의 결론입니다.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 '정비사업 강도'란, 예를 들어 어떤 동에 주택이 100채 있는데 그중 30채가 재건축·재개발(정비사업) 진행 중이면 '강도 30%'라는 뜻입니다 — 숫자가 클수록 그 동네에서 정비사업이 차지하는 비중이 크다는 뜻입니다. '변동성'이란 그 동네 집값이 분기마다 얼마나 오르락내리락했는지입니다. 어떤 동은 매 분기 거의 비슷하게 완만히 움직이고(변동성 작음), 어떤 동은 어떤 분기엔 확 올랐다가 다음 분기엔 확 떨어지고(변동성 큼) 하는데, 이 '출렁이는 정도'를 하나의 숫자로 나타낸 게 변동성입니다.</a:t>
            </a:r>
          </a:p>
          <a:p/>
          <a:p>
            <a:r>
              <a:t>② 뭘로 측정했나: 가로축은 강도(위 예시처럼 %, 정비구역 계획 세대수를 그 동의 전체 세대수로 나눈 값), 세로축은 변동성(표준편차 — 숫자들이 평균에서 얼마나 들쭉날쭉 흩어져 있는지 보여주는 값)입니다. 점 하나가 동네 하나입니다. '정비사업이 많을수록 변동성도 크다'가 맞다면 점들이 왼쪽 아래에서 오른쪽 위로 올라가는 모양이어야 합니다. 하늘색이 강도가 정상 범위(0~100%)인 동, 빨간색이 100%를 넘는 동(2개, 보광동·한남동)입니다 — 정비구역 계획 세대수가 현재 전체 세대수보다 많다는 뜻이라, 정비사업이 이미 많이 진행돼 실제 거주 세대가 줄어든 재건축 후기 단계로 보입니다.</a:t>
            </a:r>
          </a:p>
          <a:p/>
          <a:p>
            <a:r>
              <a:t>③ 결과가 뭐였나: 점들이 오르막 모양 없이 흩어져 있었습니다. 정상 범위(0~100%)인 동만 봐도 상관계수가 0.048(거의 0에 가까운 약한 값)로 나왔고, p값은 0.434로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'이 정책 때문에 이렇게 갈렸다'고 콕 집어 말할 수 있는지 확인하려는 그래프입니다.</a:t>
            </a:r>
          </a:p>
          <a:p/>
          <a:p>
            <a:r>
              <a:t>② 뭘로 측정했나: 먼저 서울의 정책·금리 이벤트 49개 각각에 대해 '이 사건 이후 4분기 안에 오른 법정동이 몇 %였는지'(자치구가 아니라 법정동 단위입니다 — 예를 들어 어떤 동네는 겨우 몇 개 정도만 묶이는 자치구보다 훨씬 촘촘하게, 서울 전역 법정동 하나하나를 기준으로 계산했습니다)를 계산했습니다. 어떤 이벤트는 '90%의 동네가 다 같이 올랐다'처럼 반응이 한쪽으로 쏠렸고, 어떤 이벤트는 반반으로 갈렸습니다. 그중에서 '오른 동네 비율이 50%(정확히 절반)에 가장 가까운' 이벤트 5개를 뽑았습니다 — 즉 동네 절반은 오르고 절반은 내린, 반응이 가장 크게 엇갈린 이벤트들입니다. 가로축이 그 상승한 동 비율(%), 세로축은 이 5개 이벤트입니다. 점선이 50% 기준선이고, 초록은 그래도 상승한 동이 더 많았던 이벤트, 빨강은 하락한 동이 더 많았던 이벤트입니다. 이렇게 반응이 갈린 이벤트를 찾은 다음, '혹시 그 앞뒤 ±4분기 안에 다른 정책·이벤트가 겹쳐 있진 않은지'도 event_summary의 overlapping_events(사건 전후로 겹치는 다른 사건이 있는지 표시해둔 값)로 확인했습니다.</a:t>
            </a:r>
          </a:p>
          <a:p/>
          <a:p>
            <a:r>
              <a:t>③ 결과가 뭐였나: 5개 이벤트 전부 앞뒤로 다른 이벤트와 겹쳐 있었습니다 — 예를 들어 A라는 정책이 나온 지 두 분기 뒤에 B라는 금리 발표가 또 있었던 식입니다.</a:t>
            </a:r>
          </a:p>
          <a:p/>
          <a:p>
            <a:r>
              <a:t>④ 어떻게 해석하나: '동네마다 반응이 갈리는 이벤트가 있다'는 사실은 확인했지만, 그게 'A정책 때문에 갈렸다'인지 '그 근처에 있던 B이벤트 때문에 갈렸다'인지 구분할 방법이 없어서, 이 5개 이벤트 중 어느 하나도 '이게 원인이다'라고 자신 있게 말할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분석입니다.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이 표는 각 그룹에 어떤 자치구가 많이 속해 있는지 보여줍니다.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구로구·성북구·서대문구 등 상대적으로 외곽 지역이 많았습니다. 다만 한 그룹이 15~20개 자치구에 걸쳐 있어서, 표의 상위 5개만으로 '이 그룹=이 자치구'라고 딱 떨어지게 말하긴 어렵고 '상대적으로 더 몰려 있다' 정도로 봐야 합니다.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나눈 6개 그룹이 특정 몇 개 그룹에 쏠리지 않고 고르게 나뉘었는지, 그리고 그룹마다 최근 가격 움직임이 실제로 다른지 그림으로 확인하려는 것입니다.</a:t>
            </a:r>
          </a:p>
          <a:p/>
          <a:p>
            <a:r>
              <a:t>② 뭘로 측정했나: 왼쪽 그림은 그룹별 동 개수를 막대로 보여줍니다. 오른쪽 그림은 그룹별로 '시장 대비 초과 변화율'(그 분기 서울 평균보다 더/덜 오른 정도)이 최근 8분기 동안 어떻게 움직였는지 선으로 보여줍니다.</a:t>
            </a:r>
          </a:p>
          <a:p/>
          <a:p>
            <a:r>
              <a:t>③ 결과가 뭐였나: 6개 그룹의 동 개수는 15~67개로, 한쪽에 쏠리지 않고 비교적 고르게 나뉘었습니다(최대 쏠림 26.7%). 오른쪽 그림에서는 그룹마다 선이 서로 다른 방향·크기로 움직여서, 그룹을 나눈 게 실제로 서로 다른 움직임을 구분해낸다는 걸 보여줍니다.</a:t>
            </a:r>
          </a:p>
          <a:p/>
          <a:p>
            <a:r>
              <a:t>④ 어떻게 해석하나: 그룹이 통계적으로도(크기가 고름), 실제 움직임으로도(선이 서로 다름) 의미 있게 나뉘었다는 뜻입니다. 각 그룹이 구체적으로 어떤 동네이고 왜 이렇게 움직였는지는 다음 슬라이드에서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실제로 어떤 동네인지(성향)까지 알아야 '이런 유형의 동네가 유망하다'는 판단이 가능합니다.</a:t>
            </a:r>
          </a:p>
          <a:p/>
          <a:p>
            <a:r>
              <a:t>② 뭘로 측정했나: 9번 축에서 나눈 6개 클러스터 각각에 대해, 그 클러스터에 속한 동들의 평균 ㎡당 단가, 한강조망 비율, 정비사업 강도(입지·성향 지표)를 계산했습니다.</a:t>
            </a:r>
          </a:p>
          <a:p/>
          <a:p>
            <a:r>
              <a:t>③ 결과가 뭐였나: 가장 비싸고(2,159만원) 한강조망 비율도 가장 높은(0.42) 건 5번 클러스터, 가장 저렴한(1,029만원) 건 3번 클러스터입니다. 정비사업 강도는 5번(0.14)이 가장 높고 2·4번(0.04)이 가장 낮습니다.</a:t>
            </a:r>
          </a:p>
          <a:p/>
          <a:p>
            <a:r>
              <a:t>④ 어떻게 해석하나: 6개 클러스터가 단순히 통계적으로만 나뉜 게 아니라, 실제로 가격대·입지 특성이 뚜렷하게 다른 '유형'으로 구분된다는 뜻입니다. 다음 슬라이드에서는 이 성향이 최근 실제 가격 움직임(모멘텀)과 같은 방향인지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'어떤 동네인지'(성향)와, 최근 실제로 얼마나 올랐는지(모멘텀)가 같은 방향인지 확인하려는 그림입니다. 둘이 같은 방향이면 '비싸고 좋은 동네가 계속 더 오른다'는 뜻이고, 다르면 그렇지 않다는 뜻입니다.</a:t>
            </a:r>
          </a:p>
          <a:p/>
          <a:p>
            <a:r>
              <a:t>② 뭘로 측정했나: 09번 축에서 이미 구했던 '시장 대비 초과 변화율'(그 분기 서울 평균보다 더/덜 오른 정도)을 최근 4개 분기 합산해 '최근 1년간 시장 대비 몇 % 더/덜 올랐는지'로 바꿨습니다. 계산은 3단계입니다 — ① 최근 4개 분기 각각의 '그 그룹이 서울 평균보다 더/덜 움직인 정도'를 가져옵니다(예: 6번 그룹은 2025Q3 +2.50%p, 2025Q4 +2.19%p, 2026Q1 +4.11%p, 2026Q2 -1.97%p). ② 이 4개 값을 그냥 더합니다(평균이 아니라 합입니다 — 이 값들이 로그(log) 단위라서, 로그 값은 더하기만 해도 '누적'이 되는 성질이 있습니다). ③ 이 로그 합계를 사람이 읽기 편한 %로 바꿉니다. 이때 단순히 100을 곱하면 안 되고 '100×(exp(합계)-1)' 공식을 써야 정확한 %가 나옵니다(회귀분석에서 표준화 효과를 %로 바꿀 때와 같은 이유입니다). 6번 그룹 예시로 계산하면 4개 값의 합이 약 0.068이고, 이를 위 공식에 넣으면 +7.08%가 나와서 표의 값과 일치합니다. 그림은 가로축이 가격 수준(앞 슬라이드 표의 '성향'), 세로축이 이렇게 계산한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낮은(0.06)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9번 축 클러스터링이 임의로 나눈 게 아니라 실제로 의미 있는 구분인지 객관적으로 검증하려는 그림입니다. '비슷하게 움직인다'는 이 분석에서 딱 하나로 정의돼 있습니다 — '그 분기 서울 평균을 뺀 나머지(초과 변화율)의 분기별 시계열끼리의 피어슨 상관계수가 높다'는 것입니다. 입지·가격대가 비슷한 게 아니라, 가격이 오르내리는 타이밍과 방향이 서울 평균 대비 같이 움직이는지만 봅니다.</a:t>
            </a:r>
          </a:p>
          <a:p/>
          <a:p>
            <a:r>
              <a:t>② 뭘로 측정했나: 왼쪽 그림은 251개 동 전체의 상관행렬을 클러스터 순서로 재배열한 히트맵입니다 — 대각선 블록(같은 클러스터끼리)이 다른 부분보다 진하게(붉게) 보이면 클러스터링이 유효하다는 뜻입니다. 오른쪽 그림은 모든 동 쌍(3만여 쌍)을 '같은 클러스터'와 '다른 클러스터'로 나눠서 상관계수 분포를 박스플롯으로 비교한 것입니다.</a:t>
            </a:r>
          </a:p>
          <a:p/>
          <a:p>
            <a:r>
              <a:t>③ 결과가 뭐였나: 같은 클러스터 쌍(5,878개)의 평균 상관계수는 0.156, 다른 클러스터 쌍(25,497개)은 -0.039였습니다. 통계 검정(Mann-Whitney U, 두 그룹의 분포가 같은지 비교하는 검정) 결과 p=0.0e+00로, 같은 클러스터 쌍의 상관이 더 높다는 게 매우 유의합니다. 히트맵에서도 대각선 블록(특히 3·5·6번 클러스터)이 눈에 띄게 진하게 나타납니다.</a:t>
            </a:r>
          </a:p>
          <a:p/>
          <a:p>
            <a:r>
              <a:t>④ 어떻게 해석하나: 클러스터링이 완전히 임의적인 건 아닙니다 — 같은 클러스터로 묶인 동들이 실제로 더 비슷하게 움직인다는 근거가 통계적으로 확인됩니다. 다만 박스플롯에서 보이듯 두 분포가 많이 겹쳐서, '뚜렷하게 다른 그룹'이라기보다는 '통계적으로는 유의하지만 약한 수준의 구분'으로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9번 축에서 클러스터 개수를 6개로 정했는데, 이 숫자가 객관적으로 최선인지 아니면 임의로 고른 값인지 확인하려는 그림입니다.</a:t>
            </a:r>
          </a:p>
          <a:p/>
          <a:p>
            <a:r>
              <a:t>② 뭘로 측정했나: 실루엣 점수는 클러스터링 품질을 재는 표준 지표입니다 — 각 동이 자기 클러스터 안의 다른 동들과는 가깝고, 가장 가까운 다른 클러스터와는 먼 정도를 -1~+1로 나타내며, 클수록 좋습니다. 클러스터 개수(k)를 2개부터 12개까지 바꿔가며 각각 점수를 계산했습니다.</a:t>
            </a:r>
          </a:p>
          <a:p/>
          <a:p>
            <a:r>
              <a:t>③ 결과가 뭐였나: 점수가 가장 높은 건 k=2(0.111)였고, 이번에 쓴 k=6은 0.077로 중간 수준이었습니다. k를 바꿔도 점수가 완만하게만 오르내려서 '이 지점에서 뚜렷하게 꺾인다'는 신호는 없었습니다.</a:t>
            </a:r>
          </a:p>
          <a:p/>
          <a:p>
            <a:r>
              <a:t>④ 어떻게 해석하나: 클러스터 개수 6개는 객관적으로 최적화된 값이 아니라 분석자가 고른 값이 맞습니다 — 이 점은 처음부터 한계로 밝혔던 부분이고, 이번 검증으로도 다시 확인됐습니다. 다만 2를 빼면 3~7 사이 점수가 서로 비슷해서, 6을 다른 숫자로 바꿔도 결과가 크게 달라지진 않을 것으로 보입니다. 종합하면 '그룹이 존재한다는 것 자체는 유의하지만, 정확히 몇 개로 나누는 게 최선인지는 이 데이터만으로 확정할 수 없다'가 정확한 결론입니다.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 원래 세운 가설은 '인구가 줄면 수요가 줄어서 가격도 내린다'는, 상식적으로 자연스러운 방향(인구감소→가격하락)이었습니다.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 앞 슬라이드에서 말씀드렸듯 원래 가설은 반대 방향(인구감소→가격하락)이었는데, 상관계수를 직접 계산해보니 부호가 그 반대로 나와서 이 슬라이드에서 그 반대 방향이 진짜인지 자세히 들여다봤습니다.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-0.108입니다. 이 값의 부호(음수)가 뜻하는 건 '인구가 늘어난 동네일수록 가격은 상대적으로 덜 올랐다' — 거꾸로 말하면 '인구가 줄어든 동네일수록 가격이 더 올랐다'는 방향입니다. 다만 크기가 -0.108로 매우 약하고, p값이 0.10로 통계적으로 유의하지 않습니다(관례상 p&lt;0.05여야 '유의하다'고 봅니다). 게다가 보광동 하나를 빼고 나머지 230개 동만 다시 계산하면 상관계수가 -0.0014로 거의 0으로 사라집니다.</a:t>
            </a:r>
          </a:p>
          <a:p/>
          <a:p>
            <a:r>
              <a:t>④ 어떻게 해석하나: 이 '반대 방향처럼 보였던 패턴'은 전체 동네의 일반적인 경향이 아니라, 보광동이라는 특정 사례 하나가 만든 그림이었습니다. 즉 처음 세운 가설(인구감소→가격하락)이 틀렸다고 증명된 것도 아니고, 그 반대 가설(인구감소→가격상승)이 맞다고 증명된 것도 아닙니다 — '이 데이터로는 인구 변화와 가격 사이에 일반적인 관계를 찾을 수 없다'가 정확한 결론입니다. 7번 축(정비사업 강도)도 비슷하게 이상치가 있는 축이었지만 성격은 다릅니다 — 거기서는 이상치를 빼도 넣어도 '관계 없음'이라는 결론이 똑같았던 반면, 여기서는 이상치(보광동) 하나가 '관계 있어 보이는' 착시를 만들었다는 차이가 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6개를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047194" y="1909632"/>
            <a:ext cx="4097305"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없음(r=0.048)</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r=0.048(p=0.434)입니다. p값이 크다고 '관계 없음이 증명됐다'는 뜻은 아닙니다. 세대수는 2026년 한 시점 값을 분석 기간(2011~2026년) 전체에 고정값으로 적용한 것이라는 한계도 있습니다.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graphicFrame>
        <p:nvGraphicFramePr>
          <p:cNvPr id="5" name="Table 4"/>
          <p:cNvGraphicFramePr>
            <a:graphicFrameLocks noGrp="1"/>
          </p:cNvGraphicFramePr>
          <p:nvPr/>
        </p:nvGraphicFramePr>
        <p:xfrm>
          <a:off x="457200" y="1801368"/>
          <a:ext cx="11247120" cy="2108708"/>
        </p:xfrm>
        <a:graphic>
          <a:graphicData uri="http://schemas.openxmlformats.org/drawingml/2006/table">
            <a:tbl>
              <a:tblPr firstRow="1" bandRow="1">
                <a:tableStyleId>{5C22544A-7EE6-4342-B048-85BDC9FD1C3A}</a:tableStyleId>
              </a:tblPr>
              <a:tblGrid>
                <a:gridCol w="1097280"/>
                <a:gridCol w="1371600"/>
                <a:gridCol w="8778240"/>
              </a:tblGrid>
              <a:tr h="301244">
                <a:tc>
                  <a:txBody>
                    <a:bodyPr/>
                    <a:lstStyle/>
                    <a:p>
                      <a:pPr algn="l"/>
                      <a:r>
                        <a:rPr sz="1000" b="1">
                          <a:solidFill>
                            <a:srgbClr val="FFFFFF"/>
                          </a:solidFill>
                          <a:latin typeface="맑은 고딕"/>
                        </a:rPr>
                        <a:t>그룹</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가장 많이 속한 자치구 top5(그 그룹 안 동 개수)</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a:t>
                      </a:r>
                    </a:p>
                  </a:txBody>
                  <a:tcPr anchor="ctr" marL="73152" marR="73152" marT="41148" marB="41148">
                    <a:solidFill>
                      <a:srgbClr val="F3F6F6"/>
                    </a:solidFill>
                  </a:tcPr>
                </a:tc>
                <a:tc>
                  <a:txBody>
                    <a:bodyPr/>
                    <a:lstStyle/>
                    <a:p>
                      <a:pPr algn="ctr"/>
                      <a:r>
                        <a:rPr sz="1000" b="0">
                          <a:solidFill>
                            <a:srgbClr val="002632"/>
                          </a:solidFill>
                          <a:latin typeface="맑은 고딕"/>
                        </a:rPr>
                        <a:t>44개</a:t>
                      </a:r>
                    </a:p>
                  </a:txBody>
                  <a:tcPr anchor="ctr" marL="73152" marR="73152" marT="41148" marB="41148">
                    <a:solidFill>
                      <a:srgbClr val="F3F6F6"/>
                    </a:solidFill>
                  </a:tcPr>
                </a:tc>
                <a:tc>
                  <a:txBody>
                    <a:bodyPr/>
                    <a:lstStyle/>
                    <a:p>
                      <a:pPr algn="ctr"/>
                      <a:r>
                        <a:rPr sz="1000" b="0">
                          <a:solidFill>
                            <a:srgbClr val="002632"/>
                          </a:solidFill>
                          <a:latin typeface="맑은 고딕"/>
                        </a:rPr>
                        <a:t>영등포구 16개, 성북구 5개, 서대문구 3개, 용산구 2개, 동대문구 2개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15개</a:t>
                      </a:r>
                    </a:p>
                  </a:txBody>
                  <a:tcPr anchor="ctr" marL="73152" marR="73152" marT="41148" marB="41148">
                    <a:solidFill>
                      <a:srgbClr val="FFFFFF"/>
                    </a:solidFill>
                  </a:tcPr>
                </a:tc>
                <a:tc>
                  <a:txBody>
                    <a:bodyPr/>
                    <a:lstStyle/>
                    <a:p>
                      <a:pPr algn="ctr"/>
                      <a:r>
                        <a:rPr sz="1000" b="0">
                          <a:solidFill>
                            <a:srgbClr val="002632"/>
                          </a:solidFill>
                          <a:latin typeface="맑은 고딕"/>
                        </a:rPr>
                        <a:t>동대문구 3개, 강서구 2개, 마포구 2개, 용산구 1개, 종로구 1개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67개</a:t>
                      </a:r>
                    </a:p>
                  </a:txBody>
                  <a:tcPr anchor="ctr" marL="73152" marR="73152" marT="41148" marB="41148">
                    <a:solidFill>
                      <a:srgbClr val="F3F6F6"/>
                    </a:solidFill>
                  </a:tcPr>
                </a:tc>
                <a:tc>
                  <a:txBody>
                    <a:bodyPr/>
                    <a:lstStyle/>
                    <a:p>
                      <a:pPr algn="ctr"/>
                      <a:r>
                        <a:rPr sz="1000" b="0">
                          <a:solidFill>
                            <a:srgbClr val="002632"/>
                          </a:solidFill>
                          <a:latin typeface="맑은 고딕"/>
                        </a:rPr>
                        <a:t>구로구 7개, 성북구 7개, 서대문구 5개, 은평구 5개, 마포구 5개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 6개, 마포구 6개, 강남구 3개, 서대문구 3개, 강동구 2개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 13개, 강남구 6개, 서초구 5개, 종로구 4개, 마포구 4개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40개</a:t>
                      </a:r>
                    </a:p>
                  </a:txBody>
                  <a:tcPr anchor="ctr" marL="73152" marR="73152" marT="41148" marB="41148">
                    <a:solidFill>
                      <a:srgbClr val="FFFFFF"/>
                    </a:solidFill>
                  </a:tcPr>
                </a:tc>
                <a:tc>
                  <a:txBody>
                    <a:bodyPr/>
                    <a:lstStyle/>
                    <a:p>
                      <a:pPr algn="ctr"/>
                      <a:r>
                        <a:rPr sz="1000" b="0">
                          <a:solidFill>
                            <a:srgbClr val="002632"/>
                          </a:solidFill>
                          <a:latin typeface="맑은 고딕"/>
                        </a:rPr>
                        <a:t>성동구 10개, 강동구 5개, 송파구 5개, 동작구 5개, 마포구 4개</a:t>
                      </a:r>
                    </a:p>
                  </a:txBody>
                  <a:tcPr anchor="ctr" marL="73152" marR="73152" marT="41148" marB="41148">
                    <a:solidFill>
                      <a:srgbClr val="FFFFFF"/>
                    </a:solidFill>
                  </a:tcPr>
                </a:tc>
              </a:tr>
            </a:tbl>
          </a:graphicData>
        </a:graphic>
      </p:graphicFrame>
      <p:sp>
        <p:nvSpPr>
          <p:cNvPr id="6" name="TextBox 5"/>
          <p:cNvSpPr txBox="1"/>
          <p:nvPr/>
        </p:nvSpPr>
        <p:spPr>
          <a:xfrm>
            <a:off x="457200" y="4001516"/>
            <a:ext cx="11277295" cy="237744"/>
          </a:xfrm>
          <a:prstGeom prst="rect">
            <a:avLst/>
          </a:prstGeom>
          <a:noFill/>
        </p:spPr>
        <p:txBody>
          <a:bodyPr wrap="square">
            <a:spAutoFit/>
          </a:bodyPr>
          <a:lstStyle/>
          <a:p>
            <a:pPr algn="l"/>
            <a:r>
              <a:rPr sz="900" b="0">
                <a:solidFill>
                  <a:srgbClr val="5B6B70"/>
                </a:solidFill>
                <a:latin typeface="맑은 고딕"/>
              </a:rPr>
              <a:t>각 그룹은 15~20개 자치구에 걸쳐 있고, 여기서는 그중 가장 많이 몰린 5개 자치구만 표시(전체 목록은 eda/output/09_dong_clusters.csv).</a:t>
            </a:r>
          </a:p>
        </p:txBody>
      </p:sp>
      <p:sp>
        <p:nvSpPr>
          <p:cNvPr id="7" name="Rounded Rectangle 6"/>
          <p:cNvSpPr/>
          <p:nvPr/>
        </p:nvSpPr>
        <p:spPr>
          <a:xfrm>
            <a:off x="457200" y="4348988"/>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348988"/>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그룹 크기와 최근 움직임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표에서 나눈 6개 그룹이 크기는 고른지, 최근에는 시장 대비 어떻게 움직였는지 그림으로 확인합니다.</a:t>
            </a:r>
          </a:p>
        </p:txBody>
      </p:sp>
      <p:pic>
        <p:nvPicPr>
          <p:cNvPr id="5" name="Picture 4" descr="09_cluster_size_imbalance.png"/>
          <p:cNvPicPr>
            <a:picLocks noChangeAspect="1"/>
          </p:cNvPicPr>
          <p:nvPr/>
        </p:nvPicPr>
        <p:blipFill>
          <a:blip r:embed="rId2"/>
          <a:stretch>
            <a:fillRect/>
          </a:stretch>
        </p:blipFill>
        <p:spPr>
          <a:xfrm>
            <a:off x="2197295" y="1911461"/>
            <a:ext cx="7797104" cy="3163092"/>
          </a:xfrm>
          <a:prstGeom prst="rect">
            <a:avLst/>
          </a:prstGeom>
        </p:spPr>
      </p:pic>
      <p:sp>
        <p:nvSpPr>
          <p:cNvPr id="6" name="TextBox 5"/>
          <p:cNvSpPr txBox="1"/>
          <p:nvPr/>
        </p:nvSpPr>
        <p:spPr>
          <a:xfrm>
            <a:off x="792327" y="5147706"/>
            <a:ext cx="1060704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그룹마다 최근 시장 대비 초과 변화율 흐름이 다름</a:t>
            </a:r>
          </a:p>
        </p:txBody>
      </p:sp>
      <p:sp>
        <p:nvSpPr>
          <p:cNvPr id="7" name="Rounded Rectangle 6"/>
          <p:cNvSpPr/>
          <p:nvPr/>
        </p:nvSpPr>
        <p:spPr>
          <a:xfrm>
            <a:off x="457200" y="5348874"/>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6개 그룹의 크기가 15~67개로 비교적 고르고(최대 쏠림 26.7%), 최근 8분기 동안 그룹마다 시장 대비 초과 변화율이 다른 방향으로 움직였습니다.</a:t>
            </a:r>
          </a:p>
        </p:txBody>
      </p:sp>
      <p:sp>
        <p:nvSpPr>
          <p:cNvPr id="8" name="Rounded Rectangle 7"/>
          <p:cNvSpPr/>
          <p:nvPr/>
        </p:nvSpPr>
        <p:spPr>
          <a:xfrm>
            <a:off x="6187287" y="534887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그림은 '그룹이 잘 나뉘었다'는 것만 보여줍니다. 각 그룹이 왜 그렇게 움직였는지는 다음 슬라이드(그룹 성향 분석)에서 이어서 봅니다.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동네인가 — 성향 표</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가졌는지까지 확인합니다.</a:t>
            </a:r>
          </a:p>
        </p:txBody>
      </p:sp>
      <p:graphicFrame>
        <p:nvGraphicFramePr>
          <p:cNvPr id="5" name="Table 4"/>
          <p:cNvGraphicFramePr>
            <a:graphicFrameLocks noGrp="1"/>
          </p:cNvGraphicFramePr>
          <p:nvPr/>
        </p:nvGraphicFramePr>
        <p:xfrm>
          <a:off x="457200" y="189280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0.06</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0.11</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0.04</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0.06</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0.14</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0.04</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9295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sp>
        <p:nvSpPr>
          <p:cNvPr id="7" name="Rounded Rectangle 6"/>
          <p:cNvSpPr/>
          <p:nvPr/>
        </p:nvSpPr>
        <p:spPr>
          <a:xfrm>
            <a:off x="457200" y="4458716"/>
            <a:ext cx="5547207" cy="1037844"/>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5번 클러스터(용산·강남·서초 중심)가 가격 수준(2,159만원)·한강조망 비율(0.42) 모두 가장 높은 '가장 화려한 동네' 그룹입니다. 3번 클러스터(구로·성북·서대문 중심)는 반대로 가격·한강조망 모두 가장 낮습니다.</a:t>
            </a:r>
          </a:p>
        </p:txBody>
      </p:sp>
      <p:sp>
        <p:nvSpPr>
          <p:cNvPr id="8" name="Rounded Rectangle 7"/>
          <p:cNvSpPr/>
          <p:nvPr/>
        </p:nvSpPr>
        <p:spPr>
          <a:xfrm>
            <a:off x="6187287" y="445871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표는 클러스터 내 동들의 평균값입니다. 같은 클러스터 안에서도 동별 편차가 있을 수 있습니다.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성향과 최근 모멘텀은 다른 정보다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표의 '성향'(입지·가격대)과 최근 1년간 실제 가격 움직임(모멘텀)이 같은 방향인지 확인합니다.</a:t>
            </a:r>
          </a:p>
        </p:txBody>
      </p:sp>
      <p:pic>
        <p:nvPicPr>
          <p:cNvPr id="5" name="Picture 4" descr="14_cluster_profile_price_vs_momentum.png"/>
          <p:cNvPicPr>
            <a:picLocks noChangeAspect="1"/>
          </p:cNvPicPr>
          <p:nvPr/>
        </p:nvPicPr>
        <p:blipFill>
          <a:blip r:embed="rId2"/>
          <a:stretch>
            <a:fillRect/>
          </a:stretch>
        </p:blipFill>
        <p:spPr>
          <a:xfrm>
            <a:off x="4088348" y="1862084"/>
            <a:ext cx="4014997" cy="3078967"/>
          </a:xfrm>
          <a:prstGeom prst="rect">
            <a:avLst/>
          </a:prstGeom>
        </p:spPr>
      </p:pic>
      <p:sp>
        <p:nvSpPr>
          <p:cNvPr id="6" name="TextBox 5"/>
          <p:cNvSpPr txBox="1"/>
          <p:nvPr/>
        </p:nvSpPr>
        <p:spPr>
          <a:xfrm>
            <a:off x="3352647" y="5014203"/>
            <a:ext cx="548640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7" name="Rounded Rectangle 6"/>
          <p:cNvSpPr/>
          <p:nvPr/>
        </p:nvSpPr>
        <p:spPr>
          <a:xfrm>
            <a:off x="457200" y="5215371"/>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8" name="Rounded Rectangle 7"/>
          <p:cNvSpPr/>
          <p:nvPr/>
        </p:nvSpPr>
        <p:spPr>
          <a:xfrm>
            <a:off x="6187287" y="5215371"/>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같은 클러스터끼리 실제로 더 비슷하게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클러스터링이 객관적으로 타당한지 — 같은 클러스터로 묶인 동끼리 실제로 상관이 더 높은지 직접 확인합니다.</a:t>
            </a:r>
          </a:p>
        </p:txBody>
      </p:sp>
      <p:pic>
        <p:nvPicPr>
          <p:cNvPr id="5" name="Picture 4" descr="09f_cluster_validation_heatmap.png"/>
          <p:cNvPicPr>
            <a:picLocks noChangeAspect="1"/>
          </p:cNvPicPr>
          <p:nvPr/>
        </p:nvPicPr>
        <p:blipFill>
          <a:blip r:embed="rId2"/>
          <a:stretch>
            <a:fillRect/>
          </a:stretch>
        </p:blipFill>
        <p:spPr>
          <a:xfrm>
            <a:off x="2751266" y="1911461"/>
            <a:ext cx="6689162"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같은 클러스터 쌍 평균 상관 0.156 vs 다른 클러스터 쌍 -0.039</a:t>
            </a:r>
          </a:p>
        </p:txBody>
      </p:sp>
      <p:sp>
        <p:nvSpPr>
          <p:cNvPr id="7" name="Rounded Rectangle 6"/>
          <p:cNvSpPr/>
          <p:nvPr/>
        </p:nvSpPr>
        <p:spPr>
          <a:xfrm>
            <a:off x="457200" y="5348874"/>
            <a:ext cx="5547207" cy="1037844"/>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클러스터로 묶인 동끼리의 상관계수(평균 0.156)가 다른 클러스터 동끼리(평균 -0.039)보다 통계적으로 유의하게 높습니다(p&lt;0.001). 클러스터링이 실제로 의미 있는 구분을 만들어낸다는 뜻입니다.</a:t>
            </a:r>
          </a:p>
        </p:txBody>
      </p:sp>
      <p:sp>
        <p:nvSpPr>
          <p:cNvPr id="8" name="Rounded Rectangle 7"/>
          <p:cNvSpPr/>
          <p:nvPr/>
        </p:nvSpPr>
        <p:spPr>
          <a:xfrm>
            <a:off x="6187287" y="5348874"/>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두 분포가 완전히 갈라지진 않고 상당히 겹칩니다(히트맵에서도 대각선 블록 밖에 약한 빨간 영역이 남아있음) — '뚜렷하게' 갈리기보다는 '통계적으로 유의하지만 약한' 구분입니다.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클러스터 개수 6개는 객관적으로 최적인가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그룹 수를 6개로 정한 게 임의적인 선택인지, 실루엣 점수(클러스터링 품질을 재는 표준 지표)로 확인합니다.</a:t>
            </a:r>
          </a:p>
        </p:txBody>
      </p:sp>
      <p:pic>
        <p:nvPicPr>
          <p:cNvPr id="5" name="Picture 4" descr="09g_silhouette_by_k.png"/>
          <p:cNvPicPr>
            <a:picLocks noChangeAspect="1"/>
          </p:cNvPicPr>
          <p:nvPr/>
        </p:nvPicPr>
        <p:blipFill>
          <a:blip r:embed="rId2"/>
          <a:stretch>
            <a:fillRect/>
          </a:stretch>
        </p:blipFill>
        <p:spPr>
          <a:xfrm>
            <a:off x="3632813" y="1911461"/>
            <a:ext cx="4926067" cy="3163092"/>
          </a:xfrm>
          <a:prstGeom prst="rect">
            <a:avLst/>
          </a:prstGeom>
        </p:spPr>
      </p:pic>
      <p:sp>
        <p:nvSpPr>
          <p:cNvPr id="6" name="TextBox 5"/>
          <p:cNvSpPr txBox="1"/>
          <p:nvPr/>
        </p:nvSpPr>
        <p:spPr>
          <a:xfrm>
            <a:off x="1981047" y="5147706"/>
            <a:ext cx="8229600" cy="201168"/>
          </a:xfrm>
          <a:prstGeom prst="rect">
            <a:avLst/>
          </a:prstGeom>
          <a:noFill/>
        </p:spPr>
        <p:txBody>
          <a:bodyPr wrap="square">
            <a:spAutoFit/>
          </a:bodyPr>
          <a:lstStyle/>
          <a:p>
            <a:pPr algn="ctr"/>
            <a:r>
              <a:rPr sz="900" b="0">
                <a:solidFill>
                  <a:srgbClr val="5B6B70"/>
                </a:solidFill>
                <a:latin typeface="맑은 고딕"/>
              </a:rPr>
              <a:t>핵심: 점수가 가장 높은 건 k=2(0.111), k=6은 0.077로 중간 수준</a:t>
            </a:r>
          </a:p>
        </p:txBody>
      </p:sp>
      <p:sp>
        <p:nvSpPr>
          <p:cNvPr id="7" name="Rounded Rectangle 6"/>
          <p:cNvSpPr/>
          <p:nvPr/>
        </p:nvSpPr>
        <p:spPr>
          <a:xfrm>
            <a:off x="457200" y="5348874"/>
            <a:ext cx="5547207" cy="1037844"/>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k=6이 실루엣 점수 기준 객관적으로 '최적'은 아닙니다(k=2이 가장 높음). 다만 k를 2~12로 바꿔도 점수가 0.05~0.11 사이에서 완만하게만 변해서, 6이 유독 나쁜 선택도 아닙니다.</a:t>
            </a:r>
          </a:p>
        </p:txBody>
      </p:sp>
      <p:sp>
        <p:nvSpPr>
          <p:cNvPr id="8" name="Rounded Rectangle 7"/>
          <p:cNvSpPr/>
          <p:nvPr/>
        </p:nvSpPr>
        <p:spPr>
          <a:xfrm>
            <a:off x="6187287" y="5348874"/>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실루엣 점수 자체가 전반적으로 낮습니다(0.05~0.11). 관례상 0.25 미만이면 '뚜렷한 구조 없음'으로 보는 기준도 있어, 클러스터 구조가 통계적으로는 유의해도(앞 슬라이드) 강한 구조는 아니라는 뜻입니다.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 (원래 가설: 인구가 줄어든 동네라서 가격도 내렸을 것이다)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가설(인구감소→가격하락)을 검증하기 위해 실제 상관계수를 계산합니다 — 계산해보니 부호가 반대로(인구감소↔가격상승 방향) 나와서, 이게 진짜인지 확인합니다.</a:t>
            </a:r>
          </a:p>
        </p:txBody>
      </p:sp>
      <p:pic>
        <p:nvPicPr>
          <p:cNvPr id="5" name="Picture 4" descr="10_population_vs_price.png"/>
          <p:cNvPicPr>
            <a:picLocks noChangeAspect="1"/>
          </p:cNvPicPr>
          <p:nvPr/>
        </p:nvPicPr>
        <p:blipFill>
          <a:blip r:embed="rId2"/>
          <a:stretch>
            <a:fillRect/>
          </a:stretch>
        </p:blipFill>
        <p:spPr>
          <a:xfrm>
            <a:off x="4024206" y="1979858"/>
            <a:ext cx="4143282" cy="3053730"/>
          </a:xfrm>
          <a:prstGeom prst="rect">
            <a:avLst/>
          </a:prstGeom>
        </p:spPr>
      </p:pic>
      <p:sp>
        <p:nvSpPr>
          <p:cNvPr id="6" name="TextBox 5"/>
          <p:cNvSpPr txBox="1"/>
          <p:nvPr/>
        </p:nvSpPr>
        <p:spPr>
          <a:xfrm>
            <a:off x="1249527" y="5106741"/>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36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3629"/>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-0.108(음수 부호는 '인구가 늘수록 가격은 덜 올랐다', 즉 '인구가 줄수록 가격이 더 올랐다'는 방향입니다. p=0.10로 유의하지 않고), 보광동 하나를 빼면 -0.001로 사실상 사라집니다.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334670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15798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0.048,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찾음(r=0.048, p=0.434)</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