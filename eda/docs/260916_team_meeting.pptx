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예쁘게 요약한 결론만 보여드리는 게 아니라, 어떤 데이터로 어떻게 계산했는지 하나하나 같이 짚으면서 가겠습니다.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데이터로 확인한 그림 한두 장과 핵심 메시지를 같이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팀이 Railway Postgres에 올려둔 정제 테이블입니다. read-only 계정으로만 접속했기 때문에 이 작업으로 팀 데이터에 영향을 준 건 전혀 없습니다. 매매·전월세 원장이 각각 140만 건, 300만 건 정도고, 여기에 단지 정보·법정동 가격지수·정책 이벤트를 붙여서 분석했습니다.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분기(2006Q1부터 2026Q3까지), 세로축은 그 분기의 매매 거래 건수입니다. 빨간 점선은 2017년 8·2 대책 같은 규제 강화 시점, 초록 점선은 2023년 1월 규제지역 해제 시점입니다. 2022년에 거래량이 바닥까지 떨어졌다가 2023년 규제 해제 직후부터 반등하는 게 눈에 보입니다. 핵심은 '거래량은 정책 발표 시점에 거의 즉각 반응한다'는 것입니다.</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그래프는 2006년을 100으로 놓고 거래량과 단가가 각각 얼마나 커졌는지 지수화한 것입니다. 가로축은 연도, 세로축은 지수값이고, 하늘색이 거래량, 남색이 단가입니다. 두 선이 같이 우상향하지 않고 거래량(하늘색)이 훨씬 크게 출렁이는 걸 보실 수 있습니다. 방금 화면에서 말씀드린 것처럼 2022년에 거래량이 -71%까지 급감했는데 가격은 -3.3%밖에 안 빠졌어요. 즉 정책이나 금리가 바뀌면 사람들이 '거래를 하느냐 마느냐'는 크게 바뀌지만, 실제 체결가는 생각보다 덜 흔들린다는 뜻입니다.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2026년 거래의 ㎡당 단가 중앙값(만원), 세로축은 자치구입니다. 주황색이 강남3구(강남·서초·송파), 하늘색이 나머지 22개 구입니다. 강남구가 3,531만원으로 가장 낮은 도봉구(802만원)의 4.4배입니다. 같은 서울이라도 구 단위로 보면 이 정도 격차가 있다는 걸 먼저 보여드리는 그림입니다.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2025Q2에서 2026Q2까지 1년간 법정동 hedonic 가격지수의 변화율(%)이고, 세로축은 동 이름과 소속 구입니다. 초록이 상승, 빨강이 하락입니다. 눈여겨볼 점은, 앞 슬라이드에서 강남구가 가장 비싼 구였는데, 정작 강남구 안의 역삼동(-7.4%)·대치동(-5.0%)·압구정동(-1.7%)은 최근 1년 하락률 상위에 들어 있다는 겁니다. 반대로 용산구 보광동은 +38%로 가장 많이 올랐습니다. '구 평균이 오른다고 그 구의 모든 동이 다 오르는 게 아니다'라는 메시지입니다. 다만 이 지수는 같은 동 안에서의 시점 간 변화만 비교 가능하다는 점(동 간 수준 비교는 부적절)을 참고로 말씀드립니다.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준공 후 연차 구간(0~5년부터 40~60년까지), 세로축은 2024~2026년 거래의 ㎡당 단가 중앙값입니다. 신축(0~10년)이 비싸다가 10~40년 구간에서 떨어지고, 40년 이상 노후 단지에서 다시 가장 비싸지는 U자형입니다. 이건 재건축 기대감이 반영된 걸로 보이고, 다음 슬라이드에서 정비사업 단계별로 직접 확인해보겠습니다.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정비사업 진행 단계(구역지정부터 건축심의까지), 세로축은 정비사업 대상이 아닌 일반 단지를 0%로 놓았을 때의 단가 프리미엄(%)입니다. 건축심의 단계 단지가 154%로 가장 높고, 관리처분 단계가 오히려 34%로 낮게 나오는데, 이건 관리처분 단계에선 이미 이주가 진행 중이라 낡은 건물 상태 그대로 거래되는 경우가 많아서일 수 있습니다. 전체적으로 정비사업 초기~중기 단계에서 기대감이 가격에 크게 반영된다는 걸 보여줍니다.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단지에서 가장 가까운 지하철역까지 거리 구간, 세로축은 ㎡당 단가 중앙값입니다. 300m 이내가 1,466만원인데 2km를 넘어가면 687만원으로 거의 반토막입니다. 거리가 멀어질수록 단가가 계단식으로 낮아지는, 아주 뚜렷한 역세권 프리미엄입니다.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한강 조망 세대가 있는지 여부(O/X), 세로축은 ㎡당 단가입니다. 한강 조망이 있는 단지가 1,850만원, 없는 단지가 1,194만원으로 약 55% 차이가 납니다. 저희가 확인한 입지 요인 중에서 상관계수가 가장 높게(0.29) 나온 게 이 한강조망이었습니다. 반면 학교까지 거리는 생각보다 영향이 거의 없었는데, 이건 아마 '학군'이라는 게 물리적 거리보다 특정 동 전체의 평판이나 배정 학교 자체로 작동하기 때문일 것 같습니다. 그래프는 따로 안 붙였고 콜아웃으로만 짚었습니다.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층대(지하/1층부터 21층 이상까지), 세로축은 ㎡당 단가 중앙값입니다. 층이 높아질수록 계속 단가가 오르다가 21층 이상 구간에서 922만원으로 크게 뜁니다. 특히 최근 고층 대형 단지가 늘면서 고층 프리미엄이 뚜렷하게 나타난 것으로 보입니다.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전용면적 구간, 세로축은 ㎡당 단가 중앙값입니다. 흔히 '국민평형'이라 부르는 60~85㎡ 구간이 오히려 가장 싸고(612만원), 40㎡ 이하 소형(761만원)과 165㎡ 이상 대형(921만원) 양쪽 끝이 더 비싼 U자형입니다. 소형은 1인 가구·투자 수요가 몰리고, 대형은 희소성과 고급 수요가 붙어서 이런 모양이 나오는 것으로 보입니다.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분기의 전세가율'을 낮은 순서대로 5등분한 그룹(Q1~Q5), 세로축은 그 기점으로부터 1년 뒤 매매 가격지수가 평균 몇 % 올랐는지입니다. 전세가율이 낮은 동네보다 높은 동네가 이후 1년간 더 많이 올랐고, 5개 구간이 거의 순서대로 증가합니다. 다만 상관계수 자체는 0.135로 약한 수준이라 '전세가율이 높으면 반드시 오른다'가 아니라 '약한 신호 중 하나' 정도로 해석하는 게 맞습니다.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동에서 정비사업이 진행 중인 세대가 전체 재고 세대 대비 차지하는 비중(강도), 세로축은 그 동의 분기별 가격 변화율의 표준편차(변동성)입니다. 점 하나가 법정동 하나이고, 남색 직선은 추세선입니다. 오른쪽으로 갈수록(정비사업 비중이 클수록) 점들이 위로(변동성이 커지는 쪽으로) 향하는 걸 보실 수 있습니다. 상관계수는 0.21로 약하지만, '정비사업이 있다/없다'는 이분법보다 '얼마나 큰 비중으로 진행 중인가'가 변동성과 더 관련 있다는 걸 확인한 겁니다.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이벤트 4분기 뒤 상승한 동의 비율(%), 세로축은 동 간 방향이 가장 크게 갈린 이벤트 5개입니다. 50%에 가까울수록 '동네마다 반응이 반반으로 갈렸다'는 뜻이고, 점선이 50% 기준선입니다. 초록은 상승한 동이 더 많았던 이벤트, 빨강은 하락한 동이 더 많았던 이벤트입니다. 이 이벤트들에서는 '서울 전체가 같은 방향으로 움직였다'고 말하기 어렵고, 동별로 반응이 크게 갈렸다는 걸 알 수 있습니다. 다만 2008년 두 이벤트, 2010년 두 이벤트는 같은 분기에 겹쳐 있어서 어느 이벤트 때문인지는 분리할 수 없다는 한계가 있습니다.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이것도 김용진 님 제안('함께 움직이는 동 묶음 찾기')을 시도해본 것인데, 솔직히 이번엔 실패에 가깝습니다. 가로축은 클러스터 번호, 세로축은 그 클러스터에 속한 동 개수입니다. 6개로 나눴는데 195개 동 중 167개(85%)가 5번 클러스터 하나에 몰렸습니다. 원인은 상관계수를 계산할 때 표본이 부족해서 제외된 동이 하나라도 있는 분기를 통째로 버렸기 때문에, 41개 분기 중 24개만 남고 그마저 중간에 뻥 뚫려서(2021Q3 다음이 바로 2025Q1) 신호가 제대로 안 잡힌 것 같습니다.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축은 사전에 계획했던 게 아니라, 2번 축을 보다가 '강남구 평균은 오르는데 왜 역삼·대치동은 내려갔을까, 혹시 그 동네 인구가 줄어드는 중 아닐까' 하는 의문에서 새로 추가한 겁니다.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축에서 이미 계산해둔 동별 가격 변화율과 합쳤습니다. 참고로 이 인구 통계는 2022년 10월부터만 공식 집계되고, 한 번에 3개월까지만 조회할 수 있어서 이번엔 비교가 가능한 딱 두 분기(2025Q2, 2026Q2)만 받았습니다.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동의 1년간 인구 변화율(%), 세로축은 같은 기간 hedonic 가격지수 변화율(%)입니다. 점 하나가 법정동 하나(231개)이고, 남색 직선은 전체 추세선입니다. 직관적으로는 '인구가 늘어나는 동네가 수요가 많아서 가격도 더 오르지 않을까' 싶은데, 실제로는 정반대로 추세선이 오른쪽으로 갈수록(인구가 늘수록) 살짝 내려갑니다. 상관계수는 -0.114로 강하진 않지만 방향이 일관됩니다. 특히 빨간 점으로 표시한 용산구 보광동을 보시면, 인구가 1년 만에 26.5% 줄었는데(7,042명에서 5,178명으로) 가격은 조사한 동 중 가장 많이 올랐습니다(+38%). 반면 2번 축에서 봤던 강남구 역삼·대치·압구정동은 인구 변화가 거의 없었습니다(-0.2~-0.8% 수준) — 그러니까 강남구 내부의 가격 하락은 인구로는 설명이 안 되고, 인구 감소는 오히려 보광동처럼 정비사업으로 이주가 진행 중인 동네에서 뚜렷하게 나타났습니다.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2번 축에서 이름이 나왔던 동 5개만 따로 뽑은 겁니다. 보광동은 인구가 -26.5%로 압도적으로 많이 줄었고 가격은 +38%로 가장 많이 올랐습니다. 반면 나머지 강남구 4개 동은 인구 변화율이 -0.2%에서 -0.8% 사이로 서로 비슷비슷한데 가격은 수서동만 +28.7%로 오르고 나머지는 다 내려갔습니다. 즉 인구는 보광동 같은 극단적 사례는 설명하지만, 강남구 안에서 동마다 갈린 이유까지는 설명하지 못합니다. 콜아웃에 정리한 세 가지가 오늘 이 축에서 드리고 싶은 결론입니다: 전체적으로는 약한 역상관, 보광동은 정비사업 이주로 보이는 특수 사례, 강남구 내부 미스터리는 여전히 미해결이라는 것입니다.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9개 축을 한 줄씩 압축하면 이렇습니다. 가장 강조하고 싶은 두 가지는, 첫째 거래량이 가격보다 정책에 훨씬 민감하다는 것, 둘째 구 단위 평균만 보면 안 되고 동 단위로 봐야 실제로 어디가 오르고 내리는지 보인다는 것입니다.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특히 이벤트 관련 분석은 같은 시기에 여러 정책·금리 변화가 겹쳐 있어서 '이 이벤트 때문에'라고 단정하면 안 됩니다. 다음 단계로는 클러스터링을 다시 시도하고, 오늘 나온 요인들이 실제 모델 feature 설계에 참고가 될 만한지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9개 축 분석 — 시간·지역·단지·입지·매물·전세·이벤트</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338560" cy="2108708"/>
        </p:xfrm>
        <a:graphic>
          <a:graphicData uri="http://schemas.openxmlformats.org/drawingml/2006/table">
            <a:tbl>
              <a:tblPr firstRow="1" bandRow="1">
                <a:tableStyleId>{5C22544A-7EE6-4342-B048-85BDC9FD1C3A}</a:tableStyleId>
              </a:tblPr>
              <a:tblGrid>
                <a:gridCol w="3108960"/>
                <a:gridCol w="2743200"/>
                <a:gridCol w="548640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301244">
                <a:tc>
                  <a:txBody>
                    <a:bodyPr/>
                    <a:lstStyle/>
                    <a:p>
                      <a:pPr algn="l"/>
                      <a:r>
                        <a:rPr sz="1000" b="0">
                          <a:solidFill>
                            <a:srgbClr val="002632"/>
                          </a:solidFill>
                          <a:latin typeface="맑은 고딕"/>
                        </a:rPr>
                        <a:t>market_event / event_summary</a:t>
                      </a:r>
                    </a:p>
                  </a:txBody>
                  <a:tcPr anchor="ctr" marL="73152" marR="73152" marT="41148" marB="41148">
                    <a:solidFill>
                      <a:srgbClr val="FFFFFF"/>
                    </a:solidFill>
                  </a:tcPr>
                </a:tc>
                <a:tc>
                  <a:txBody>
                    <a:bodyPr/>
                    <a:lstStyle/>
                    <a:p>
                      <a:pPr algn="ctr"/>
                      <a:r>
                        <a:rPr sz="1000" b="0">
                          <a:solidFill>
                            <a:srgbClr val="002632"/>
                          </a:solidFill>
                          <a:latin typeface="맑은 고딕"/>
                        </a:rPr>
                        <a:t>49 / 49</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및 전후 요약</a:t>
                      </a:r>
                    </a:p>
                  </a:txBody>
                  <a:tcPr anchor="ctr" marL="73152" marR="73152" marT="41148" marB="41148">
                    <a:solidFill>
                      <a:srgbClr val="FFFFFF"/>
                    </a:solidFill>
                  </a:tcPr>
                </a:tc>
              </a:tr>
            </a:tbl>
          </a:graphicData>
        </a:graphic>
      </p:graphicFrame>
      <p:sp>
        <p:nvSpPr>
          <p:cNvPr id="5" name="TextBox 4"/>
          <p:cNvSpPr txBox="1"/>
          <p:nvPr/>
        </p:nvSpPr>
        <p:spPr>
          <a:xfrm>
            <a:off x="457200" y="3169412"/>
            <a:ext cx="11277295" cy="237744"/>
          </a:xfrm>
          <a:prstGeom prst="rect">
            <a:avLst/>
          </a:prstGeom>
          <a:noFill/>
        </p:spPr>
        <p:txBody>
          <a:bodyPr wrap="square">
            <a:spAutoFit/>
          </a:bodyPr>
          <a:lstStyle/>
          <a:p>
            <a:pPr algn="l"/>
            <a:r>
              <a:rPr sz="900" b="0">
                <a:solidFill>
                  <a:srgbClr val="5B6B70"/>
                </a:solidFill>
                <a:latin typeface="맑은 고딕"/>
              </a:rPr>
              <a:t>Railway Postgres, DATABASE_READONLY_URL로 조회. 원본은 국토부 실거래가 API·한국은행·서울 열린데이터광장.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a_quarterly_volume_events.png"/>
          <p:cNvPicPr>
            <a:picLocks noChangeAspect="1"/>
          </p:cNvPicPr>
          <p:nvPr/>
        </p:nvPicPr>
        <p:blipFill>
          <a:blip r:embed="rId2"/>
          <a:stretch>
            <a:fillRect/>
          </a:stretch>
        </p:blipFill>
        <p:spPr>
          <a:xfrm>
            <a:off x="2226106" y="1756014"/>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b_volume_vs_price_index.png"/>
          <p:cNvPicPr>
            <a:picLocks noChangeAspect="1"/>
          </p:cNvPicPr>
          <p:nvPr/>
        </p:nvPicPr>
        <p:blipFill>
          <a:blip r:embed="rId2"/>
          <a:stretch>
            <a:fillRect/>
          </a:stretch>
        </p:blipFill>
        <p:spPr>
          <a:xfrm>
            <a:off x="2226106" y="1757224"/>
            <a:ext cx="7739481" cy="3828183"/>
          </a:xfrm>
          <a:prstGeom prst="rect">
            <a:avLst/>
          </a:prstGeom>
        </p:spPr>
      </p:pic>
      <p:sp>
        <p:nvSpPr>
          <p:cNvPr id="5" name="Rounded Rectangle 4"/>
          <p:cNvSpPr/>
          <p:nvPr/>
        </p:nvSpPr>
        <p:spPr>
          <a:xfrm>
            <a:off x="457200" y="564027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a_gu_price_2026.png"/>
          <p:cNvPicPr>
            <a:picLocks noChangeAspect="1"/>
          </p:cNvPicPr>
          <p:nvPr/>
        </p:nvPicPr>
        <p:blipFill>
          <a:blip r:embed="rId2"/>
          <a:stretch>
            <a:fillRect/>
          </a:stretch>
        </p:blipFill>
        <p:spPr>
          <a:xfrm>
            <a:off x="3836913" y="1118128"/>
            <a:ext cx="4517868" cy="51063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b_dong_yoy_top_bottom.png"/>
          <p:cNvPicPr>
            <a:picLocks noChangeAspect="1"/>
          </p:cNvPicPr>
          <p:nvPr/>
        </p:nvPicPr>
        <p:blipFill>
          <a:blip r:embed="rId2"/>
          <a:stretch>
            <a:fillRect/>
          </a:stretch>
        </p:blipFill>
        <p:spPr>
          <a:xfrm>
            <a:off x="2822767" y="1118128"/>
            <a:ext cx="6546160" cy="510637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a_ag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b_redevelop_premium.png"/>
          <p:cNvPicPr>
            <a:picLocks noChangeAspect="1"/>
          </p:cNvPicPr>
          <p:nvPr/>
        </p:nvPicPr>
        <p:blipFill>
          <a:blip r:embed="rId2"/>
          <a:stretch>
            <a:fillRect/>
          </a:stretch>
        </p:blipFill>
        <p:spPr>
          <a:xfrm>
            <a:off x="3023162" y="1057777"/>
            <a:ext cx="6145370" cy="3718316"/>
          </a:xfrm>
          <a:prstGeom prst="rect">
            <a:avLst/>
          </a:prstGeom>
        </p:spPr>
      </p:pic>
      <p:sp>
        <p:nvSpPr>
          <p:cNvPr id="5" name="Rounded Rectangle 4"/>
          <p:cNvSpPr/>
          <p:nvPr/>
        </p:nvSpPr>
        <p:spPr>
          <a:xfrm>
            <a:off x="457200" y="4830958"/>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a_station_distanc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b_river_view_price.png"/>
          <p:cNvPicPr>
            <a:picLocks noChangeAspect="1"/>
          </p:cNvPicPr>
          <p:nvPr/>
        </p:nvPicPr>
        <p:blipFill>
          <a:blip r:embed="rId2"/>
          <a:stretch>
            <a:fillRect/>
          </a:stretch>
        </p:blipFill>
        <p:spPr>
          <a:xfrm>
            <a:off x="4064345" y="1057777"/>
            <a:ext cx="4063003"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초·중·고등학교까지 거리는 단가와의 상관계수가 -0.07~-0.04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a_floor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b_area_price.png"/>
          <p:cNvPicPr>
            <a:picLocks noChangeAspect="1"/>
          </p:cNvPicPr>
          <p:nvPr/>
        </p:nvPicPr>
        <p:blipFill>
          <a:blip r:embed="rId2"/>
          <a:stretch>
            <a:fillRect/>
          </a:stretch>
        </p:blipFill>
        <p:spPr>
          <a:xfrm>
            <a:off x="2478481" y="1683416"/>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전세가율은 약한 선행지표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_jeonse_ratio_future_change.png"/>
          <p:cNvPicPr>
            <a:picLocks noChangeAspect="1"/>
          </p:cNvPicPr>
          <p:nvPr/>
        </p:nvPicPr>
        <p:blipFill>
          <a:blip r:embed="rId2"/>
          <a:stretch>
            <a:fillRect/>
          </a:stretch>
        </p:blipFill>
        <p:spPr>
          <a:xfrm>
            <a:off x="3377125" y="1057777"/>
            <a:ext cx="5437444" cy="3718316"/>
          </a:xfrm>
          <a:prstGeom prst="rect">
            <a:avLst/>
          </a:prstGeom>
        </p:spPr>
      </p:pic>
      <p:sp>
        <p:nvSpPr>
          <p:cNvPr id="5" name="Rounded Rectangle 4"/>
          <p:cNvSpPr/>
          <p:nvPr/>
        </p:nvSpPr>
        <p:spPr>
          <a:xfrm>
            <a:off x="457200" y="4830958"/>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전세가율 하위 20% 동은 1년 뒤 매매지수가 평균 6.3% 오른 반면, 상위 20% 동은 10.4% 올라 약 1.6배 차이(상관계수 0.135).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7_redevelop_intensity_volatility.png"/>
          <p:cNvPicPr>
            <a:picLocks noChangeAspect="1"/>
          </p:cNvPicPr>
          <p:nvPr/>
        </p:nvPicPr>
        <p:blipFill>
          <a:blip r:embed="rId2"/>
          <a:stretch>
            <a:fillRect/>
          </a:stretch>
        </p:blipFill>
        <p:spPr>
          <a:xfrm>
            <a:off x="2899105" y="1286404"/>
            <a:ext cx="6393484" cy="476982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8_low_consensus_events.png"/>
          <p:cNvPicPr>
            <a:picLocks noChangeAspect="1"/>
          </p:cNvPicPr>
          <p:nvPr/>
        </p:nvPicPr>
        <p:blipFill>
          <a:blip r:embed="rId2"/>
          <a:stretch>
            <a:fillRect/>
          </a:stretch>
        </p:blipFill>
        <p:spPr>
          <a:xfrm>
            <a:off x="3066906" y="1057777"/>
            <a:ext cx="6057882" cy="3718316"/>
          </a:xfrm>
          <a:prstGeom prst="rect">
            <a:avLst/>
          </a:prstGeom>
        </p:spPr>
      </p:pic>
      <p:sp>
        <p:nvSpPr>
          <p:cNvPr id="5" name="Rounded Rectangle 4"/>
          <p:cNvSpPr/>
          <p:nvPr/>
        </p:nvSpPr>
        <p:spPr>
          <a:xfrm>
            <a:off x="457200" y="4812670"/>
            <a:ext cx="11277295" cy="777240"/>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출처</a:t>
            </a:r>
          </a:p>
          <a:p>
            <a:pPr algn="l">
              <a:lnSpc>
                <a:spcPct val="130000"/>
              </a:lnSpc>
            </a:pPr>
            <a:r>
              <a:rPr sz="1050" b="0">
                <a:solidFill>
                  <a:srgbClr val="002632"/>
                </a:solidFill>
                <a:latin typeface="맑은 고딕"/>
              </a:rPr>
              <a:t>김용진 님 EDA 제안 문서(eda_filelist.md)의 관점을 반영. 같은 분기에 겹치는 이벤트(2008년 R1·P19, 2010년 R3·P20)는 개별 효과로 분리 해석할 수 없다는 점에 유의.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9_cluster_size_imbalance.png"/>
          <p:cNvPicPr>
            <a:picLocks noChangeAspect="1"/>
          </p:cNvPicPr>
          <p:nvPr/>
        </p:nvPicPr>
        <p:blipFill>
          <a:blip r:embed="rId2"/>
          <a:stretch>
            <a:fillRect/>
          </a:stretch>
        </p:blipFill>
        <p:spPr>
          <a:xfrm>
            <a:off x="3476880" y="1057777"/>
            <a:ext cx="5237934"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이번엔 해석 가능한 결과를 못 얻었습니다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봤나</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 주는 동보다 오히려 줄어드는 동이 더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10_population_vs_price.png"/>
          <p:cNvPicPr>
            <a:picLocks noChangeAspect="1"/>
          </p:cNvPicPr>
          <p:nvPr/>
        </p:nvPicPr>
        <p:blipFill>
          <a:blip r:embed="rId2"/>
          <a:stretch>
            <a:fillRect/>
          </a:stretch>
        </p:blipFill>
        <p:spPr>
          <a:xfrm>
            <a:off x="2899105" y="1236269"/>
            <a:ext cx="6393484" cy="48700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보광동은 인구 급감 + 가격 급등, 강남구 미스터리는 미해결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graphicFrame>
        <p:nvGraphicFramePr>
          <p:cNvPr id="4" name="Table 3"/>
          <p:cNvGraphicFramePr>
            <a:graphicFrameLocks noGrp="1"/>
          </p:cNvGraphicFramePr>
          <p:nvPr/>
        </p:nvGraphicFramePr>
        <p:xfrm>
          <a:off x="457200" y="1042416"/>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38.0%</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-5.0%</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-0.8%</a:t>
                      </a:r>
                    </a:p>
                  </a:txBody>
                  <a:tcPr anchor="ctr" marL="73152" marR="73152" marT="41148" marB="41148">
                    <a:solidFill>
                      <a:srgbClr val="F3F6F6"/>
                    </a:solidFill>
                  </a:tcPr>
                </a:tc>
                <a:tc>
                  <a:txBody>
                    <a:bodyPr/>
                    <a:lstStyle/>
                    <a:p>
                      <a:pPr algn="ctr"/>
                      <a:r>
                        <a:rPr sz="1000" b="0">
                          <a:solidFill>
                            <a:srgbClr val="002632"/>
                          </a:solidFill>
                          <a:latin typeface="맑은 고딕"/>
                        </a:rPr>
                        <a:t>-1.7%</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-0.7%</a:t>
                      </a:r>
                    </a:p>
                  </a:txBody>
                  <a:tcPr anchor="ctr" marL="73152" marR="73152" marT="41148" marB="41148">
                    <a:solidFill>
                      <a:srgbClr val="FFFFFF"/>
                    </a:solidFill>
                  </a:tcPr>
                </a:tc>
                <a:tc>
                  <a:txBody>
                    <a:bodyPr/>
                    <a:lstStyle/>
                    <a:p>
                      <a:pPr algn="ctr"/>
                      <a:r>
                        <a:rPr sz="1000" b="0">
                          <a:solidFill>
                            <a:srgbClr val="002632"/>
                          </a:solidFill>
                          <a:latin typeface="맑은 고딕"/>
                        </a:rPr>
                        <a:t>28.7%</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-0.2%</a:t>
                      </a:r>
                    </a:p>
                  </a:txBody>
                  <a:tcPr anchor="ctr" marL="73152" marR="73152" marT="41148" marB="41148">
                    <a:solidFill>
                      <a:srgbClr val="F3F6F6"/>
                    </a:solidFill>
                  </a:tcPr>
                </a:tc>
                <a:tc>
                  <a:txBody>
                    <a:bodyPr/>
                    <a:lstStyle/>
                    <a:p>
                      <a:pPr algn="ctr"/>
                      <a:r>
                        <a:rPr sz="1000" b="0">
                          <a:solidFill>
                            <a:srgbClr val="002632"/>
                          </a:solidFill>
                          <a:latin typeface="맑은 고딕"/>
                        </a:rPr>
                        <a:t>-7.4%</a:t>
                      </a:r>
                    </a:p>
                  </a:txBody>
                  <a:tcPr anchor="ctr" marL="73152" marR="73152" marT="41148" marB="41148">
                    <a:solidFill>
                      <a:srgbClr val="F3F6F6"/>
                    </a:solidFill>
                  </a:tcPr>
                </a:tc>
              </a:tr>
            </a:tbl>
          </a:graphicData>
        </a:graphic>
      </p:graphicFrame>
      <p:sp>
        <p:nvSpPr>
          <p:cNvPr id="5" name="TextBox 4"/>
          <p:cNvSpPr txBox="1"/>
          <p:nvPr/>
        </p:nvSpPr>
        <p:spPr>
          <a:xfrm>
            <a:off x="457200" y="2941320"/>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6" name="Rounded Rectangle 5"/>
          <p:cNvSpPr/>
          <p:nvPr/>
        </p:nvSpPr>
        <p:spPr>
          <a:xfrm>
            <a:off x="457200" y="3270504"/>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 변화와 가격 변화는 약한 음의 상관(-0.114) — 늘어난 동네가 아니라 줄어든 동네가 더 오르는 경향. ② 보광동처럼 극단적 인구 감소는 정비사업 이주로 추정되며, 3·7번 축의 '정비사업 프리미엄' 결과와 같은 방향. ③ 다만 강남구 내부 미스터리(역삼·대치·압구정 하락)는 인구로 설명되지 않음 — 인구 변화가 다들 -1% 안팎으로 비슷했음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&gt; 가격 민감도  </a:t>
            </a:r>
            <a:r>
              <a:rPr sz="1050" b="0">
                <a:solidFill>
                  <a:srgbClr val="5B6B70"/>
                </a:solidFill>
                <a:latin typeface="맑은 고딕"/>
              </a:rPr>
              <a:t>정책·금리 변화에 거래량이 가격보다 훨씬 크게, 빠르게 반응한다</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평균은 오르지만 역삼·대치동은 최근 1년 하락 — 동 단위로 봐야 함</a:t>
            </a:r>
          </a:p>
          <a:p>
            <a:pPr algn="l" marL="109728">
              <a:lnSpc>
                <a:spcPct val="125000"/>
              </a:lnSpc>
              <a:spcAft>
                <a:spcPts val="400"/>
              </a:spcAft>
            </a:pPr>
            <a:r>
              <a:rPr sz="1050" b="1">
                <a:solidFill>
                  <a:srgbClr val="002632"/>
                </a:solidFill>
                <a:latin typeface="맑은 고딕"/>
              </a:rPr>
              <a:t>· 입지 요인 중 최강은 한강조망  </a:t>
            </a:r>
            <a:r>
              <a:rPr sz="1050" b="0">
                <a:solidFill>
                  <a:srgbClr val="5B6B70"/>
                </a:solidFill>
                <a:latin typeface="맑은 고딕"/>
              </a:rPr>
              <a:t>역세권(-0.17)보다 한강조망(0.29) 상관이 더 강함</a:t>
            </a:r>
          </a:p>
          <a:p>
            <a:pPr algn="l" marL="109728">
              <a:lnSpc>
                <a:spcPct val="125000"/>
              </a:lnSpc>
              <a:spcAft>
                <a:spcPts val="400"/>
              </a:spcAft>
            </a:pPr>
            <a:r>
              <a:rPr sz="1050" b="1">
                <a:solidFill>
                  <a:srgbClr val="002632"/>
                </a:solidFill>
                <a:latin typeface="맑은 고딕"/>
              </a:rPr>
              <a:t>· 정비사업은 '유무'보다 '강도'  </a:t>
            </a:r>
            <a:r>
              <a:rPr sz="1050" b="0">
                <a:solidFill>
                  <a:srgbClr val="5B6B70"/>
                </a:solidFill>
                <a:latin typeface="맑은 고딕"/>
              </a:rPr>
              <a:t>이분법적 진행 여부보다 진행 규모가 가격 변동성과 더 관련</a:t>
            </a:r>
          </a:p>
          <a:p>
            <a:pPr algn="l" marL="109728">
              <a:lnSpc>
                <a:spcPct val="125000"/>
              </a:lnSpc>
              <a:spcAft>
                <a:spcPts val="400"/>
              </a:spcAft>
            </a:pPr>
            <a:r>
              <a:rPr sz="1050" b="1">
                <a:solidFill>
                  <a:srgbClr val="002632"/>
                </a:solidFill>
                <a:latin typeface="맑은 고딕"/>
              </a:rPr>
              <a:t>· 전세가율은 약한 선행 신호  </a:t>
            </a:r>
            <a:r>
              <a:rPr sz="1050" b="0">
                <a:solidFill>
                  <a:srgbClr val="5B6B70"/>
                </a:solidFill>
                <a:latin typeface="맑은 고딕"/>
              </a:rPr>
              <a:t>상관 0.135로 약하지만 5분위 전 구간에서 일관되게 방향이 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a:t>
            </a:r>
          </a:p>
          <a:p>
            <a:pPr algn="l">
              <a:lnSpc>
                <a:spcPct val="130000"/>
              </a:lnSpc>
            </a:pPr>
            <a:r>
              <a:rPr sz="1050" b="0">
                <a:solidFill>
                  <a:srgbClr val="002632"/>
                </a:solidFill>
                <a:latin typeface="맑은 고딕"/>
              </a:rPr>
              <a:t>이벤트-가격 관계는 상관일 뿐 인과가 아님(같은 시기 금리·규제·정권 변화가 겹침). 일부 지표(학군거리, 정비사업 유무)는 상관이 약해 추가 변수 없이는 결론짓기 어려움. 9번 축(클러스터링)은 방법론 재설계가 필요함.</a:t>
            </a:r>
          </a:p>
        </p:txBody>
      </p:sp>
      <p:sp>
        <p:nvSpPr>
          <p:cNvPr id="5" name="Rounded Rectangle 4"/>
          <p:cNvSpPr/>
          <p:nvPr/>
        </p:nvSpPr>
        <p:spPr>
          <a:xfrm>
            <a:off x="457200" y="198424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드러난 요인(정비사업 강도, 한강조망)이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