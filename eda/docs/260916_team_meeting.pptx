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1번은 다른 축들과 성격이 조금 다른데, 2~9번은 각각 '이 요소가 가격에 영향을 주는가'를 직접 테스트한 것이지만, 1번은 '가격이 시간·정책 충격에 원래 얼마나 민감한 값인지' 배경을 확인한 것이라 따로 (배경)이라고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 이 발견 자체는 '가격에 영향을 주는 요소'는 아니고, '가격이라는 값이 원래 얼마나 잘 안 흔들리는지'를 보여주는 배경 정보에 가깝습니다. 이게 오늘 EDA와 관련 있는 이유는 두 가지입니다 — ① 정책·금리 같은 큰 충격이 와도 가격 자체는 잘 안 흔들리니, 뒤에서 어떤 요소를 찾아도 그게 가격을 크게 움직일 가능성 자체가 원래 낮다는 걸 미리 알아두는 것이고, ② 거래량 변화가 나중에 가격 변화를 예측하는 데 쓸 수 있는 선행 신호가 될 수도 있다는 힌트입니다.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'단가 프리미엄(웃돈, %)'입니다 — 정비사업과 무관한 일반 단지('해당없음')의 ㎡당 매매가 중앙값을 0%(기준선)로 놓고, 각 단계 단지의 ㎡당 매매가 중앙값이 그 기준선보다 몇 % 더 비싼지를 나타낸 값입니다. 예를 들어 '건축심의 154%'는 건축심의 단계 단지가 일반 단지보다 ㎡당 가격이 2.5배(154% 더) 비싸다는 뜻입니다. '프리미엄'을 '웃돈'(기본 가격 위에 얹어서 더 내는 돈이라는 일상 표현)으로 풀어 썼습니다. 계산은 DB의 두 테이블을 합쳐서 했습니다 — 매매 실거래 테이블(2024~2026년 거래, 취소 건 제외)에서 거래가를 전용면적으로 나눠 ㎡당 단가를 만들고, 단지 정보 테이블의 정비사업 진행 단계 항목과 단지 ID로 묶은 뒤, 진행 단계별로 ㎡당 단가 중앙값을 구해 '해당없음' 대비 몇 % 차이 나는지 계산했습니다.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왼쪽 그림은 한강 조망 세대가 있는지 여부(O/X)별 ㎡당 단가이고, 오른쪽 그림은 그 근거를 직접 보여주기 위해 추가한 것으로 초등학교까지 거리 구간별 ㎡당 단가입니다(막대 위 n=거래 건수).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초등학교까지 거리는 상관계수가 거의 0에 가까웠는데(-0.007), 오른쪽 그림에서도 표본이 충분히 큰 세 구간(&lt;300m·300-500m·500-800m, 각 2만5천 건 이상)의 단가가 1,330~1,360만원으로 거의 평평해서 이 상관계수와 일치합니다. 800m 이상 구간은 튀는 값이 있지만 표본이 훨씬 작아(1,441건, 64건) 참고용으로만 봐야 합니다.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이 통념의 논리는 이렇습니다 — 전세가는 순수하게 '이 집에 살고 싶다'는 거주 가치만 반영된 값이라고 봅니다(세입자는 나중에 집값이 오르든 내리든 자기 집이 아니니 상관없이 거주 가치에만 값을 매기니까요). 반면 매매가는 거주 가치에 '앞으로 이 집값이 오를 것'이라는 기대(투자 프리미엄)까지 얹힌 값이라고 봅니다. 그래서 매매가와 전세가의 차이('갭')가 작다, 즉 전세가율이 높다는 건 매매가에 낀 미래 기대(거품)가 별로 없다 — 거주 가치에 가깝게 저평가돼 있다는 뜻으로 해석되고, 반대로 갭이 크면(전세가율 낮으면) 이미 기대가 많이 반영돼 고평가됐다고 봅니다('갭투자'라는 말도 이 갭이 작을수록 투자금이 적게 든다는 데서 나온 표현입니다). 이건 어디까지나 투자자들 사이의 통념이고, 그 통념이 실제 데이터에서 맞는지 확인하는 게 이 슬라이드입니다.</a:t>
            </a:r>
          </a:p>
          <a:p/>
          <a:p>
            <a:r>
              <a:t>② 뭘로 측정했나: 이 분석은 '동 하나 + 분기 하나'의 조합을 관찰 단위 하나로 씁니다. 예를 들면 '역삼동의 2020년 1분기', '대치동의 2019년 3분기'처럼요. 이런 조합이 서울 전체에 걸쳐 수백~수천 개 있는데, 그 하나하나를 '기점'(비교의 출발점)이라고 부릅니다. '역삼동 2020년 1분기'가 기점이면, 그 시점의 역삼동 전세가율을 구하고, 거기서부터 1년 뒤(2021년 1분기)까지 역삼동 가격이 몇 % 올랐는지를 구해서 한 쌍으로 기록합니다. 이 작업을 가능한 모든 (동, 분기) 조합에 반복한 뒤, 그 수많은 기점들을 '그 시점의 전세가율'이 낮은 순서대로 5등분한 그룹(Q1~Q5)이 가로축이고, 세로축은 각 그룹에 속한 기점들이 1년 뒤 평균 몇 % 올랐는지 입니다. 표본이 너무 적은 동·분기는 지수 자체의 신뢰도가 낮아서, 그 기점 기준 직전 4분기 매매 거래가 20건 이상인 경우만 포함했습니다.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슬라이드(14번)는 여러 해를 다 섞어서 평균 낸 결과였습니다. 그 관계가 '매년 똑같이' 나타나는 안정적인 관계인지, 아니면 특정 해에만 있던 우연인지 확인하려는 그래프입니다.</a:t>
            </a:r>
          </a:p>
          <a:p/>
          <a:p>
            <a:r>
              <a:t>② 뭘로 측정했나: 앞 슬라이드에서 설명한 '동+분기' 기점들을, 이번엔 5등분하지 않고 '2011년에 시작한 것들끼리', '2015년에 시작한 것들끼리'처럼 시작 연도별로 따로 묶었습니다. 그리고 각 연도 그룹 안에서만 전세가율-미래상승률 상관관계를 따로 구했습니다. 가로축이 그 시작 연도, 세로축이 그 연도만의 상관계수입니다.</a:t>
            </a:r>
          </a:p>
          <a:p/>
          <a:p>
            <a:r>
              <a:t>③ 결과가 뭐였나: 2011·2018·2021·2022년에 시작한 것들은 통념대로 '전세가율 높을수록 더 올랐다'(양의 관계, 초록색)로 나왔지만, 2015~2017년·2019년·2023~2025년에 시작한 것들은 정반대로 '전세가율 높을수록 오히려 덜 올랐다'(음의 관계, 빨간색)로 나왔습니다. 특히 2024년은 -0.507로 꽤 강하게 반대 방향이었습니다.</a:t>
            </a:r>
          </a:p>
          <a:p/>
          <a:p>
            <a:r>
              <a:t>④ 어떻게 해석하나: 그러니까 앞 슬라이드(14번)에서 본 상관계수 0.15는 '매년 이런 관계가 있다'는 뜻이 아니라, 이렇게 해마다 왔다 갔다 하는 걸 전부 평균 낸 결과일 뿐이었던 겁니다. 왜 이렇게 뒤집히는지는, 그 해 시장 전체가 오르는 시기인지 내리는 시기인지(시장 국면)가 전세가율과 미래 가격 양쪽에 동시에 영향을 줘서 생기는 착시일 가능성이 있습니다. 정리하면, 전세가율로 '이 동네가 오를 거다'를 예측하는 건 믿을 만한 방법이 아니라는 게 이 두 슬라이드의 결론입니다.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'표준편차'는 숫자들이 평균에서 얼마나 들쭉날쭉 흩어져 있는지 보여주는 값입니다 — 표준편차가 크면 분기마다 가격이 크게 출렁였다는 뜻이고, 작으면 비교적 꾸준했다는 뜻입니다.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성북구·구로구·노원구 등 상대적으로 외곽 지역이 많았습니다.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어떤 동네인지(성향)와 최근 실제로 얼마나 올랐는지(모멘텀)를 같이 봐야 '이런 유형의 동네가 유망하다'는 판단이 가능합니다. 이 슬라이드가 그 연결고리입니다.</a:t>
            </a:r>
          </a:p>
          <a:p/>
          <a:p>
            <a:r>
              <a:t>② 뭘로 측정했나: 9번 축에서 나눈 6개 클러스터 각각에 대해, 그 클러스터에 속한 동들의 평균 ㎡당 단가, 한강조망 비율, 정비사업 강도(입지·성향 지표)를 계산했습니다. 그리고 09번 축에서 이미 구했던 '시장 대비 초과 변화율'(그 분기 서울 평균보다 더/덜 오른 정도)을 최근 4개 분기 합산해 '최근 1년간 시장 대비 몇 % 더/덜 올랐는지'로 바꿔서 같이 봤습니다. 그림은 가로축이 가격 수준, 세로축이 이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낮은(0.22)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'이게 실제로 매매가에 영향을 주는 요인이라고 부를 수 있는가' 기준으로 정리한 표입니다. 1번(배경)은 요인 탐색이 아니라서 판정에서 제외했고, 나머지는 단순 비교뿐 아니라 다변량 회귀(여러 요인을 동시에 통제한 분석, 별도 자료)에서도 재확인됐는지까지 반영해 '확정 요인'과 '부분 요인'을 구분했습니다. 이 슬라이드는 2번(지역)부터 4번(입지) 앞부분까지고, 다음 슬라이드에 나머지를 이어서 정리했습니다.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나머지 축을 이어서 정리했습니다. 중학교거리·전세가율·정비사업강도·인구변화는 요인으로 채택하기 어렵고, 특정 이벤트는 원인을 하나로 특정할 수 없었습니다. 면적은 '요인이 아니다'가 아니라 '이번 선형 회귀 설계로는 못 잡았다'는 게 정확한 표현이라 따로 '판단 보류'로 뒀습니다. 종합하면, 오늘 근거가 가장 단단하게 남은 요인은 지역·준공연차·정비사업단계(초중기)·역세권·한강조망·초등학교거리·고등학교거리·층수이고, 이 7~8개가 모델 feature 우선순위의 기본 후보라고 보시면 됩니다.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(배경) 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정책·금리 시점과 거래량이 겹쳐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2900437" y="1911461"/>
            <a:ext cx="6390820" cy="3163092"/>
          </a:xfrm>
          <a:prstGeom prst="rect">
            <a:avLst/>
          </a:prstGeom>
        </p:spPr>
      </p:pic>
      <p:sp>
        <p:nvSpPr>
          <p:cNvPr id="6" name="TextBox 5"/>
          <p:cNvSpPr txBox="1"/>
          <p:nvPr/>
        </p:nvSpPr>
        <p:spPr>
          <a:xfrm>
            <a:off x="883767" y="5147706"/>
            <a:ext cx="1042416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거래량과 단가, 어느 쪽이 더 크게 출렁이는가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2940936" y="1909632"/>
            <a:ext cx="6309821" cy="3121030"/>
          </a:xfrm>
          <a:prstGeom prst="rect">
            <a:avLst/>
          </a:prstGeom>
        </p:spPr>
      </p:pic>
      <p:sp>
        <p:nvSpPr>
          <p:cNvPr id="6" name="TextBox 5"/>
          <p:cNvSpPr txBox="1"/>
          <p:nvPr/>
        </p:nvSpPr>
        <p:spPr>
          <a:xfrm>
            <a:off x="883767" y="5103815"/>
            <a:ext cx="104241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자치구별 가격 수준은 얼마나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715181" y="1909632"/>
            <a:ext cx="2761333" cy="3121030"/>
          </a:xfrm>
          <a:prstGeom prst="rect">
            <a:avLst/>
          </a:prstGeom>
        </p:spPr>
      </p:pic>
      <p:sp>
        <p:nvSpPr>
          <p:cNvPr id="6" name="TextBox 5"/>
          <p:cNvSpPr txBox="1"/>
          <p:nvPr/>
        </p:nvSpPr>
        <p:spPr>
          <a:xfrm>
            <a:off x="1432407" y="5103815"/>
            <a:ext cx="93268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 안에서 동별 편차가 실제로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066937" y="1911461"/>
            <a:ext cx="4057820"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준공연차는 가격과 어떤 관계인가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단지는 프리미엄을 받는가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516738" y="1909632"/>
            <a:ext cx="5158218"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거리가 가까울수록 실제로 비싼가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입지 요인 중 가격과 가장 밀접한 건 무엇인가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vs_school_distance.png"/>
          <p:cNvPicPr>
            <a:picLocks noChangeAspect="1"/>
          </p:cNvPicPr>
          <p:nvPr/>
        </p:nvPicPr>
        <p:blipFill>
          <a:blip r:embed="rId2"/>
          <a:stretch>
            <a:fillRect/>
          </a:stretch>
        </p:blipFill>
        <p:spPr>
          <a:xfrm>
            <a:off x="2522249" y="1909632"/>
            <a:ext cx="7147196" cy="3121030"/>
          </a:xfrm>
          <a:prstGeom prst="rect">
            <a:avLst/>
          </a:prstGeom>
        </p:spPr>
      </p:pic>
      <p:sp>
        <p:nvSpPr>
          <p:cNvPr id="6" name="TextBox 5"/>
          <p:cNvSpPr txBox="1"/>
          <p:nvPr/>
        </p:nvSpPr>
        <p:spPr>
          <a:xfrm>
            <a:off x="700887" y="5103815"/>
            <a:ext cx="10789920" cy="201168"/>
          </a:xfrm>
          <a:prstGeom prst="rect">
            <a:avLst/>
          </a:prstGeom>
          <a:noFill/>
        </p:spPr>
        <p:txBody>
          <a:bodyPr wrap="square">
            <a:spAutoFit/>
          </a:bodyPr>
          <a:lstStyle/>
          <a:p>
            <a:pPr algn="ctr"/>
            <a:r>
              <a:rPr sz="900" b="0">
                <a:solidFill>
                  <a:srgbClr val="5B6B70"/>
                </a:solidFill>
                <a:latin typeface="맑은 고딕"/>
              </a:rPr>
              <a:t>핵심: 한강조망은 뚜렷한 차이(+55%), 초등학교 거리는 표본이 큰 구간(왼쪽 3개)에서 거의 평평함</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가격에 영향을 주는가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면적대별로 ㎡당 가격은 어떻게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217918" y="1911461"/>
            <a:ext cx="5755857"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높은 동네가 1년 뒤 매매가도 더 오르는가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3783088" y="1911461"/>
            <a:ext cx="4625518" cy="3163092"/>
          </a:xfrm>
          <a:prstGeom prst="rect">
            <a:avLst/>
          </a:prstGeom>
        </p:spPr>
      </p:pic>
      <p:sp>
        <p:nvSpPr>
          <p:cNvPr id="6" name="TextBox 5"/>
          <p:cNvSpPr txBox="1"/>
          <p:nvPr/>
        </p:nvSpPr>
        <p:spPr>
          <a:xfrm>
            <a:off x="1523847" y="5147706"/>
            <a:ext cx="914400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전세가율-가격 관계는 해마다 안정적인가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483177" y="1911461"/>
            <a:ext cx="5225340"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강도가 가격 변동성과 관련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047194" y="1909632"/>
            <a:ext cx="4097305"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r=0.009(p=0.889)입니다. p값이 크다고 '관계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동네 반응 차이의 원인을 이벤트 하나로 특정할 수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553455" y="1909632"/>
            <a:ext cx="5084783" cy="3121030"/>
          </a:xfrm>
          <a:prstGeom prst="rect">
            <a:avLst/>
          </a:prstGeom>
        </p:spPr>
      </p:pic>
      <p:sp>
        <p:nvSpPr>
          <p:cNvPr id="6" name="TextBox 5"/>
          <p:cNvSpPr txBox="1"/>
          <p:nvPr/>
        </p:nvSpPr>
        <p:spPr>
          <a:xfrm>
            <a:off x="1158087" y="5103815"/>
            <a:ext cx="98755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시장 공통 흐름을 빼도 함께 움직이는 동 그룹이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2249137" y="1909632"/>
            <a:ext cx="7693420" cy="3121030"/>
          </a:xfrm>
          <a:prstGeom prst="rect">
            <a:avLst/>
          </a:prstGeom>
        </p:spPr>
      </p:pic>
      <p:sp>
        <p:nvSpPr>
          <p:cNvPr id="6" name="TextBox 5"/>
          <p:cNvSpPr txBox="1"/>
          <p:nvPr/>
        </p:nvSpPr>
        <p:spPr>
          <a:xfrm>
            <a:off x="792327" y="5103815"/>
            <a:ext cx="1060704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7" name="Rounded Rectangle 6"/>
          <p:cNvSpPr/>
          <p:nvPr/>
        </p:nvSpPr>
        <p:spPr>
          <a:xfrm>
            <a:off x="457200" y="5350703"/>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535070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각 동 그룹은 어떤 동네이고 최근 얼마나 올랐는가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가졌고 최근 얼마나 올랐는지까지 확인합니다.</a:t>
            </a:r>
          </a:p>
        </p:txBody>
      </p:sp>
      <p:graphicFrame>
        <p:nvGraphicFramePr>
          <p:cNvPr id="5" name="Table 4"/>
          <p:cNvGraphicFramePr>
            <a:graphicFrameLocks noGrp="1"/>
          </p:cNvGraphicFramePr>
          <p:nvPr/>
        </p:nvGraphicFramePr>
        <p:xfrm>
          <a:off x="457200" y="184708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0.22</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0.58</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0.20</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0.21</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0.47</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0.46</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4723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pic>
        <p:nvPicPr>
          <p:cNvPr id="7" name="Picture 6" descr="14_cluster_profile_price_vs_momentum.png"/>
          <p:cNvPicPr>
            <a:picLocks noChangeAspect="1"/>
          </p:cNvPicPr>
          <p:nvPr/>
        </p:nvPicPr>
        <p:blipFill>
          <a:blip r:embed="rId2"/>
          <a:stretch>
            <a:fillRect/>
          </a:stretch>
        </p:blipFill>
        <p:spPr>
          <a:xfrm>
            <a:off x="5726221" y="4346204"/>
            <a:ext cx="739252" cy="566908"/>
          </a:xfrm>
          <a:prstGeom prst="rect">
            <a:avLst/>
          </a:prstGeom>
        </p:spPr>
      </p:pic>
      <p:sp>
        <p:nvSpPr>
          <p:cNvPr id="8" name="TextBox 7"/>
          <p:cNvSpPr txBox="1"/>
          <p:nvPr/>
        </p:nvSpPr>
        <p:spPr>
          <a:xfrm>
            <a:off x="3078327" y="4986263"/>
            <a:ext cx="6035040" cy="201168"/>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9" name="Rounded Rectangle 8"/>
          <p:cNvSpPr/>
          <p:nvPr/>
        </p:nvSpPr>
        <p:spPr>
          <a:xfrm>
            <a:off x="457200" y="5205719"/>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10" name="Rounded Rectangle 9"/>
          <p:cNvSpPr/>
          <p:nvPr/>
        </p:nvSpPr>
        <p:spPr>
          <a:xfrm>
            <a:off x="6187287" y="5205719"/>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강남구 내 동별 가격 차이는 인구 변화 때문인가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 감소와 가격 상승은 실제로 겹치는가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3978550" y="1909632"/>
            <a:ext cx="4234594"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2번 축에서 본 5개 동은 인구·가격이 어떻게 움직였나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못했습니다(상관 0.009, 유의하지 않음).</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1/2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다룬 축들을 '실제로 매매가 영향 요인으로 볼 수 있는가' 기준으로 한 표에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1(배경)</a:t>
                      </a:r>
                    </a:p>
                  </a:txBody>
                  <a:tcPr anchor="ctr" marL="73152" marR="73152" marT="41148" marB="41148">
                    <a:solidFill>
                      <a:srgbClr val="F3F6F6"/>
                    </a:solidFill>
                  </a:tcPr>
                </a:tc>
                <a:tc>
                  <a:txBody>
                    <a:bodyPr/>
                    <a:lstStyle/>
                    <a:p>
                      <a:pPr algn="ctr"/>
                      <a:r>
                        <a:rPr sz="1000" b="0">
                          <a:solidFill>
                            <a:srgbClr val="002632"/>
                          </a:solidFill>
                          <a:latin typeface="맑은 고딕"/>
                        </a:rPr>
                        <a:t>정책·금리 시점, 거래량</a:t>
                      </a:r>
                    </a:p>
                  </a:txBody>
                  <a:tcPr anchor="ctr" marL="73152" marR="73152" marT="41148" marB="41148">
                    <a:solidFill>
                      <a:srgbClr val="F3F6F6"/>
                    </a:solidFill>
                  </a:tcPr>
                </a:tc>
                <a:tc>
                  <a:txBody>
                    <a:bodyPr/>
                    <a:lstStyle/>
                    <a:p>
                      <a:pPr algn="ctr"/>
                      <a:r>
                        <a:rPr sz="1000" b="0">
                          <a:solidFill>
                            <a:srgbClr val="002632"/>
                          </a:solidFill>
                          <a:latin typeface="맑은 고딕"/>
                        </a:rPr>
                        <a:t>가격 자체엔 거의 영향 없음(-3~+5%), 배경 정보</a:t>
                      </a:r>
                    </a:p>
                  </a:txBody>
                  <a:tcPr anchor="ctr" marL="73152" marR="73152" marT="41148" marB="41148">
                    <a:solidFill>
                      <a:srgbClr val="F3F6F6"/>
                    </a:solidFill>
                  </a:tcPr>
                </a:tc>
                <a:tc>
                  <a:txBody>
                    <a:bodyPr/>
                    <a:lstStyle/>
                    <a:p>
                      <a:pPr algn="ctr"/>
                      <a:r>
                        <a:rPr sz="1000" b="0">
                          <a:solidFill>
                            <a:srgbClr val="002632"/>
                          </a:solidFill>
                          <a:latin typeface="맑은 고딕"/>
                        </a:rPr>
                        <a:t>해당없음</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지역(자치구·법정동)</a:t>
                      </a:r>
                    </a:p>
                  </a:txBody>
                  <a:tcPr anchor="ctr" marL="73152" marR="73152" marT="41148" marB="41148">
                    <a:solidFill>
                      <a:srgbClr val="FFFFFF"/>
                    </a:solidFill>
                  </a:tcPr>
                </a:tc>
                <a:tc>
                  <a:txBody>
                    <a:bodyPr/>
                    <a:lstStyle/>
                    <a:p>
                      <a:pPr algn="ctr"/>
                      <a:r>
                        <a:rPr sz="1000" b="0">
                          <a:solidFill>
                            <a:srgbClr val="002632"/>
                          </a:solidFill>
                          <a:latin typeface="맑은 고딕"/>
                        </a:rPr>
                        <a:t>구 최대 4.4배 격차, 동별 편차도 커서 구 평균만으론 설명 불가</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준공연차</a:t>
                      </a:r>
                    </a:p>
                  </a:txBody>
                  <a:tcPr anchor="ctr" marL="73152" marR="73152" marT="41148" marB="41148">
                    <a:solidFill>
                      <a:srgbClr val="F3F6F6"/>
                    </a:solidFill>
                  </a:tcPr>
                </a:tc>
                <a:tc>
                  <a:txBody>
                    <a:bodyPr/>
                    <a:lstStyle/>
                    <a:p>
                      <a:pPr algn="ctr"/>
                      <a:r>
                        <a:rPr sz="1000" b="0">
                          <a:solidFill>
                            <a:srgbClr val="002632"/>
                          </a:solidFill>
                          <a:latin typeface="맑은 고딕"/>
                        </a:rPr>
                        <a:t>U자형, 회귀에서도 유의(변곡점 약 30년)</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정비사업 단계</a:t>
                      </a:r>
                    </a:p>
                  </a:txBody>
                  <a:tcPr anchor="ctr" marL="73152" marR="73152" marT="41148" marB="41148">
                    <a:solidFill>
                      <a:srgbClr val="FFFFFF"/>
                    </a:solidFill>
                  </a:tcPr>
                </a:tc>
                <a:tc>
                  <a:txBody>
                    <a:bodyPr/>
                    <a:lstStyle/>
                    <a:p>
                      <a:pPr algn="ctr"/>
                      <a:r>
                        <a:rPr sz="1000" b="0">
                          <a:solidFill>
                            <a:srgbClr val="002632"/>
                          </a:solidFill>
                          <a:latin typeface="맑은 고딕"/>
                        </a:rPr>
                        <a:t>추진위~사업시행은 유의, 관리처분·착공은 유의하지 않음</a:t>
                      </a:r>
                    </a:p>
                  </a:txBody>
                  <a:tcPr anchor="ctr" marL="73152" marR="73152" marT="41148" marB="41148">
                    <a:solidFill>
                      <a:srgbClr val="FFFFFF"/>
                    </a:solidFill>
                  </a:tcPr>
                </a:tc>
                <a:tc>
                  <a:txBody>
                    <a:bodyPr/>
                    <a:lstStyle/>
                    <a:p>
                      <a:pPr algn="ctr"/>
                      <a:r>
                        <a:rPr sz="1000" b="0">
                          <a:solidFill>
                            <a:srgbClr val="002632"/>
                          </a:solidFill>
                          <a:latin typeface="맑은 고딕"/>
                        </a:rPr>
                        <a:t>부분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역까지 거리(역세권)</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-5.6%,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한강조망</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+6.8%, 오늘 확인한 요인 중 가장 강함</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초등학교 거리</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-3.5%,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고등학교 거리</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-4.3%,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'회귀에서도 유의'는 다른 요인들을 동시에 통제한 다변량 회귀(별도 자료)에서도 재확인됐다는 뜻.</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2/2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나머지 축들도 같은 기준으로 이어서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중학교 거리</a:t>
                      </a:r>
                    </a:p>
                  </a:txBody>
                  <a:tcPr anchor="ctr" marL="73152" marR="73152" marT="41148" marB="41148">
                    <a:solidFill>
                      <a:srgbClr val="F3F6F6"/>
                    </a:solidFill>
                  </a:tcPr>
                </a:tc>
                <a:tc>
                  <a:txBody>
                    <a:bodyPr/>
                    <a:lstStyle/>
                    <a:p>
                      <a:pPr algn="ctr"/>
                      <a:r>
                        <a:rPr sz="1000" b="0">
                          <a:solidFill>
                            <a:srgbClr val="002632"/>
                          </a:solidFill>
                          <a:latin typeface="맑은 고딕"/>
                        </a:rPr>
                        <a:t>회귀에서도 유의하지 않음(p=0.52)</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5</a:t>
                      </a:r>
                    </a:p>
                  </a:txBody>
                  <a:tcPr anchor="ctr" marL="73152" marR="73152" marT="41148" marB="41148">
                    <a:solidFill>
                      <a:srgbClr val="FFFFFF"/>
                    </a:solidFill>
                  </a:tcPr>
                </a:tc>
                <a:tc>
                  <a:txBody>
                    <a:bodyPr/>
                    <a:lstStyle/>
                    <a:p>
                      <a:pPr algn="ctr"/>
                      <a:r>
                        <a:rPr sz="1000" b="0">
                          <a:solidFill>
                            <a:srgbClr val="002632"/>
                          </a:solidFill>
                          <a:latin typeface="맑은 고딕"/>
                        </a:rPr>
                        <a:t>층수</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+4.8%,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면적</a:t>
                      </a:r>
                    </a:p>
                  </a:txBody>
                  <a:tcPr anchor="ctr" marL="73152" marR="73152" marT="41148" marB="41148">
                    <a:solidFill>
                      <a:srgbClr val="F3F6F6"/>
                    </a:solidFill>
                  </a:tcPr>
                </a:tc>
                <a:tc>
                  <a:txBody>
                    <a:bodyPr/>
                    <a:lstStyle/>
                    <a:p>
                      <a:pPr algn="ctr"/>
                      <a:r>
                        <a:rPr sz="1000" b="0">
                          <a:solidFill>
                            <a:srgbClr val="002632"/>
                          </a:solidFill>
                          <a:latin typeface="맑은 고딕"/>
                        </a:rPr>
                        <a:t>단순비교론 U자형이나 회귀 선형항은 비유의(직선으로 못 잡은 것)</a:t>
                      </a:r>
                    </a:p>
                  </a:txBody>
                  <a:tcPr anchor="ctr" marL="73152" marR="73152" marT="41148" marB="41148">
                    <a:solidFill>
                      <a:srgbClr val="F3F6F6"/>
                    </a:solidFill>
                  </a:tcPr>
                </a:tc>
                <a:tc>
                  <a:txBody>
                    <a:bodyPr/>
                    <a:lstStyle/>
                    <a:p>
                      <a:pPr algn="ctr"/>
                      <a:r>
                        <a:rPr sz="1000" b="0">
                          <a:solidFill>
                            <a:srgbClr val="002632"/>
                          </a:solidFill>
                          <a:latin typeface="맑은 고딕"/>
                        </a:rPr>
                        <a:t>판단 보류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전세가율</a:t>
                      </a:r>
                    </a:p>
                  </a:txBody>
                  <a:tcPr anchor="ctr" marL="73152" marR="73152" marT="41148" marB="41148">
                    <a:solidFill>
                      <a:srgbClr val="FFFFFF"/>
                    </a:solidFill>
                  </a:tcPr>
                </a:tc>
                <a:tc>
                  <a:txBody>
                    <a:bodyPr/>
                    <a:lstStyle/>
                    <a:p>
                      <a:pPr algn="ctr"/>
                      <a:r>
                        <a:rPr sz="1000" b="0">
                          <a:solidFill>
                            <a:srgbClr val="002632"/>
                          </a:solidFill>
                          <a:latin typeface="맑은 고딕"/>
                        </a:rPr>
                        <a:t>연도별로 상관 부호가 +0.27~-0.51로 뒤집힘</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7</a:t>
                      </a:r>
                    </a:p>
                  </a:txBody>
                  <a:tcPr anchor="ctr" marL="73152" marR="73152" marT="41148" marB="41148">
                    <a:solidFill>
                      <a:srgbClr val="F3F6F6"/>
                    </a:solidFill>
                  </a:tcPr>
                </a:tc>
                <a:tc>
                  <a:txBody>
                    <a:bodyPr/>
                    <a:lstStyle/>
                    <a:p>
                      <a:pPr algn="ctr"/>
                      <a:r>
                        <a:rPr sz="1000" b="0">
                          <a:solidFill>
                            <a:srgbClr val="002632"/>
                          </a:solidFill>
                          <a:latin typeface="맑은 고딕"/>
                        </a:rPr>
                        <a:t>정비사업 강도(규모)</a:t>
                      </a:r>
                    </a:p>
                  </a:txBody>
                  <a:tcPr anchor="ctr" marL="73152" marR="73152" marT="41148" marB="41148">
                    <a:solidFill>
                      <a:srgbClr val="F3F6F6"/>
                    </a:solidFill>
                  </a:tcPr>
                </a:tc>
                <a:tc>
                  <a:txBody>
                    <a:bodyPr/>
                    <a:lstStyle/>
                    <a:p>
                      <a:pPr algn="ctr"/>
                      <a:r>
                        <a:rPr sz="1000" b="0">
                          <a:solidFill>
                            <a:srgbClr val="002632"/>
                          </a:solidFill>
                          <a:latin typeface="맑은 고딕"/>
                        </a:rPr>
                        <a:t>가격 변동성과 유의한 관계 못 찾음(r=0.009, p=0.889)</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8</a:t>
                      </a:r>
                    </a:p>
                  </a:txBody>
                  <a:tcPr anchor="ctr" marL="73152" marR="73152" marT="41148" marB="41148">
                    <a:solidFill>
                      <a:srgbClr val="FFFFFF"/>
                    </a:solidFill>
                  </a:tcPr>
                </a:tc>
                <a:tc>
                  <a:txBody>
                    <a:bodyPr/>
                    <a:lstStyle/>
                    <a:p>
                      <a:pPr algn="ctr"/>
                      <a:r>
                        <a:rPr sz="1000" b="0">
                          <a:solidFill>
                            <a:srgbClr val="002632"/>
                          </a:solidFill>
                          <a:latin typeface="맑은 고딕"/>
                        </a:rPr>
                        <a:t>특정 정책 이벤트</a:t>
                      </a:r>
                    </a:p>
                  </a:txBody>
                  <a:tcPr anchor="ctr" marL="73152" marR="73152" marT="41148" marB="41148">
                    <a:solidFill>
                      <a:srgbClr val="FFFFFF"/>
                    </a:solidFill>
                  </a:tcPr>
                </a:tc>
                <a:tc>
                  <a:txBody>
                    <a:bodyPr/>
                    <a:lstStyle/>
                    <a:p>
                      <a:pPr algn="ctr"/>
                      <a:r>
                        <a:rPr sz="1000" b="0">
                          <a:solidFill>
                            <a:srgbClr val="002632"/>
                          </a:solidFill>
                          <a:latin typeface="맑은 고딕"/>
                        </a:rPr>
                        <a:t>이벤트가 서로 겹쳐서 원인을 하나로 특정 불가</a:t>
                      </a:r>
                    </a:p>
                  </a:txBody>
                  <a:tcPr anchor="ctr" marL="73152" marR="73152" marT="41148" marB="41148">
                    <a:solidFill>
                      <a:srgbClr val="FFFFFF"/>
                    </a:solidFill>
                  </a:tcPr>
                </a:tc>
                <a:tc>
                  <a:txBody>
                    <a:bodyPr/>
                    <a:lstStyle/>
                    <a:p>
                      <a:pPr algn="ctr"/>
                      <a:r>
                        <a:rPr sz="1000" b="0">
                          <a:solidFill>
                            <a:srgbClr val="002632"/>
                          </a:solidFill>
                          <a:latin typeface="맑은 고딕"/>
                        </a:rPr>
                        <a:t>판별 불가</a:t>
                      </a:r>
                    </a:p>
                  </a:txBody>
                  <a:tcPr anchor="ctr" marL="73152" marR="73152" marT="41148" marB="41148">
                    <a:solidFill>
                      <a:srgbClr val="FFFFFF"/>
                    </a:solidFill>
                  </a:tcPr>
                </a:tc>
              </a:tr>
              <a:tr h="301244">
                <a:tc>
                  <a:txBody>
                    <a:bodyPr/>
                    <a:lstStyle/>
                    <a:p>
                      <a:pPr algn="l"/>
                      <a:r>
                        <a:rPr sz="1000" b="0">
                          <a:solidFill>
                            <a:srgbClr val="002632"/>
                          </a:solidFill>
                          <a:latin typeface="맑은 고딕"/>
                        </a:rPr>
                        <a:t>9</a:t>
                      </a:r>
                    </a:p>
                  </a:txBody>
                  <a:tcPr anchor="ctr" marL="73152" marR="73152" marT="41148" marB="41148">
                    <a:solidFill>
                      <a:srgbClr val="F3F6F6"/>
                    </a:solidFill>
                  </a:tcPr>
                </a:tc>
                <a:tc>
                  <a:txBody>
                    <a:bodyPr/>
                    <a:lstStyle/>
                    <a:p>
                      <a:pPr algn="ctr"/>
                      <a:r>
                        <a:rPr sz="1000" b="0">
                          <a:solidFill>
                            <a:srgbClr val="002632"/>
                          </a:solidFill>
                          <a:latin typeface="맑은 고딕"/>
                        </a:rPr>
                        <a:t>동 클러스터링(지역 세분화)</a:t>
                      </a:r>
                    </a:p>
                  </a:txBody>
                  <a:tcPr anchor="ctr" marL="73152" marR="73152" marT="41148" marB="41148">
                    <a:solidFill>
                      <a:srgbClr val="F3F6F6"/>
                    </a:solidFill>
                  </a:tcPr>
                </a:tc>
                <a:tc>
                  <a:txBody>
                    <a:bodyPr/>
                    <a:lstStyle/>
                    <a:p>
                      <a:pPr algn="ctr"/>
                      <a:r>
                        <a:rPr sz="1000" b="0">
                          <a:solidFill>
                            <a:srgbClr val="002632"/>
                          </a:solidFill>
                          <a:latin typeface="맑은 고딕"/>
                        </a:rPr>
                        <a:t>지리적으로 뚜렷한 그룹 확인 — 2번 축(지역) 요인을 더 세밀하게 뒷받침</a:t>
                      </a:r>
                    </a:p>
                  </a:txBody>
                  <a:tcPr anchor="ctr" marL="73152" marR="73152" marT="41148" marB="41148">
                    <a:solidFill>
                      <a:srgbClr val="F3F6F6"/>
                    </a:solidFill>
                  </a:tcPr>
                </a:tc>
                <a:tc>
                  <a:txBody>
                    <a:bodyPr/>
                    <a:lstStyle/>
                    <a:p>
                      <a:pPr algn="ctr"/>
                      <a:r>
                        <a:rPr sz="1000" b="0">
                          <a:solidFill>
                            <a:srgbClr val="002632"/>
                          </a:solidFill>
                          <a:latin typeface="맑은 고딕"/>
                        </a:rPr>
                        <a:t>패턴 확인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10(외부)</a:t>
                      </a:r>
                    </a:p>
                  </a:txBody>
                  <a:tcPr anchor="ctr" marL="73152" marR="73152" marT="41148" marB="41148">
                    <a:solidFill>
                      <a:srgbClr val="FFFFFF"/>
                    </a:solidFill>
                  </a:tcPr>
                </a:tc>
                <a:tc>
                  <a:txBody>
                    <a:bodyPr/>
                    <a:lstStyle/>
                    <a:p>
                      <a:pPr algn="ctr"/>
                      <a:r>
                        <a:rPr sz="1000" b="0">
                          <a:solidFill>
                            <a:srgbClr val="002632"/>
                          </a:solidFill>
                          <a:latin typeface="맑은 고딕"/>
                        </a:rPr>
                        <a:t>인구·세대수 변화</a:t>
                      </a:r>
                    </a:p>
                  </a:txBody>
                  <a:tcPr anchor="ctr" marL="73152" marR="73152" marT="41148" marB="41148">
                    <a:solidFill>
                      <a:srgbClr val="FFFFFF"/>
                    </a:solidFill>
                  </a:tcPr>
                </a:tc>
                <a:tc>
                  <a:txBody>
                    <a:bodyPr/>
                    <a:lstStyle/>
                    <a:p>
                      <a:pPr algn="ctr"/>
                      <a:r>
                        <a:rPr sz="1000" b="0">
                          <a:solidFill>
                            <a:srgbClr val="002632"/>
                          </a:solidFill>
                          <a:latin typeface="맑은 고딕"/>
                        </a:rPr>
                        <a:t>보광동 제외 시 상관이 거의 사라짐</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'판단 보류'는 영향 자체가 없다는 뜻이 아니라, 이번 회귀 설계(직선)로는 못 잡았다는 뜻.</a:t>
            </a:r>
          </a:p>
        </p:txBody>
      </p:sp>
      <p:sp>
        <p:nvSpPr>
          <p:cNvPr id="7" name="Rounded Rectangle 6"/>
          <p:cNvSpPr/>
          <p:nvPr/>
        </p:nvSpPr>
        <p:spPr>
          <a:xfrm>
            <a:off x="457200" y="4933188"/>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근거가 단단한 요인은 지역·준공연차·정비사업단계(초중기)·역세권·한강조망·초/고등학교거리·층수 7가지입니다. 전세가율·정비사업강도·인구·특정이벤트는 요인으로 채택하기엔 근거가 약하거나 없습니다.</a:t>
            </a:r>
          </a:p>
        </p:txBody>
      </p:sp>
      <p:sp>
        <p:nvSpPr>
          <p:cNvPr id="8" name="Rounded Rectangle 7"/>
          <p:cNvSpPr/>
          <p:nvPr/>
        </p:nvSpPr>
        <p:spPr>
          <a:xfrm>
            <a:off x="6187287" y="493318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면적은 '영향이 없다'가 아니라 '이번 방식으론 못 잡았다'는 뜻이라 요인 목록에서 완전히 빼기보다는 재설계가 필요한 항목으로 남겨둬야 합니다.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