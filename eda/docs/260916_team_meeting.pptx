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6"/>
    <p:sldId id="268" r:id="rId19"/>
    <p:sldId id="269" r:id="rId20"/>
    <p:sldId id="270" r:id="rId21"/>
    <p:sldId id="271" r:id="rId22"/>
    <p:sldId id="272" r:id="rId23"/>
    <p:sldId id="273" r:id="rId24"/>
    <p:sldId id="274" r:id="rId25"/>
    <p:sldId id="275" r:id="rId26"/>
    <p:sldId id="276" r:id="rId27"/>
    <p:sldId id="277" r:id="rId28"/>
    <p:sldId id="278" r:id="rId29"/>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18" roundtripDataSignature="AMtx7mjtWzU+aBYasoenyN9c0fMJbifs9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5EEB32C9-EA51-438A-8DAD-C1DC1D4AD4C2}">
  <a:tblStyle styleId="{5EEB32C9-EA51-438A-8DAD-C1DC1D4AD4C2}" styleName="Table_0">
    <a:wholeTbl>
      <a:tcTxStyle b="off" i="off">
        <a:font>
          <a:latin typeface="맑은 고딕"/>
          <a:ea typeface="맑은 고딕"/>
          <a:cs typeface="맑은 고딕"/>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7E9EC"/>
          </a:solidFill>
        </a:fill>
      </a:tcStyle>
    </a:wholeTbl>
    <a:band1H>
      <a:tcTxStyle/>
      <a:tcStyle>
        <a:fill>
          <a:solidFill>
            <a:srgbClr val="CAD1D8"/>
          </a:solidFill>
        </a:fill>
      </a:tcStyle>
    </a:band1H>
    <a:band2H>
      <a:tcTxStyle/>
    </a:band2H>
    <a:band1V>
      <a:tcTxStyle/>
      <a:tcStyle>
        <a:fill>
          <a:solidFill>
            <a:srgbClr val="CAD1D8"/>
          </a:solidFill>
        </a:fill>
      </a:tcStyle>
    </a:band1V>
    <a:band2V>
      <a:tcTxStyle/>
    </a:band2V>
    <a:lastCol>
      <a:tcTxStyle b="on" i="off">
        <a:font>
          <a:latin typeface="맑은 고딕"/>
          <a:ea typeface="맑은 고딕"/>
          <a:cs typeface="맑은 고딕"/>
        </a:font>
        <a:schemeClr val="lt1"/>
      </a:tcTxStyle>
      <a:tcStyle>
        <a:fill>
          <a:solidFill>
            <a:schemeClr val="accent1"/>
          </a:solidFill>
        </a:fill>
      </a:tcStyle>
    </a:lastCol>
    <a:firstCol>
      <a:tcTxStyle b="on" i="off">
        <a:font>
          <a:latin typeface="맑은 고딕"/>
          <a:ea typeface="맑은 고딕"/>
          <a:cs typeface="맑은 고딕"/>
        </a:font>
        <a:schemeClr val="lt1"/>
      </a:tcTxStyle>
      <a:tcStyle>
        <a:fill>
          <a:solidFill>
            <a:schemeClr val="accent1"/>
          </a:solidFill>
        </a:fill>
      </a:tcStyle>
    </a:firstCol>
    <a:lastRow>
      <a:tcTxStyle b="on" i="off">
        <a:font>
          <a:latin typeface="맑은 고딕"/>
          <a:ea typeface="맑은 고딕"/>
          <a:cs typeface="맑은 고딕"/>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a:seCell>
    <a:swCell>
      <a:tcTxStyle/>
    </a:swCell>
    <a:firstRow>
      <a:tcTxStyle b="on" i="off">
        <a:font>
          <a:latin typeface="맑은 고딕"/>
          <a:ea typeface="맑은 고딕"/>
          <a:cs typeface="맑은 고딕"/>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2.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customschemas.google.com/relationships/presentationmetadata" Target="metadata"/><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indent="-228600" lvl="1" marL="9144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2pPr>
            <a:lvl3pPr indent="-228600" lvl="2" marL="13716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3pPr>
            <a:lvl4pPr indent="-228600" lvl="3" marL="18288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4pPr>
            <a:lvl5pPr indent="-228600" lvl="4" marL="22860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5pPr>
            <a:lvl6pPr indent="-228600" lvl="5" marL="27432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6pPr>
            <a:lvl7pPr indent="-228600" lvl="6" marL="32004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7pPr>
            <a:lvl8pPr indent="-228600" lvl="7" marL="36576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8pPr>
            <a:lvl9pPr indent="-228600" lvl="8" marL="41148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ko-KR" sz="1200" u="none" cap="none" strike="noStrike">
                <a:solidFill>
                  <a:schemeClr val="dk1"/>
                </a:solidFill>
                <a:latin typeface="Malgun Gothic"/>
                <a:ea typeface="Malgun Gothic"/>
                <a:cs typeface="Malgun Gothic"/>
                <a:sym typeface="Malgun Gothic"/>
              </a:rPr>
              <a:t>‹#›</a:t>
            </a:fld>
            <a:endParaRPr b="0" i="0" sz="1200" u="none" cap="none" strike="noStrike">
              <a:solidFill>
                <a:schemeClr val="dk1"/>
              </a:solidFill>
              <a:latin typeface="Malgun Gothic"/>
              <a:ea typeface="Malgun Gothic"/>
              <a:cs typeface="Malgun Gothic"/>
              <a:sym typeface="Malgun Gothic"/>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안녕하세요, 오늘은 서울 아파트 매매가에 영향을 주는 요인을 여러 각도에서 살펴본 EDA 결과를 공유드리겠습니다. Railway Postgres에 있는 실제 실거래·단지·입지 데이터를 read-only로 직접 조회해서 나온 결과이고, 김용진 님이 공유해주신 EDA 제안 문서도 참고해서 두 축을 추가했습니다. 슬라이드마다 '무엇을 보려던 건지 → 뭘로 측정했는지 → 결과가 뭐였는지 → 어떻게 해석하는지' 순서로 말씀드리겠습니다.</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오늘 다룰 순서입니다. 1번부터 7번까지는 저희가 브레인스토밍한 축이고, 8번과 9번은 김용진 님이 공유해주신 EDA 제안 문서를 보고 추가로 진행한 것입니다. 10번은 저희가 데이터를 보다가 '이 정도 가격 변동을 설명하려면 인구·가구수도 필요하지 않을까' 싶어서 외부 공공데이터를 새로 받아와 추가한 것입니다. 각 축마다 무엇을 보려고 했는지, 어떤 지표로 확인했는지, 결과가 뭐였는지, 어떻게 해석하면 되는지를 같은 순서로 보여드리겠습니다.</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저희가 쓴 데이터는 두 갈래입니다. 대부분은 팀이 Railway Postgres에 올려둔 정제 테이블이고, read-only 계정으로만 접속했기 때문에 이 작업으로 팀 데이터에 영향을 준 건 전혀 없습니다. 매매·전월세 원장이 각각 140만 건, 300만 건 정도고, 여기에 단지 정보·법정동 가격지수·정책 이벤트를 붙여서 분석했습니다. 마지막 한 줄만 예외인데, 10번 축(인구·세대수)은 DB에 없는 정보라 행정안전부 공공데이터를 저희가 별도로 받아왔습니다 — 이것도 팀 DB와는 무관한 외부 API라 마찬가지로 영향은 없습니다.</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정책 발표 시점과 거래량 변화 시점이 실제로 겹치는지 눈으로 확인하려는 그래프입니다.</a:t>
            </a:r>
          </a:p>
          <a:p/>
          <a:p>
            <a:r>
              <a:t>② 뭘로 측정했나: 가로축은 분기(2006Q1~2026Q3), 세로축은 그 분기의 매매 거래 건수(취소 제외)입니다. 빨간 점선은 2017년 8·2 대책 같은 규제 강화 시점, 초록 점선은 2023년 1월 규제지역 해제 시점입니다.</a:t>
            </a:r>
          </a:p>
          <a:p/>
          <a:p>
            <a:r>
              <a:t>③ 결과가 뭐였나: 2022년에 거래량이 바닥까지 떨어졌다가 2023년 규제 해제 직후부터 반등하는 게 시점상 겹쳐 보입니다.</a:t>
            </a:r>
          </a:p>
          <a:p/>
          <a:p>
            <a:r>
              <a:t>④ 어떻게 해석하나: 그래프에 이벤트 시점을 표시해본 것일 뿐, 금리·계절성·다른 정책까지 통제해서 인과를 검정한 건 아니라서 '정책 때문에 거래량이 움직였다'고 단정하지는 않겠습니다 — '시점이 겹친다' 정도로 신중하게 봐주세요.</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거래량과 단가는 단위가 완전히 달라서(건수 vs 만원/㎡) 직접 비교할 수 없습니다. 2006~2008년 평균을 100으로 놓고 지수화하면 같은 척도에서 '어느 쪽이 더 출렁이는지'를 비교할 수 있습니다.</a:t>
            </a:r>
          </a:p>
          <a:p/>
          <a:p>
            <a:r>
              <a:t>② 뭘로 측정했나: 단일 연도가 아니라 3개년 평균을 기준점으로 쓴 이유는, 2006년 한 해만 보면 거래량은 이례적으로 많고 가격은 이례적으로 낮아서 기준점으로 삼기에 적절하지 않기 때문입니다. 가로축은 연도, 세로축은 지수값이고, 하늘색이 거래량, 남색이 단가입니다.</a:t>
            </a:r>
          </a:p>
          <a:p/>
          <a:p>
            <a:r>
              <a:t>③ 결과가 뭐였나: 두 선이 같이 우상향하지 않고 거래량(하늘색)이 훨씬 크게 출렁입니다. 2022년에 거래량이 -71%까지 급감했는데 가격은 -3.3%밖에 안 빠졌습니다. 점선으로 표시한 맨 끝 2026년 구간은 8월까지만 집계된 데이터입니다 — 같은 개월수(1~8월)로 전년과 비교하면 거래량 -7.1%, 단가 -9.0% 정도입니다.</a:t>
            </a:r>
          </a:p>
          <a:p/>
          <a:p>
            <a:r>
              <a:t>④ 어떻게 해석하나: 거래량이 가격보다 훨씬 크게 변한다는 건 확인된 사실이지만, 왜 그런지(정책·금리 때문인지 다른 이유인지)는 이 그래프만으로는 알 수 없습니다.</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같은 서울이라도 자치구 단위로 보면 가격 수준이 얼마나 차이 나는지 확인하려는 그래프입니다.</a:t>
            </a:r>
          </a:p>
          <a:p/>
          <a:p>
            <a:r>
              <a:t>② 뭘로 측정했나: 가로축은 2026년 거래의 ㎡당 단가 중앙값(만원), 세로축은 자치구입니다. 주황색이 강남3구(강남·서초·송파), 하늘색이 나머지 22개 구입니다.</a:t>
            </a:r>
          </a:p>
          <a:p/>
          <a:p>
            <a:r>
              <a:t>③ 결과가 뭐였나: 강남구가 3,531만원으로 가장 낮은 도봉구(802만원)의 4.4배입니다.</a:t>
            </a:r>
          </a:p>
          <a:p/>
          <a:p>
            <a:r>
              <a:t>④ 어떻게 해석하나: 구 단위로도 이 정도 격차가 있다는 걸 먼저 보여드리는 그림이고, 다음 슬라이드에서는 구 안에서도 동별로 얼마나 다른지 이어서 보겠습니다.</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'강남구는 비싸다'는 구 평균 한 줄로는 안 보이는 동별 차이가 실제로 있는지 확인하려는 그래프입니다.</a:t>
            </a:r>
          </a:p>
          <a:p/>
          <a:p>
            <a:r>
              <a:t>② 뭘로 측정했나: 가로축은 2025Q2에서 2026Q2까지 1년간 법정동 hedonic 가격지수의 실제 상승률(%)이고, 세로축은 동 이름과 소속 구입니다(초록=상승, 빨강=하락). 앞 슬라이드의 '자치구별 단가'는 원시거래 중앙값 기준이고, 이 슬라이드는 같은 hedonic 지수로 구·동을 동시에 비교한 것이라 서로 다른 지표입니다.</a:t>
            </a:r>
          </a:p>
          <a:p/>
          <a:p>
            <a:r>
              <a:t>③ 결과가 뭐였나: 강남구 표본기준을 통과한 동 13개 평균은 +6.8%로 플러스지만, 그 안에서 역삼동(-7.1%)부터 수서동(+33.3%)까지 동별 편차가 굉장히 큽니다. 전체 서울에서 가장 많이 오른 건 보광동(+46.3%)이었습니다.</a:t>
            </a:r>
          </a:p>
          <a:p/>
          <a:p>
            <a:r>
              <a:t>④ 어떻게 해석하나: '구 평균이 오른다고 그 구의 모든 동이 다 오르는 건 아니다'라는 뜻입니다. 다만 이 지수는 같은 동 안에서의 시점 간 변화만 비교 가능하다는 점(동 간 수준 비교는 부적절)을 참고해주세요.</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준공된 지 얼마나 지났는지가 가격과 어떤 모양의 관계를 보이는지 확인하려는 그래프입니다.</a:t>
            </a:r>
          </a:p>
          <a:p/>
          <a:p>
            <a:r>
              <a:t>② 뭘로 측정했나: 가로축은 준공 후 연차 구간(0~5년부터 40~60년까지), 세로축은 2024~2026년 거래의 ㎡당 단가 중앙값입니다.</a:t>
            </a:r>
          </a:p>
          <a:p/>
          <a:p>
            <a:r>
              <a:t>③ 결과가 뭐였나: 신축(0~10년)이 비싸다가 10~40년 구간에서 떨어지고, 40년 이상 노후 단지에서 다시 가장 비싸지는 U자형입니다.</a:t>
            </a:r>
          </a:p>
          <a:p/>
          <a:p>
            <a:r>
              <a:t>④ 어떻게 해석하나: 노후 단지가 다시 비싸지는 건 재건축 기대감이 반영됐을 거라는 게 자연스러운 가설이라 다음 슬라이드에서 정비사업 단계별로 더 직접 확인해보겠습니다. 다만 이것도 지역·입지·단지규모를 따로 통제하지 않은 단순 중앙값 비교라, '연차 자체의 효과'라고 단정하기보다는 참고 지표로 봐주시면 좋겠습니다.</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정비사업이 진행 중인 단지가 일반 단지보다 실제로 비싼지, 그리고 진행 단계에 따라 차이가 있는지 확인하려는 그래프입니다.</a:t>
            </a:r>
          </a:p>
          <a:p/>
          <a:p>
            <a:r>
              <a:t>② 뭘로 측정했나: 가로축은 정비사업 진행 단계(구역지정부터 건축심의까지), 세로축은 정비사업 대상이 아닌 일반 단지를 0%로 놓았을 때의 단가 프리미엄(%)입니다.</a:t>
            </a:r>
          </a:p>
          <a:p/>
          <a:p>
            <a:r>
              <a:t>③ 결과가 뭐였나: 건축심의 단계 단지가 154%로 가장 높고, 관리처분 단계가 오히려 34%로 낮게 나옵니다. 착공 단계는 거래 46건뿐이라 표본이 작습니다.</a:t>
            </a:r>
          </a:p>
          <a:p/>
          <a:p>
            <a:r>
              <a:t>④ 어떻게 해석하나: 관리처분 단계가 낮게 나오는 게 이주로 인한 건물 상태 때문인지 다른 이유인지는 이 데이터만으로는 확인할 수 없어 가능한 해석 중 하나로만 말씀드립니다. 또한 정비사업 단계는 '지금 시점(2026년) 기준'인데 이걸 2024년, 2020년 등 과거 거래에도 그대로 붙여서 비교했다는 시점 불일치가 있어, '단계가 프리미엄을 만든다'고 단정하기는 어렵습니다.</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지하철역까지 거리가 가까울수록 실제로 더 비싼지 확인하려는 그래프입니다.</a:t>
            </a:r>
          </a:p>
          <a:p/>
          <a:p>
            <a:r>
              <a:t>② 뭘로 측정했나: 가로축은 단지에서 가장 가까운 지하철역까지 거리 구간, 세로축은 ㎡당 단가 중앙값입니다.</a:t>
            </a:r>
          </a:p>
          <a:p/>
          <a:p>
            <a:r>
              <a:t>③ 결과가 뭐였나: 300m 이내가 1,466만원인데 2km를 넘어가면 687만원으로 거의 반토막입니다. 거리가 멀어질수록 단가가 계단식으로 낮아집니다.</a:t>
            </a:r>
          </a:p>
          <a:p/>
          <a:p>
            <a:r>
              <a:t>④ 어떻게 해석하나: 아주 뚜렷한 역세권 프리미엄으로 보입니다. 다만 이것도 다른 요인을 통제하지 않은 단순 비교라는 점은 참고해주세요.</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한강조망·학군거리 같은 입지 요인 중 가격과 가장 밀접하게 관련된 게 무엇인지 비교하려는 그래프입니다.</a:t>
            </a:r>
          </a:p>
          <a:p/>
          <a:p>
            <a:r>
              <a:t>② 뭘로 측정했나: 가로축은 한강 조망 세대가 있는지 여부(O/X), 세로축은 ㎡당 단가입니다. 따로 상관계수도 계산했습니다.</a:t>
            </a:r>
          </a:p>
          <a:p/>
          <a:p>
            <a:r>
              <a:t>③ 결과가 뭐였나: 한강 조망이 있는 단지가 1,850만원, 없는 단지가 1,194만원으로 약 55% 차이가 납니다. 저희가 확인한 입지 요인 중에서 상관계수가 가장 높은(0.29) 게 이 한강조망이었습니다. 반면 학교까지 거리는 상관계수가 거의 0에 가까웠습니다.</a:t>
            </a:r>
          </a:p>
          <a:p/>
          <a:p>
            <a:r>
              <a:t>④ 어떻게 해석하나: 한강조망이 가장 강한 입지 요인으로 보입니다. 학군 거리가 약하게 나온 건, '학군'이라는 게 물리적 거리보다 특정 동 전체의 평판이나 배정 학교 자체로 작동하기 때문일 것으로 추정됩니다.</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층수가 높을수록 가격이 실제로 오르는지 확인하려는 그래프입니다.</a:t>
            </a:r>
          </a:p>
          <a:p/>
          <a:p>
            <a:r>
              <a:t>② 뭘로 측정했나: 가로축은 층대(지하/1층부터 21층 이상까지), 세로축은 ㎡당 단가 중앙값입니다.</a:t>
            </a:r>
          </a:p>
          <a:p/>
          <a:p>
            <a:r>
              <a:t>③ 결과가 뭐였나: 층이 높아질수록 계속 단가가 오르다가 21층 이상 구간에서 922만원으로 크게 뜁니다.</a:t>
            </a:r>
          </a:p>
          <a:p/>
          <a:p>
            <a:r>
              <a:t>④ 어떻게 해석하나: 이건 지역·연식·단지를 따로 통제하지 않은 단순 비교라서, 고층 자체의 프리미엄인지 최근 지어진 고층 대단지가 원래 비싼 지역에 많은 건지는 이 데이터만으로 확정할 수 없습니다.</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전용면적 크기에 따라 ㎡당 단가가 어떤 모양으로 달라지는지 확인하려는 그래프입니다.</a:t>
            </a:r>
          </a:p>
          <a:p/>
          <a:p>
            <a:r>
              <a:t>② 뭘로 측정했나: 가로축은 전용면적 구간, 세로축은 ㎡당 단가 중앙값입니다.</a:t>
            </a:r>
          </a:p>
          <a:p/>
          <a:p>
            <a:r>
              <a:t>③ 결과가 뭐였나: 흔히 '국민평형'이라 부르는 60~85㎡ 구간이 오히려 가장 싸고(612만원), 40㎡ 이하 소형(761만원)과 165㎡ 이상 대형(921만원) 양쪽 끝이 더 비싼 U자형입니다.</a:t>
            </a:r>
          </a:p>
          <a:p/>
          <a:p>
            <a:r>
              <a:t>④ 어떻게 해석하나: 소형은 수요층이, 대형은 희소성이 이유일 거라는 가설은 세워볼 수 있지만 이 데이터만으로 확인된 원인은 아니라서 '가능한 해석' 정도로만 말씀드립니다.</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전세가율이 높은 동네가 1년 뒤 매매가도 더 많이 오르는지, '전세가율이 매매가의 선행 신호인지' 확인하려는 그래프입니다.</a:t>
            </a:r>
          </a:p>
          <a:p/>
          <a:p>
            <a:r>
              <a:t>② 뭘로 측정했나: 가로축은 '기점 분기의 전세가율'을 낮은 순서대로 5등분한 그룹(Q1~Q5), 세로축은 그 기점으로부터 1년 뒤 매매 가격지수가 평균 몇 % 올랐는지입니다. 기점 분기 기준으로 직전 4분기 매매 거래가 20건 이상인 동만 포함합니다(표본이 너무 적은 동은 지수 자체의 신뢰도가 낮기 때문입니다).</a:t>
            </a:r>
          </a:p>
          <a:p/>
          <a:p>
            <a:r>
              <a:t>③ 결과가 뭐였나: 5개 구간이 순서대로 증가하는 모양은 뚜렷하지만, 전체 상관계수는 0.150로 크지 않습니다.</a:t>
            </a:r>
          </a:p>
          <a:p/>
          <a:p>
            <a:r>
              <a:t>④ 어떻게 해석하나: 더 중요한 건 기점 연도별로 쪼개보면 해마다 부호가 뒤집힌다는 점입니다(다음 슬라이드). 그래서 '전세가율이 매매가를 선행한다'는 표현보다 '약하고 불안정한 동반관계' 정도로 보는 게 정확합니다.</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앞 슬라이드에서 본 전세가율-미래상승률 관계가 매년 똑같이 유지되는 안정적인 관계인지 확인하려는 그래프입니다.</a:t>
            </a:r>
          </a:p>
          <a:p/>
          <a:p>
            <a:r>
              <a:t>② 뭘로 측정했나: 가로축은 기점 연도, 세로축은 그 연도에 시작한 동×기점 표본만으로 계산한 전세가율-미래상승률 상관계수입니다.</a:t>
            </a:r>
          </a:p>
          <a:p/>
          <a:p>
            <a:r>
              <a:t>③ 결과가 뭐였나: 2011·2018·2021·2022년처럼 초록색(양의 상관)인 해도 있지만, 2015~2017년, 2019년, 2023~2025년은 빨간색(음의 상관)이고 특히 2024년은 -0.507로 꽤 강한 음의 상관입니다.</a:t>
            </a:r>
          </a:p>
          <a:p/>
          <a:p>
            <a:r>
              <a:t>④ 어떻게 해석하나: 앞 슬라이드에서 본 전체 상관 0.15는 이 여러 해의 신호가 섞여 나온 평균일 뿐, 어느 해에나 적용되는 안정적인 관계가 아닙니다. 시장 국면(그 해 전체가 오르는 시기인지 내리는 시기인지)이 전세가율과 미래 가격 양쪽에 동시에 영향을 줘서 생기는 착시일 가능성이 있습니다.</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정비사업이 '있다/없다'는 이분법이 아니라 '얼마나 큰 규모로 진행 중인가'(강도)가 가격 변동성과 관련 있는지 확인하려는 그래프입니다.</a:t>
            </a:r>
          </a:p>
          <a:p/>
          <a:p>
            <a:r>
              <a:t>② 뭘로 측정했나: 가로축은 그 동에서 정비사업이 진행 중인 세대가 전체 재고 세대 대비 차지하는 비중(강도), 세로축은 그 동의 분기별 가격 변화율의 표준편차(변동성)입니다. 하늘색이 강도가 정상 범위(0~100%)인 동, 빨간색이 100%를 넘는 이상치 동입니다. 100%를 넘는 19개 동은 원본 데이터의 두 항목(진행 세대수, 재고 세대수)이 서로 다른 범위나 시점을 집계했을 가능성이 있어 이상치로 분리해서 봤습니다.</a:t>
            </a:r>
          </a:p>
          <a:p/>
          <a:p>
            <a:r>
              <a:t>③ 결과가 뭐였나: 이상치를 빼고 정상 범위만 보면 상관계수가 0.009, p값은 0.889로 통계적으로 유의한 관계가 전혀 없습니다.</a:t>
            </a:r>
          </a:p>
          <a:p/>
          <a:p>
            <a:r>
              <a:t>④ 어떻게 해석하나: '정비사업 강도가 가격 변동성과 관련 있다'고 말하기는 어렵습니다.</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동네마다 반응(상승/하락)이 크게 갈린 이벤트를 찾아서, 그 이벤트 하나를 원인으로 특정해서 해석해도 되는지 확인하려는 그래프입니다.</a:t>
            </a:r>
          </a:p>
          <a:p/>
          <a:p>
            <a:r>
              <a:t>② 뭘로 측정했나: 가로축은 그 이벤트 4분기 뒤 상승한 동의 비율(%), 세로축은 상승한 동 비율이 50%에 가장 가까운(=반반으로 갈린) 이벤트 5개입니다. 점선이 50% 기준선이고, 초록은 상승한 동이 더 많았던 이벤트, 빨강은 하락한 동이 더 많았던 이벤트입니다.</a:t>
            </a:r>
          </a:p>
          <a:p/>
          <a:p>
            <a:r>
              <a:t>③ 결과가 뭐였나: 5개 이벤트 전부가 ±4분기 안에 다른 이벤트와 겹쳐 있습니다.</a:t>
            </a:r>
          </a:p>
          <a:p/>
          <a:p>
            <a:r>
              <a:t>④ 어떻게 해석하나: 이 그래프는 '동네마다 반응이 갈린다'는 사실은 보여주지만, '어느 이벤트 때문에 갈렸는지'는 이 5개 중 단 하나도 답할 수 없습니다.</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김용진 님 제안('함께 움직이는 동 묶음 찾기')을 반영해, 가격이 비슷하게 움직이는 동끼리 묶이는 그룹이 있는지 확인하려는 그래프입니다.</a:t>
            </a:r>
          </a:p>
          <a:p/>
          <a:p>
            <a:r>
              <a:t>② 뭘로 측정했나: 법정동별 분기 가격지수 변화율의 상관행렬을 구해 계층적 클러스터링으로 6개 그룹으로 나눴습니다. 가로축은 클러스터 번호, 세로축은 그 클러스터에 속한 동 개수입니다.</a:t>
            </a:r>
          </a:p>
          <a:p/>
          <a:p>
            <a:r>
              <a:t>③ 결과가 뭐였나: 195개 동 중 167개(85%)가 5번 클러스터 하나에 몰렸습니다. 원인은 표본이 부족해서 제외된 동이 하나라도 있는 분기를 통째로 버렸기 때문에, 41개 분기 중 24개만 남고 그마저 중간에 끊겨서(2021Q3 다음이 바로 2025Q1) 신호가 제대로 안 잡힌 것으로 보입니다.</a:t>
            </a:r>
          </a:p>
          <a:p/>
          <a:p>
            <a:r>
              <a:t>④ 어떻게 해석하나: 이번 방식으로는 해석 가능한 결과를 얻지 못했습니다. 결측을 버리지 않고 보간하거나 임계값을 조정하면 나아질 수 있어서, 이건 다음 단계 과제로 남겨두겠습니다.</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2번 축에서 강남구 평균은 오르는데 왜 역삼·대치동은 내려갔는지, 혹시 그 동네 인구가 줄어드는 중이라 그런 건 아닌지 확인하려는 분석입니다.</a:t>
            </a:r>
          </a:p>
          <a:p/>
          <a:p>
            <a:r>
              <a:t>② 뭘로 측정했나: DB에는 인구 데이터가 없어서, 행정안전부가 공공데이터포털에 무료로 공개한 법정동별 주민등록 인구·세대현황 API를 새로 받아왔습니다. 동 이름을 법정동코드로 바꾸는 과정(Kakao 주소검색 API)까지 거쳐서 340개 동의 2025Q2·2026Q2 인구·세대수를 확보했고, 이걸 2번 축의 동별 가격 변화율과 합쳤습니다. 이 인구 통계는 2022년 10월부터만 공식 집계되고 한 번에 3개월까지만 조회할 수 있어서, 비교 가능한 두 분기(2025Q2, 2026Q2)만 받았습니다.</a:t>
            </a:r>
          </a:p>
          <a:p/>
          <a:p>
            <a:r>
              <a:t>③ 결과가 뭐였나: 다음 슬라이드에서 보여드립니다.</a:t>
            </a:r>
          </a:p>
          <a:p/>
          <a:p>
            <a:r>
              <a:t>④ 어떻게 해석하나: 다음 슬라이드에서 보여드립니다.</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인구가 줄어든 동네일수록 가격이 더 오르는 경향이 실제로 있는지 확인하려는 그래프입니다.</a:t>
            </a:r>
          </a:p>
          <a:p/>
          <a:p>
            <a:r>
              <a:t>② 뭘로 측정했나: 가로축은 그 동의 1년간 인구 변화율(%), 세로축은 같은 기간 hedonic 가격지수 변화율(%)입니다. 점 하나가 법정동 하나(231개)이고, 빨간 점 하나가 용산구 보광동입니다.</a:t>
            </a:r>
          </a:p>
          <a:p/>
          <a:p>
            <a:r>
              <a:t>③ 결과가 뭐였나: 전체 상관계수는 -0.108이지만 p값이 0.10로 통계적으로 유의하지 않습니다. 보광동 하나를 빼고 나머지 230개 동만 다시 계산하면 상관계수가 거의 0으로 사라집니다.</a:t>
            </a:r>
          </a:p>
          <a:p/>
          <a:p>
            <a:r>
              <a:t>④ 어떻게 해석하나: 이 '패턴'은 전체 동네의 일반적인 경향이 아니라, 보광동이라는 특정 사례 하나가 만든 그림입니다. 7번 축(정비사업 강도)에서도 같은 패턴을 보실 수 있습니다 — 이상치 하나가 전체 상관을 만드는 경우입니다.</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앞서 살펴본 2번 축의 강남구 동 4곳(역삼·대치·압구정·수서)과 인구 변화가 가장 극적이었던 보광동을 나란히 놓고 개별 사례를 들여다보려는 표입니다.</a:t>
            </a:r>
          </a:p>
          <a:p/>
          <a:p>
            <a:r>
              <a:t>② 뭘로 측정했나: 법정동별 인구 변화율(1년)과 hedonic 가격 변화율(1년)을 동별로 정리했습니다.</a:t>
            </a:r>
          </a:p>
          <a:p/>
          <a:p>
            <a:r>
              <a:t>③ 결과가 뭐였나: 보광동은 인구가 -26.5%로 압도적으로 많이 줄었고 가격은 +46.3%로 가장 많이 올랐습니다. 반면 나머지 강남구 4개 동은 인구 변화율이 -0.3%에서 -0.8% 사이로 서로 비슷비슷한데 가격은 수서동만 +33.3%로 오르고 나머지는 다 내려갔습니다.</a:t>
            </a:r>
          </a:p>
          <a:p/>
          <a:p>
            <a:r>
              <a:t>④ 어떻게 해석하나: '인구가 줄면 가격이 오른다'는 일반 법칙으로 만들 수는 없지만, 보광동 하나만 놓고 보면 인구 급감과 가격 급등이 동시에 일어난 건 사실이라 왜 그런지는 궁금증이 남습니다. 재개발·재건축으로 인한 이주일 가능성이 있어 보이지만, 이건 저희가 가진 데이터로 확인된 게 아니라 추측입니다. 강남구 안에서 동마다 가격이 갈린 이유는 이번에도 인구로는 설명이 안 됩니다.</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오늘 다룬 10개 축을 한 줄씩 압축하면 이렇습니다. 가장 확실하게 남는 건 두 가지입니다 — 거래량이 가격보다 훨씬 크게 흔들린다는 것과, 구 단위 평균만 보면 안 되고 동 단위 편차를 봐야 한다는 것입니다. 반면 정비사업 강도나 전세가율처럼 얼핏 관계가 있어 보였던 지표들은 자세히 뜯어보면 통계적 근거가 약하거나 불안정하다는 것도 같이 말씀드리고 싶습니다.</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마지막으로 한계와 다음 단계입니다. 오늘 본 것 중 상당수는 상관관계지 인과관계가 아니라는 점을 다시 한번 강조드리고 싶습니다. 다음 단계로는 클러스터링을 다시 시도하고, 3~5번 축처럼 여러 요인이 뒤섞인 분석은 제대로 된 회귀분석으로 재설계하고, 오늘 그나마 신뢰도 있게 남은 요인들을 모델 담당자와 같이 확인해보면 좋을 것 같습니다. 여기까지입니다, 질문 있으시면 편하게 말씀해주세요.</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 슬라이드" type="title">
  <p:cSld name="TITLE">
    <p:spTree>
      <p:nvGrpSpPr>
        <p:cNvPr id="15" name="Shape 15"/>
        <p:cNvGrpSpPr/>
        <p:nvPr/>
      </p:nvGrpSpPr>
      <p:grpSpPr>
        <a:xfrm>
          <a:off x="0" y="0"/>
          <a:ext cx="0" cy="0"/>
          <a:chOff x="0" y="0"/>
          <a:chExt cx="0" cy="0"/>
        </a:xfrm>
      </p:grpSpPr>
      <p:sp>
        <p:nvSpPr>
          <p:cNvPr id="16" name="Google Shape;16;p15"/>
          <p:cNvSpPr/>
          <p:nvPr/>
        </p:nvSpPr>
        <p:spPr>
          <a:xfrm>
            <a:off x="0" y="6583680"/>
            <a:ext cx="12192000" cy="274320"/>
          </a:xfrm>
          <a:prstGeom prst="rect">
            <a:avLst/>
          </a:prstGeom>
          <a:solidFill>
            <a:srgbClr val="002F3E"/>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17" name="Google Shape;17;p15"/>
          <p:cNvSpPr txBox="1"/>
          <p:nvPr>
            <p:ph type="ctrTitle"/>
          </p:nvPr>
        </p:nvSpPr>
        <p:spPr>
          <a:xfrm>
            <a:off x="838200" y="2577471"/>
            <a:ext cx="10154194" cy="1070403"/>
          </a:xfrm>
          <a:prstGeom prst="rect">
            <a:avLst/>
          </a:prstGeom>
          <a:noFill/>
          <a:ln>
            <a:noFill/>
          </a:ln>
        </p:spPr>
        <p:txBody>
          <a:bodyPr anchorCtr="0" anchor="t" bIns="45700" lIns="91425" spcFirstLastPara="1" rIns="91425" wrap="square" tIns="45700">
            <a:normAutofit/>
          </a:bodyPr>
          <a:lstStyle>
            <a:lvl1pPr lvl="0" algn="l">
              <a:lnSpc>
                <a:spcPct val="90000"/>
              </a:lnSpc>
              <a:spcBef>
                <a:spcPts val="0"/>
              </a:spcBef>
              <a:spcAft>
                <a:spcPts val="0"/>
              </a:spcAft>
              <a:buClr>
                <a:schemeClr val="dk1"/>
              </a:buClr>
              <a:buSzPts val="4000"/>
              <a:buFont typeface="Malgun Gothic"/>
              <a:buNone/>
              <a:defRPr b="1"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15"/>
          <p:cNvSpPr txBox="1"/>
          <p:nvPr>
            <p:ph idx="1" type="subTitle"/>
          </p:nvPr>
        </p:nvSpPr>
        <p:spPr>
          <a:xfrm>
            <a:off x="838200" y="3717538"/>
            <a:ext cx="9144000" cy="518437"/>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rgbClr val="747474"/>
              </a:buClr>
              <a:buSzPts val="1800"/>
              <a:buNone/>
              <a:defRPr b="0" sz="1800">
                <a:solidFill>
                  <a:srgbClr val="747474"/>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19" name="Google Shape;19;p15"/>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15"/>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15"/>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sp>
        <p:nvSpPr>
          <p:cNvPr id="22" name="Google Shape;22;p15"/>
          <p:cNvSpPr/>
          <p:nvPr/>
        </p:nvSpPr>
        <p:spPr>
          <a:xfrm>
            <a:off x="838200" y="4244479"/>
            <a:ext cx="1371600" cy="54864"/>
          </a:xfrm>
          <a:prstGeom prst="rect">
            <a:avLst/>
          </a:prstGeom>
          <a:solidFill>
            <a:srgbClr val="40CDDC"/>
          </a:solidFill>
          <a:ln>
            <a:noFill/>
          </a:ln>
          <a:effectLst>
            <a:outerShdw blurRad="50800" rotWithShape="0" algn="tr" dir="8100000" dist="38100">
              <a:srgbClr val="000000">
                <a:alpha val="2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rgbClr val="009C77"/>
              </a:solidFill>
              <a:latin typeface="Malgun Gothic"/>
              <a:ea typeface="Malgun Gothic"/>
              <a:cs typeface="Malgun Gothic"/>
              <a:sym typeface="Malgun Gothic"/>
            </a:endParaRPr>
          </a:p>
        </p:txBody>
      </p:sp>
      <p:grpSp>
        <p:nvGrpSpPr>
          <p:cNvPr id="23" name="Google Shape;23;p15"/>
          <p:cNvGrpSpPr/>
          <p:nvPr/>
        </p:nvGrpSpPr>
        <p:grpSpPr>
          <a:xfrm>
            <a:off x="10335437" y="213966"/>
            <a:ext cx="1447734" cy="764601"/>
            <a:chOff x="10077284" y="548830"/>
            <a:chExt cx="1150654" cy="607702"/>
          </a:xfrm>
        </p:grpSpPr>
        <p:pic>
          <p:nvPicPr>
            <p:cNvPr descr="The image depicts a stylized, colorful, winged creature with a spiral pattern, surrounded by a minimalistic, abstract molecular structure.&#10;&#10;AI 생성 콘텐츠는 정확하지 않을 수 있습니다." id="24" name="Google Shape;24;p15"/>
            <p:cNvPicPr preferRelativeResize="0"/>
            <p:nvPr/>
          </p:nvPicPr>
          <p:blipFill rotWithShape="1">
            <a:blip r:embed="rId2">
              <a:alphaModFix/>
            </a:blip>
            <a:srcRect b="0" l="0" r="0" t="0"/>
            <a:stretch/>
          </p:blipFill>
          <p:spPr>
            <a:xfrm>
              <a:off x="10499387" y="548830"/>
              <a:ext cx="592152" cy="346774"/>
            </a:xfrm>
            <a:prstGeom prst="rect">
              <a:avLst/>
            </a:prstGeom>
            <a:noFill/>
            <a:ln>
              <a:noFill/>
            </a:ln>
          </p:spPr>
        </p:pic>
        <p:pic>
          <p:nvPicPr>
            <p:cNvPr descr="INNOWL&#10;&#10;AI 생성 콘텐츠는 정확하지 않을 수 있습니다." id="25" name="Google Shape;25;p15"/>
            <p:cNvPicPr preferRelativeResize="0"/>
            <p:nvPr/>
          </p:nvPicPr>
          <p:blipFill rotWithShape="1">
            <a:blip r:embed="rId3">
              <a:alphaModFix/>
            </a:blip>
            <a:srcRect b="0" l="0" r="0" t="0"/>
            <a:stretch/>
          </p:blipFill>
          <p:spPr>
            <a:xfrm>
              <a:off x="10077284" y="895603"/>
              <a:ext cx="1150654" cy="260929"/>
            </a:xfrm>
            <a:prstGeom prst="rect">
              <a:avLst/>
            </a:prstGeom>
            <a:noFill/>
            <a:ln>
              <a:noFill/>
            </a:ln>
          </p:spPr>
        </p:pic>
      </p:gr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 및 내용" type="obj">
  <p:cSld name="OBJECT">
    <p:spTree>
      <p:nvGrpSpPr>
        <p:cNvPr id="26" name="Shape 26"/>
        <p:cNvGrpSpPr/>
        <p:nvPr/>
      </p:nvGrpSpPr>
      <p:grpSpPr>
        <a:xfrm>
          <a:off x="0" y="0"/>
          <a:ext cx="0" cy="0"/>
          <a:chOff x="0" y="0"/>
          <a:chExt cx="0" cy="0"/>
        </a:xfrm>
      </p:grpSpPr>
      <p:sp>
        <p:nvSpPr>
          <p:cNvPr id="27" name="Google Shape;27;p16"/>
          <p:cNvSpPr/>
          <p:nvPr/>
        </p:nvSpPr>
        <p:spPr>
          <a:xfrm>
            <a:off x="0" y="0"/>
            <a:ext cx="12192000" cy="681037"/>
          </a:xfrm>
          <a:prstGeom prst="rect">
            <a:avLst/>
          </a:prstGeom>
          <a:solidFill>
            <a:srgbClr val="002632"/>
          </a:solidFill>
          <a:ln cap="flat" cmpd="sng" w="19050">
            <a:solidFill>
              <a:srgbClr val="003E3B"/>
            </a:solidFill>
            <a:prstDash val="solid"/>
            <a:miter lim="8000"/>
            <a:headEnd len="sm" w="sm" type="none"/>
            <a:tailEnd len="sm" w="sm" type="none"/>
          </a:ln>
          <a:effectLst>
            <a:outerShdw blurRad="50800" rotWithShape="0" algn="t" dir="5400000" dist="25400">
              <a:srgbClr val="000000">
                <a:alpha val="7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28" name="Google Shape;28;p16"/>
          <p:cNvSpPr txBox="1"/>
          <p:nvPr>
            <p:ph type="title"/>
          </p:nvPr>
        </p:nvSpPr>
        <p:spPr>
          <a:xfrm>
            <a:off x="345219" y="0"/>
            <a:ext cx="10515600" cy="681038"/>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2800"/>
              <a:buFont typeface="Malgun Gothic"/>
              <a:buNone/>
              <a:defRPr sz="2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16"/>
          <p:cNvSpPr txBox="1"/>
          <p:nvPr>
            <p:ph idx="1" type="body"/>
          </p:nvPr>
        </p:nvSpPr>
        <p:spPr>
          <a:xfrm>
            <a:off x="838200" y="1066800"/>
            <a:ext cx="10515600" cy="5110163"/>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000"/>
              </a:spcBef>
              <a:spcAft>
                <a:spcPts val="0"/>
              </a:spcAft>
              <a:buClr>
                <a:schemeClr val="dk1"/>
              </a:buClr>
              <a:buSzPts val="2000"/>
              <a:buChar char="•"/>
              <a:defRPr sz="2000"/>
            </a:lvl1pPr>
            <a:lvl2pPr indent="-342900" lvl="1" marL="914400" algn="l">
              <a:lnSpc>
                <a:spcPct val="90000"/>
              </a:lnSpc>
              <a:spcBef>
                <a:spcPts val="500"/>
              </a:spcBef>
              <a:spcAft>
                <a:spcPts val="0"/>
              </a:spcAft>
              <a:buClr>
                <a:schemeClr val="dk1"/>
              </a:buClr>
              <a:buSzPts val="1800"/>
              <a:buChar char="•"/>
              <a:defRPr sz="1800"/>
            </a:lvl2pPr>
            <a:lvl3pPr indent="-330200" lvl="2" marL="1371600" algn="l">
              <a:lnSpc>
                <a:spcPct val="90000"/>
              </a:lnSpc>
              <a:spcBef>
                <a:spcPts val="500"/>
              </a:spcBef>
              <a:spcAft>
                <a:spcPts val="0"/>
              </a:spcAft>
              <a:buClr>
                <a:schemeClr val="dk1"/>
              </a:buClr>
              <a:buSzPts val="1600"/>
              <a:buChar char="•"/>
              <a:defRPr sz="1600"/>
            </a:lvl3pPr>
            <a:lvl4pPr indent="-317500" lvl="3" marL="1828800" algn="l">
              <a:lnSpc>
                <a:spcPct val="90000"/>
              </a:lnSpc>
              <a:spcBef>
                <a:spcPts val="500"/>
              </a:spcBef>
              <a:spcAft>
                <a:spcPts val="0"/>
              </a:spcAft>
              <a:buClr>
                <a:schemeClr val="dk1"/>
              </a:buClr>
              <a:buSzPts val="1400"/>
              <a:buChar char="•"/>
              <a:defRPr sz="1400"/>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0" name="Google Shape;30;p16"/>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31" name="Google Shape;31;p16"/>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16"/>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3" name="Google Shape;33;p16"/>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34" name="Google Shape;34;p16"/>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35" name="Google Shape;35;p16"/>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구역 머리글" type="secHead">
  <p:cSld name="SECTION_HEADER">
    <p:bg>
      <p:bgPr>
        <a:solidFill>
          <a:srgbClr val="002632"/>
        </a:solidFill>
      </p:bgPr>
    </p:bg>
    <p:spTree>
      <p:nvGrpSpPr>
        <p:cNvPr id="36" name="Shape 36"/>
        <p:cNvGrpSpPr/>
        <p:nvPr/>
      </p:nvGrpSpPr>
      <p:grpSpPr>
        <a:xfrm>
          <a:off x="0" y="0"/>
          <a:ext cx="0" cy="0"/>
          <a:chOff x="0" y="0"/>
          <a:chExt cx="0" cy="0"/>
        </a:xfrm>
      </p:grpSpPr>
      <p:sp>
        <p:nvSpPr>
          <p:cNvPr id="37" name="Google Shape;37;p17"/>
          <p:cNvSpPr txBox="1"/>
          <p:nvPr>
            <p:ph type="title"/>
          </p:nvPr>
        </p:nvSpPr>
        <p:spPr>
          <a:xfrm>
            <a:off x="1379095" y="1709739"/>
            <a:ext cx="9676524" cy="171926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lt1"/>
              </a:buClr>
              <a:buSzPts val="4800"/>
              <a:buFont typeface="Malgun Gothic"/>
              <a:buNone/>
              <a:defRPr sz="4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8" name="Google Shape;38;p17"/>
          <p:cNvSpPr txBox="1"/>
          <p:nvPr>
            <p:ph idx="1" type="body"/>
          </p:nvPr>
        </p:nvSpPr>
        <p:spPr>
          <a:xfrm>
            <a:off x="1379094" y="3648074"/>
            <a:ext cx="9676525" cy="1500187"/>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F2F2F2"/>
              </a:buClr>
              <a:buSzPts val="1800"/>
              <a:buNone/>
              <a:defRPr sz="1800">
                <a:solidFill>
                  <a:srgbClr val="F2F2F2"/>
                </a:solidFill>
              </a:defRPr>
            </a:lvl1pPr>
            <a:lvl2pPr indent="-228600" lvl="1" marL="914400" algn="l">
              <a:lnSpc>
                <a:spcPct val="90000"/>
              </a:lnSpc>
              <a:spcBef>
                <a:spcPts val="500"/>
              </a:spcBef>
              <a:spcAft>
                <a:spcPts val="0"/>
              </a:spcAft>
              <a:buClr>
                <a:srgbClr val="757575"/>
              </a:buClr>
              <a:buSzPts val="2000"/>
              <a:buNone/>
              <a:defRPr sz="2000">
                <a:solidFill>
                  <a:srgbClr val="757575"/>
                </a:solidFill>
              </a:defRPr>
            </a:lvl2pPr>
            <a:lvl3pPr indent="-228600" lvl="2" marL="1371600" algn="l">
              <a:lnSpc>
                <a:spcPct val="90000"/>
              </a:lnSpc>
              <a:spcBef>
                <a:spcPts val="500"/>
              </a:spcBef>
              <a:spcAft>
                <a:spcPts val="0"/>
              </a:spcAft>
              <a:buClr>
                <a:srgbClr val="757575"/>
              </a:buClr>
              <a:buSzPts val="1800"/>
              <a:buNone/>
              <a:defRPr sz="1800">
                <a:solidFill>
                  <a:srgbClr val="757575"/>
                </a:solidFill>
              </a:defRPr>
            </a:lvl3pPr>
            <a:lvl4pPr indent="-228600" lvl="3" marL="1828800" algn="l">
              <a:lnSpc>
                <a:spcPct val="90000"/>
              </a:lnSpc>
              <a:spcBef>
                <a:spcPts val="500"/>
              </a:spcBef>
              <a:spcAft>
                <a:spcPts val="0"/>
              </a:spcAft>
              <a:buClr>
                <a:srgbClr val="757575"/>
              </a:buClr>
              <a:buSzPts val="1600"/>
              <a:buNone/>
              <a:defRPr sz="1600">
                <a:solidFill>
                  <a:srgbClr val="757575"/>
                </a:solidFill>
              </a:defRPr>
            </a:lvl4pPr>
            <a:lvl5pPr indent="-228600" lvl="4" marL="2286000" algn="l">
              <a:lnSpc>
                <a:spcPct val="90000"/>
              </a:lnSpc>
              <a:spcBef>
                <a:spcPts val="500"/>
              </a:spcBef>
              <a:spcAft>
                <a:spcPts val="0"/>
              </a:spcAft>
              <a:buClr>
                <a:srgbClr val="757575"/>
              </a:buClr>
              <a:buSzPts val="1600"/>
              <a:buNone/>
              <a:defRPr sz="1600">
                <a:solidFill>
                  <a:srgbClr val="757575"/>
                </a:solidFill>
              </a:defRPr>
            </a:lvl5pPr>
            <a:lvl6pPr indent="-228600" lvl="5" marL="2743200" algn="l">
              <a:lnSpc>
                <a:spcPct val="90000"/>
              </a:lnSpc>
              <a:spcBef>
                <a:spcPts val="500"/>
              </a:spcBef>
              <a:spcAft>
                <a:spcPts val="0"/>
              </a:spcAft>
              <a:buClr>
                <a:srgbClr val="757575"/>
              </a:buClr>
              <a:buSzPts val="1600"/>
              <a:buNone/>
              <a:defRPr sz="1600">
                <a:solidFill>
                  <a:srgbClr val="757575"/>
                </a:solidFill>
              </a:defRPr>
            </a:lvl6pPr>
            <a:lvl7pPr indent="-228600" lvl="6" marL="3200400" algn="l">
              <a:lnSpc>
                <a:spcPct val="90000"/>
              </a:lnSpc>
              <a:spcBef>
                <a:spcPts val="500"/>
              </a:spcBef>
              <a:spcAft>
                <a:spcPts val="0"/>
              </a:spcAft>
              <a:buClr>
                <a:srgbClr val="757575"/>
              </a:buClr>
              <a:buSzPts val="1600"/>
              <a:buNone/>
              <a:defRPr sz="1600">
                <a:solidFill>
                  <a:srgbClr val="757575"/>
                </a:solidFill>
              </a:defRPr>
            </a:lvl7pPr>
            <a:lvl8pPr indent="-228600" lvl="7" marL="3657600" algn="l">
              <a:lnSpc>
                <a:spcPct val="90000"/>
              </a:lnSpc>
              <a:spcBef>
                <a:spcPts val="500"/>
              </a:spcBef>
              <a:spcAft>
                <a:spcPts val="0"/>
              </a:spcAft>
              <a:buClr>
                <a:srgbClr val="757575"/>
              </a:buClr>
              <a:buSzPts val="1600"/>
              <a:buNone/>
              <a:defRPr sz="1600">
                <a:solidFill>
                  <a:srgbClr val="757575"/>
                </a:solidFill>
              </a:defRPr>
            </a:lvl8pPr>
            <a:lvl9pPr indent="-228600" lvl="8" marL="4114800" algn="l">
              <a:lnSpc>
                <a:spcPct val="90000"/>
              </a:lnSpc>
              <a:spcBef>
                <a:spcPts val="500"/>
              </a:spcBef>
              <a:spcAft>
                <a:spcPts val="0"/>
              </a:spcAft>
              <a:buClr>
                <a:srgbClr val="757575"/>
              </a:buClr>
              <a:buSzPts val="1600"/>
              <a:buNone/>
              <a:defRPr sz="1600">
                <a:solidFill>
                  <a:srgbClr val="757575"/>
                </a:solidFill>
              </a:defRPr>
            </a:lvl9pPr>
          </a:lstStyle>
          <a:p/>
        </p:txBody>
      </p:sp>
      <p:sp>
        <p:nvSpPr>
          <p:cNvPr id="39" name="Google Shape;39;p17"/>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200" u="none" cap="none" strike="noStrike">
                <a:solidFill>
                  <a:srgbClr val="F2F2F2"/>
                </a:solidFill>
                <a:latin typeface="Malgun Gothic"/>
                <a:ea typeface="Malgun Gothic"/>
                <a:cs typeface="Malgun Gothic"/>
                <a:sym typeface="Malgun Gothic"/>
              </a:defRPr>
            </a:lvl1pPr>
            <a:lvl2pPr indent="0" lvl="1" marL="0" algn="r">
              <a:spcBef>
                <a:spcPts val="0"/>
              </a:spcBef>
              <a:buNone/>
              <a:defRPr b="0" i="0" sz="1200" u="none" cap="none" strike="noStrike">
                <a:solidFill>
                  <a:srgbClr val="F2F2F2"/>
                </a:solidFill>
                <a:latin typeface="Malgun Gothic"/>
                <a:ea typeface="Malgun Gothic"/>
                <a:cs typeface="Malgun Gothic"/>
                <a:sym typeface="Malgun Gothic"/>
              </a:defRPr>
            </a:lvl2pPr>
            <a:lvl3pPr indent="0" lvl="2" marL="0" algn="r">
              <a:spcBef>
                <a:spcPts val="0"/>
              </a:spcBef>
              <a:buNone/>
              <a:defRPr b="0" i="0" sz="1200" u="none" cap="none" strike="noStrike">
                <a:solidFill>
                  <a:srgbClr val="F2F2F2"/>
                </a:solidFill>
                <a:latin typeface="Malgun Gothic"/>
                <a:ea typeface="Malgun Gothic"/>
                <a:cs typeface="Malgun Gothic"/>
                <a:sym typeface="Malgun Gothic"/>
              </a:defRPr>
            </a:lvl3pPr>
            <a:lvl4pPr indent="0" lvl="3" marL="0" algn="r">
              <a:spcBef>
                <a:spcPts val="0"/>
              </a:spcBef>
              <a:buNone/>
              <a:defRPr b="0" i="0" sz="1200" u="none" cap="none" strike="noStrike">
                <a:solidFill>
                  <a:srgbClr val="F2F2F2"/>
                </a:solidFill>
                <a:latin typeface="Malgun Gothic"/>
                <a:ea typeface="Malgun Gothic"/>
                <a:cs typeface="Malgun Gothic"/>
                <a:sym typeface="Malgun Gothic"/>
              </a:defRPr>
            </a:lvl4pPr>
            <a:lvl5pPr indent="0" lvl="4" marL="0" algn="r">
              <a:spcBef>
                <a:spcPts val="0"/>
              </a:spcBef>
              <a:buNone/>
              <a:defRPr b="0" i="0" sz="1200" u="none" cap="none" strike="noStrike">
                <a:solidFill>
                  <a:srgbClr val="F2F2F2"/>
                </a:solidFill>
                <a:latin typeface="Malgun Gothic"/>
                <a:ea typeface="Malgun Gothic"/>
                <a:cs typeface="Malgun Gothic"/>
                <a:sym typeface="Malgun Gothic"/>
              </a:defRPr>
            </a:lvl5pPr>
            <a:lvl6pPr indent="0" lvl="5" marL="0" algn="r">
              <a:spcBef>
                <a:spcPts val="0"/>
              </a:spcBef>
              <a:buNone/>
              <a:defRPr b="0" i="0" sz="1200" u="none" cap="none" strike="noStrike">
                <a:solidFill>
                  <a:srgbClr val="F2F2F2"/>
                </a:solidFill>
                <a:latin typeface="Malgun Gothic"/>
                <a:ea typeface="Malgun Gothic"/>
                <a:cs typeface="Malgun Gothic"/>
                <a:sym typeface="Malgun Gothic"/>
              </a:defRPr>
            </a:lvl6pPr>
            <a:lvl7pPr indent="0" lvl="6" marL="0" algn="r">
              <a:spcBef>
                <a:spcPts val="0"/>
              </a:spcBef>
              <a:buNone/>
              <a:defRPr b="0" i="0" sz="1200" u="none" cap="none" strike="noStrike">
                <a:solidFill>
                  <a:srgbClr val="F2F2F2"/>
                </a:solidFill>
                <a:latin typeface="Malgun Gothic"/>
                <a:ea typeface="Malgun Gothic"/>
                <a:cs typeface="Malgun Gothic"/>
                <a:sym typeface="Malgun Gothic"/>
              </a:defRPr>
            </a:lvl7pPr>
            <a:lvl8pPr indent="0" lvl="7" marL="0" algn="r">
              <a:spcBef>
                <a:spcPts val="0"/>
              </a:spcBef>
              <a:buNone/>
              <a:defRPr b="0" i="0" sz="1200" u="none" cap="none" strike="noStrike">
                <a:solidFill>
                  <a:srgbClr val="F2F2F2"/>
                </a:solidFill>
                <a:latin typeface="Malgun Gothic"/>
                <a:ea typeface="Malgun Gothic"/>
                <a:cs typeface="Malgun Gothic"/>
                <a:sym typeface="Malgun Gothic"/>
              </a:defRPr>
            </a:lvl8pPr>
            <a:lvl9pPr indent="0" lvl="8" marL="0" algn="r">
              <a:spcBef>
                <a:spcPts val="0"/>
              </a:spcBef>
              <a:buNone/>
              <a:defRPr b="0" i="0" sz="1200" u="none" cap="none" strike="noStrike">
                <a:solidFill>
                  <a:srgbClr val="F2F2F2"/>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40" name="Google Shape;40;p17"/>
          <p:cNvPicPr preferRelativeResize="0"/>
          <p:nvPr/>
        </p:nvPicPr>
        <p:blipFill rotWithShape="1">
          <a:blip r:embed="rId2">
            <a:alphaModFix amt="20000"/>
          </a:blip>
          <a:srcRect b="0" l="0" r="0" t="0"/>
          <a:stretch/>
        </p:blipFill>
        <p:spPr>
          <a:xfrm>
            <a:off x="6787688" y="3209926"/>
            <a:ext cx="5261054" cy="3080961"/>
          </a:xfrm>
          <a:prstGeom prst="rect">
            <a:avLst/>
          </a:prstGeom>
          <a:noFill/>
          <a:ln>
            <a:noFill/>
          </a:ln>
        </p:spPr>
      </p:pic>
      <p:pic>
        <p:nvPicPr>
          <p:cNvPr descr="INNOWL&#10;&#10;AI 생성 콘텐츠는 정확하지 않을 수 있습니다." id="41" name="Google Shape;41;p17"/>
          <p:cNvPicPr preferRelativeResize="0"/>
          <p:nvPr/>
        </p:nvPicPr>
        <p:blipFill rotWithShape="1">
          <a:blip r:embed="rId3">
            <a:alphaModFix/>
          </a:blip>
          <a:srcRect b="0" l="0" r="0" t="0"/>
          <a:stretch/>
        </p:blipFill>
        <p:spPr>
          <a:xfrm>
            <a:off x="10549090" y="354334"/>
            <a:ext cx="1252314" cy="283982"/>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콘텐츠 2개">
  <p:cSld name="콘텐츠 2개">
    <p:spTree>
      <p:nvGrpSpPr>
        <p:cNvPr id="42" name="Shape 42"/>
        <p:cNvGrpSpPr/>
        <p:nvPr/>
      </p:nvGrpSpPr>
      <p:grpSpPr>
        <a:xfrm>
          <a:off x="0" y="0"/>
          <a:ext cx="0" cy="0"/>
          <a:chOff x="0" y="0"/>
          <a:chExt cx="0" cy="0"/>
        </a:xfrm>
      </p:grpSpPr>
      <p:sp>
        <p:nvSpPr>
          <p:cNvPr id="43" name="Google Shape;43;p18"/>
          <p:cNvSpPr txBox="1"/>
          <p:nvPr>
            <p:ph idx="1" type="body"/>
          </p:nvPr>
        </p:nvSpPr>
        <p:spPr>
          <a:xfrm>
            <a:off x="497305" y="1009097"/>
            <a:ext cx="5522495" cy="5246521"/>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000"/>
              </a:spcBef>
              <a:spcAft>
                <a:spcPts val="0"/>
              </a:spcAft>
              <a:buClr>
                <a:schemeClr val="dk1"/>
              </a:buClr>
              <a:buSzPts val="2000"/>
              <a:buChar char="•"/>
              <a:defRPr sz="2000"/>
            </a:lvl1pPr>
            <a:lvl2pPr indent="-342900" lvl="1" marL="914400" algn="l">
              <a:lnSpc>
                <a:spcPct val="90000"/>
              </a:lnSpc>
              <a:spcBef>
                <a:spcPts val="500"/>
              </a:spcBef>
              <a:spcAft>
                <a:spcPts val="0"/>
              </a:spcAft>
              <a:buClr>
                <a:schemeClr val="dk1"/>
              </a:buClr>
              <a:buSzPts val="1800"/>
              <a:buChar char="•"/>
              <a:defRPr sz="1800"/>
            </a:lvl2pPr>
            <a:lvl3pPr indent="-330200" lvl="2" marL="1371600" algn="l">
              <a:lnSpc>
                <a:spcPct val="90000"/>
              </a:lnSpc>
              <a:spcBef>
                <a:spcPts val="500"/>
              </a:spcBef>
              <a:spcAft>
                <a:spcPts val="0"/>
              </a:spcAft>
              <a:buClr>
                <a:schemeClr val="dk1"/>
              </a:buClr>
              <a:buSzPts val="1600"/>
              <a:buChar char="•"/>
              <a:defRPr sz="1600"/>
            </a:lvl3pPr>
            <a:lvl4pPr indent="-317500" lvl="3" marL="1828800" algn="l">
              <a:lnSpc>
                <a:spcPct val="90000"/>
              </a:lnSpc>
              <a:spcBef>
                <a:spcPts val="500"/>
              </a:spcBef>
              <a:spcAft>
                <a:spcPts val="0"/>
              </a:spcAft>
              <a:buClr>
                <a:schemeClr val="dk1"/>
              </a:buClr>
              <a:buSzPts val="1400"/>
              <a:buChar char="•"/>
              <a:defRPr sz="1400"/>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4" name="Google Shape;44;p18"/>
          <p:cNvSpPr/>
          <p:nvPr/>
        </p:nvSpPr>
        <p:spPr>
          <a:xfrm>
            <a:off x="0" y="0"/>
            <a:ext cx="12192000" cy="681037"/>
          </a:xfrm>
          <a:prstGeom prst="rect">
            <a:avLst/>
          </a:prstGeom>
          <a:solidFill>
            <a:srgbClr val="002632"/>
          </a:solidFill>
          <a:ln cap="flat" cmpd="sng" w="19050">
            <a:solidFill>
              <a:srgbClr val="003E3B"/>
            </a:solidFill>
            <a:prstDash val="solid"/>
            <a:miter lim="8000"/>
            <a:headEnd len="sm" w="sm" type="none"/>
            <a:tailEnd len="sm" w="sm" type="none"/>
          </a:ln>
          <a:effectLst>
            <a:outerShdw blurRad="50800" rotWithShape="0" algn="t" dir="5400000" dist="25400">
              <a:srgbClr val="000000">
                <a:alpha val="7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45" name="Google Shape;45;p18"/>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46" name="Google Shape;46;p18"/>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18"/>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18"/>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sp>
        <p:nvSpPr>
          <p:cNvPr id="49" name="Google Shape;49;p18"/>
          <p:cNvSpPr txBox="1"/>
          <p:nvPr>
            <p:ph idx="2" type="body"/>
          </p:nvPr>
        </p:nvSpPr>
        <p:spPr>
          <a:xfrm>
            <a:off x="6172202" y="1009097"/>
            <a:ext cx="5522495" cy="5246521"/>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000"/>
              </a:spcBef>
              <a:spcAft>
                <a:spcPts val="0"/>
              </a:spcAft>
              <a:buClr>
                <a:schemeClr val="dk1"/>
              </a:buClr>
              <a:buSzPts val="2000"/>
              <a:buChar char="•"/>
              <a:defRPr sz="2000"/>
            </a:lvl1pPr>
            <a:lvl2pPr indent="-342900" lvl="1" marL="914400" algn="l">
              <a:lnSpc>
                <a:spcPct val="90000"/>
              </a:lnSpc>
              <a:spcBef>
                <a:spcPts val="500"/>
              </a:spcBef>
              <a:spcAft>
                <a:spcPts val="0"/>
              </a:spcAft>
              <a:buClr>
                <a:schemeClr val="dk1"/>
              </a:buClr>
              <a:buSzPts val="1800"/>
              <a:buChar char="•"/>
              <a:defRPr sz="1800"/>
            </a:lvl2pPr>
            <a:lvl3pPr indent="-330200" lvl="2" marL="1371600" algn="l">
              <a:lnSpc>
                <a:spcPct val="90000"/>
              </a:lnSpc>
              <a:spcBef>
                <a:spcPts val="500"/>
              </a:spcBef>
              <a:spcAft>
                <a:spcPts val="0"/>
              </a:spcAft>
              <a:buClr>
                <a:schemeClr val="dk1"/>
              </a:buClr>
              <a:buSzPts val="1600"/>
              <a:buChar char="•"/>
              <a:defRPr sz="1600"/>
            </a:lvl3pPr>
            <a:lvl4pPr indent="-317500" lvl="3" marL="1828800" algn="l">
              <a:lnSpc>
                <a:spcPct val="90000"/>
              </a:lnSpc>
              <a:spcBef>
                <a:spcPts val="500"/>
              </a:spcBef>
              <a:spcAft>
                <a:spcPts val="0"/>
              </a:spcAft>
              <a:buClr>
                <a:schemeClr val="dk1"/>
              </a:buClr>
              <a:buSzPts val="1400"/>
              <a:buChar char="•"/>
              <a:defRPr sz="1400"/>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pic>
        <p:nvPicPr>
          <p:cNvPr descr="The image depicts a stylized, colorful, winged creature with a spiral pattern, surrounded by a minimalistic, abstract molecular structure.&#10;&#10;AI 생성 콘텐츠는 정확하지 않을 수 있습니다." id="50" name="Google Shape;50;p18"/>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51" name="Google Shape;51;p18"/>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
        <p:nvSpPr>
          <p:cNvPr id="52" name="Google Shape;52;p18"/>
          <p:cNvSpPr txBox="1"/>
          <p:nvPr>
            <p:ph type="title"/>
          </p:nvPr>
        </p:nvSpPr>
        <p:spPr>
          <a:xfrm>
            <a:off x="345219" y="106680"/>
            <a:ext cx="10515600" cy="574358"/>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2800"/>
              <a:buFont typeface="Malgun Gothic"/>
              <a:buNone/>
              <a:defRPr sz="2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만">
  <p:cSld name="제목만">
    <p:spTree>
      <p:nvGrpSpPr>
        <p:cNvPr id="53" name="Shape 53"/>
        <p:cNvGrpSpPr/>
        <p:nvPr/>
      </p:nvGrpSpPr>
      <p:grpSpPr>
        <a:xfrm>
          <a:off x="0" y="0"/>
          <a:ext cx="0" cy="0"/>
          <a:chOff x="0" y="0"/>
          <a:chExt cx="0" cy="0"/>
        </a:xfrm>
      </p:grpSpPr>
      <p:sp>
        <p:nvSpPr>
          <p:cNvPr id="54" name="Google Shape;54;p19"/>
          <p:cNvSpPr/>
          <p:nvPr/>
        </p:nvSpPr>
        <p:spPr>
          <a:xfrm>
            <a:off x="0" y="0"/>
            <a:ext cx="12192000" cy="681037"/>
          </a:xfrm>
          <a:prstGeom prst="rect">
            <a:avLst/>
          </a:prstGeom>
          <a:solidFill>
            <a:srgbClr val="002632"/>
          </a:solidFill>
          <a:ln cap="flat" cmpd="sng" w="19050">
            <a:solidFill>
              <a:srgbClr val="003E3B"/>
            </a:solidFill>
            <a:prstDash val="solid"/>
            <a:miter lim="8000"/>
            <a:headEnd len="sm" w="sm" type="none"/>
            <a:tailEnd len="sm" w="sm" type="none"/>
          </a:ln>
          <a:effectLst>
            <a:outerShdw blurRad="50800" rotWithShape="0" algn="t" dir="5400000" dist="25400">
              <a:srgbClr val="000000">
                <a:alpha val="7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55" name="Google Shape;55;p19"/>
          <p:cNvSpPr txBox="1"/>
          <p:nvPr>
            <p:ph type="title"/>
          </p:nvPr>
        </p:nvSpPr>
        <p:spPr>
          <a:xfrm>
            <a:off x="345219" y="106680"/>
            <a:ext cx="10515600" cy="574358"/>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2800"/>
              <a:buFont typeface="Malgun Gothic"/>
              <a:buNone/>
              <a:defRPr sz="2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19"/>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57" name="Google Shape;57;p19"/>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19"/>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19"/>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60" name="Google Shape;60;p19"/>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61" name="Google Shape;61;p19"/>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빈 화면" type="blank">
  <p:cSld name="BLANK">
    <p:spTree>
      <p:nvGrpSpPr>
        <p:cNvPr id="62" name="Shape 62"/>
        <p:cNvGrpSpPr/>
        <p:nvPr/>
      </p:nvGrpSpPr>
      <p:grpSpPr>
        <a:xfrm>
          <a:off x="0" y="0"/>
          <a:ext cx="0" cy="0"/>
          <a:chOff x="0" y="0"/>
          <a:chExt cx="0" cy="0"/>
        </a:xfrm>
      </p:grpSpPr>
      <p:sp>
        <p:nvSpPr>
          <p:cNvPr id="63" name="Google Shape;63;p20"/>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64" name="Google Shape;64;p20"/>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5" name="Google Shape;65;p20"/>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20"/>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67" name="Google Shape;67;p20"/>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68" name="Google Shape;68;p20"/>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4"/>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Malgun Gothic"/>
              <a:buNone/>
              <a:defRPr b="1" i="0" sz="4400" u="none" cap="none" strike="noStrike">
                <a:solidFill>
                  <a:schemeClr val="dk1"/>
                </a:solidFill>
                <a:latin typeface="Malgun Gothic"/>
                <a:ea typeface="Malgun Gothic"/>
                <a:cs typeface="Malgun Gothic"/>
                <a:sym typeface="Malgun Gothic"/>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4"/>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355600" lvl="0" marL="457200" marR="0" rtl="0" algn="l">
              <a:lnSpc>
                <a:spcPct val="90000"/>
              </a:lnSpc>
              <a:spcBef>
                <a:spcPts val="1000"/>
              </a:spcBef>
              <a:spcAft>
                <a:spcPts val="0"/>
              </a:spcAft>
              <a:buClr>
                <a:schemeClr val="dk1"/>
              </a:buClr>
              <a:buSzPts val="2000"/>
              <a:buFont typeface="Arial"/>
              <a:buChar char="•"/>
              <a:defRPr b="0" i="0" sz="2000" u="none" cap="none" strike="noStrike">
                <a:solidFill>
                  <a:schemeClr val="dk1"/>
                </a:solidFill>
                <a:latin typeface="Malgun Gothic"/>
                <a:ea typeface="Malgun Gothic"/>
                <a:cs typeface="Malgun Gothic"/>
                <a:sym typeface="Malgun Gothic"/>
              </a:defRPr>
            </a:lvl1pPr>
            <a:lvl2pPr indent="-342900" lvl="1" marL="914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2pPr>
            <a:lvl3pPr indent="-330200" lvl="2" marL="1371600" marR="0" rtl="0" algn="l">
              <a:lnSpc>
                <a:spcPct val="90000"/>
              </a:lnSpc>
              <a:spcBef>
                <a:spcPts val="500"/>
              </a:spcBef>
              <a:spcAft>
                <a:spcPts val="0"/>
              </a:spcAft>
              <a:buClr>
                <a:schemeClr val="dk1"/>
              </a:buClr>
              <a:buSzPts val="1600"/>
              <a:buFont typeface="Arial"/>
              <a:buChar char="•"/>
              <a:defRPr b="0" i="0" sz="1600" u="none" cap="none" strike="noStrike">
                <a:solidFill>
                  <a:schemeClr val="dk1"/>
                </a:solidFill>
                <a:latin typeface="Malgun Gothic"/>
                <a:ea typeface="Malgun Gothic"/>
                <a:cs typeface="Malgun Gothic"/>
                <a:sym typeface="Malgun Gothic"/>
              </a:defRPr>
            </a:lvl3pPr>
            <a:lvl4pPr indent="-317500" lvl="3" marL="1828800" marR="0" rtl="0" algn="l">
              <a:lnSpc>
                <a:spcPct val="90000"/>
              </a:lnSpc>
              <a:spcBef>
                <a:spcPts val="500"/>
              </a:spcBef>
              <a:spcAft>
                <a:spcPts val="0"/>
              </a:spcAft>
              <a:buClr>
                <a:schemeClr val="dk1"/>
              </a:buClr>
              <a:buSzPts val="1400"/>
              <a:buFont typeface="Arial"/>
              <a:buChar char="•"/>
              <a:defRPr b="0" i="0" sz="1400" u="none" cap="none" strike="noStrike">
                <a:solidFill>
                  <a:schemeClr val="dk1"/>
                </a:solidFill>
                <a:latin typeface="Malgun Gothic"/>
                <a:ea typeface="Malgun Gothic"/>
                <a:cs typeface="Malgun Gothic"/>
                <a:sym typeface="Malgun Gothic"/>
              </a:defRPr>
            </a:lvl4pPr>
            <a:lvl5pPr indent="-317500" lvl="4" marL="2286000" marR="0" rtl="0" algn="l">
              <a:lnSpc>
                <a:spcPct val="90000"/>
              </a:lnSpc>
              <a:spcBef>
                <a:spcPts val="500"/>
              </a:spcBef>
              <a:spcAft>
                <a:spcPts val="0"/>
              </a:spcAft>
              <a:buClr>
                <a:schemeClr val="dk1"/>
              </a:buClr>
              <a:buSzPts val="1400"/>
              <a:buFont typeface="Arial"/>
              <a:buChar char="•"/>
              <a:defRPr b="0" i="0" sz="1400" u="none" cap="none" strike="noStrike">
                <a:solidFill>
                  <a:schemeClr val="dk1"/>
                </a:solidFill>
                <a:latin typeface="Malgun Gothic"/>
                <a:ea typeface="Malgun Gothic"/>
                <a:cs typeface="Malgun Gothic"/>
                <a:sym typeface="Malgun Gothic"/>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9pPr>
          </a:lstStyle>
          <a:p/>
        </p:txBody>
      </p:sp>
      <p:sp>
        <p:nvSpPr>
          <p:cNvPr id="12" name="Google Shape;12;p14"/>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757575"/>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13" name="Google Shape;13;p14"/>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757575"/>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14" name="Google Shape;14;p14"/>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757575"/>
                </a:solidFill>
                <a:latin typeface="Malgun Gothic"/>
                <a:ea typeface="Malgun Gothic"/>
                <a:cs typeface="Malgun Gothic"/>
                <a:sym typeface="Malgun Gothic"/>
              </a:defRPr>
            </a:lvl1pPr>
            <a:lvl2pPr indent="0" lvl="1" marL="0" marR="0" rtl="0" algn="r">
              <a:spcBef>
                <a:spcPts val="0"/>
              </a:spcBef>
              <a:buNone/>
              <a:defRPr b="0" i="0" sz="1200" u="none" cap="none" strike="noStrike">
                <a:solidFill>
                  <a:srgbClr val="757575"/>
                </a:solidFill>
                <a:latin typeface="Malgun Gothic"/>
                <a:ea typeface="Malgun Gothic"/>
                <a:cs typeface="Malgun Gothic"/>
                <a:sym typeface="Malgun Gothic"/>
              </a:defRPr>
            </a:lvl2pPr>
            <a:lvl3pPr indent="0" lvl="2" marL="0" marR="0" rtl="0" algn="r">
              <a:spcBef>
                <a:spcPts val="0"/>
              </a:spcBef>
              <a:buNone/>
              <a:defRPr b="0" i="0" sz="1200" u="none" cap="none" strike="noStrike">
                <a:solidFill>
                  <a:srgbClr val="757575"/>
                </a:solidFill>
                <a:latin typeface="Malgun Gothic"/>
                <a:ea typeface="Malgun Gothic"/>
                <a:cs typeface="Malgun Gothic"/>
                <a:sym typeface="Malgun Gothic"/>
              </a:defRPr>
            </a:lvl3pPr>
            <a:lvl4pPr indent="0" lvl="3" marL="0" marR="0" rtl="0" algn="r">
              <a:spcBef>
                <a:spcPts val="0"/>
              </a:spcBef>
              <a:buNone/>
              <a:defRPr b="0" i="0" sz="1200" u="none" cap="none" strike="noStrike">
                <a:solidFill>
                  <a:srgbClr val="757575"/>
                </a:solidFill>
                <a:latin typeface="Malgun Gothic"/>
                <a:ea typeface="Malgun Gothic"/>
                <a:cs typeface="Malgun Gothic"/>
                <a:sym typeface="Malgun Gothic"/>
              </a:defRPr>
            </a:lvl4pPr>
            <a:lvl5pPr indent="0" lvl="4" marL="0" marR="0" rtl="0" algn="r">
              <a:spcBef>
                <a:spcPts val="0"/>
              </a:spcBef>
              <a:buNone/>
              <a:defRPr b="0" i="0" sz="1200" u="none" cap="none" strike="noStrike">
                <a:solidFill>
                  <a:srgbClr val="757575"/>
                </a:solidFill>
                <a:latin typeface="Malgun Gothic"/>
                <a:ea typeface="Malgun Gothic"/>
                <a:cs typeface="Malgun Gothic"/>
                <a:sym typeface="Malgun Gothic"/>
              </a:defRPr>
            </a:lvl5pPr>
            <a:lvl6pPr indent="0" lvl="5" marL="0" marR="0" rtl="0" algn="r">
              <a:spcBef>
                <a:spcPts val="0"/>
              </a:spcBef>
              <a:buNone/>
              <a:defRPr b="0" i="0" sz="1200" u="none" cap="none" strike="noStrike">
                <a:solidFill>
                  <a:srgbClr val="757575"/>
                </a:solidFill>
                <a:latin typeface="Malgun Gothic"/>
                <a:ea typeface="Malgun Gothic"/>
                <a:cs typeface="Malgun Gothic"/>
                <a:sym typeface="Malgun Gothic"/>
              </a:defRPr>
            </a:lvl6pPr>
            <a:lvl7pPr indent="0" lvl="6" marL="0" marR="0" rtl="0" algn="r">
              <a:spcBef>
                <a:spcPts val="0"/>
              </a:spcBef>
              <a:buNone/>
              <a:defRPr b="0" i="0" sz="1200" u="none" cap="none" strike="noStrike">
                <a:solidFill>
                  <a:srgbClr val="757575"/>
                </a:solidFill>
                <a:latin typeface="Malgun Gothic"/>
                <a:ea typeface="Malgun Gothic"/>
                <a:cs typeface="Malgun Gothic"/>
                <a:sym typeface="Malgun Gothic"/>
              </a:defRPr>
            </a:lvl7pPr>
            <a:lvl8pPr indent="0" lvl="7" marL="0" marR="0" rtl="0" algn="r">
              <a:spcBef>
                <a:spcPts val="0"/>
              </a:spcBef>
              <a:buNone/>
              <a:defRPr b="0" i="0" sz="1200" u="none" cap="none" strike="noStrike">
                <a:solidFill>
                  <a:srgbClr val="757575"/>
                </a:solidFill>
                <a:latin typeface="Malgun Gothic"/>
                <a:ea typeface="Malgun Gothic"/>
                <a:cs typeface="Malgun Gothic"/>
                <a:sym typeface="Malgun Gothic"/>
              </a:defRPr>
            </a:lvl8pPr>
            <a:lvl9pPr indent="0" lvl="8" marL="0" marR="0" rtl="0" algn="r">
              <a:spcBef>
                <a:spcPts val="0"/>
              </a:spcBef>
              <a:buNone/>
              <a:defRPr b="0" i="0" sz="1200" u="none" cap="none" strike="noStrike">
                <a:solidFill>
                  <a:srgbClr val="757575"/>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9.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0.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6.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7.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8.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9.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0.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2.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a:lstStyle/>
          <a:p>
            <a:pPr algn="l"/>
            <a:r>
              <a:rPr sz="3200" b="1">
                <a:solidFill>
                  <a:srgbClr val="002632"/>
                </a:solidFill>
                <a:latin typeface="맑은 고딕"/>
              </a:rPr>
              <a:t>Boomingup 매매 실거래가 영향 요인 EDA</a:t>
            </a:r>
          </a:p>
        </p:txBody>
      </p:sp>
      <p:sp>
        <p:nvSpPr>
          <p:cNvPr id="3" name="Subtitle 2"/>
          <p:cNvSpPr>
            <a:spLocks noGrp="1"/>
          </p:cNvSpPr>
          <p:nvPr>
            <p:ph type="subTitle" idx="1"/>
          </p:nvPr>
        </p:nvSpPr>
        <p:spPr/>
        <p:txBody>
          <a:bodyPr wrap="square"/>
          <a:lstStyle/>
          <a:p>
            <a:pPr algn="l"/>
            <a:r>
              <a:rPr sz="1500" b="0">
                <a:solidFill>
                  <a:srgbClr val="5B6B70"/>
                </a:solidFill>
                <a:latin typeface="맑은 고딕"/>
              </a:rPr>
              <a:t>Railway Postgres 원본 데이터로 확인한 10개 축 분석 — 시간·지역·단지·입지·매물·전세·이벤트·인구</a:t>
            </a:r>
          </a:p>
        </p:txBody>
      </p:sp>
      <p:sp>
        <p:nvSpPr>
          <p:cNvPr id="4" name="TextBox 3"/>
          <p:cNvSpPr txBox="1"/>
          <p:nvPr/>
        </p:nvSpPr>
        <p:spPr>
          <a:xfrm>
            <a:off x="640080" y="1874519"/>
            <a:ext cx="9601200" cy="411480"/>
          </a:xfrm>
          <a:prstGeom prst="rect">
            <a:avLst/>
          </a:prstGeom>
          <a:noFill/>
        </p:spPr>
        <p:txBody>
          <a:bodyPr wrap="none">
            <a:spAutoFit/>
          </a:bodyPr>
          <a:lstStyle/>
          <a:p>
            <a:pPr algn="l"/>
            <a:r>
              <a:rPr sz="1500" b="1">
                <a:solidFill>
                  <a:srgbClr val="002632"/>
                </a:solidFill>
                <a:latin typeface="맑은 고딕"/>
              </a:rPr>
              <a:t>TEAM MEETING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오늘 다룰 내용</a:t>
            </a:r>
          </a:p>
        </p:txBody>
      </p:sp>
      <p:sp>
        <p:nvSpPr>
          <p:cNvPr id="3" name="Rounded Rectangle 2"/>
          <p:cNvSpPr/>
          <p:nvPr/>
        </p:nvSpPr>
        <p:spPr>
          <a:xfrm>
            <a:off x="457200" y="896112"/>
            <a:ext cx="11277295" cy="2523744"/>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marL="109728">
              <a:lnSpc>
                <a:spcPct val="125000"/>
              </a:lnSpc>
              <a:spcAft>
                <a:spcPts val="400"/>
              </a:spcAft>
            </a:pPr>
            <a:r>
              <a:rPr sz="1050" b="1">
                <a:solidFill>
                  <a:srgbClr val="002632"/>
                </a:solidFill>
                <a:latin typeface="맑은 고딕"/>
              </a:rPr>
              <a:t>· 01  </a:t>
            </a:r>
            <a:r>
              <a:rPr sz="1050" b="0">
                <a:solidFill>
                  <a:srgbClr val="5B6B70"/>
                </a:solidFill>
                <a:latin typeface="맑은 고딕"/>
              </a:rPr>
              <a:t>시간 — 거래량·가격이 정책/금리에 어떻게 반응하나</a:t>
            </a:r>
          </a:p>
          <a:p>
            <a:pPr algn="l" marL="109728">
              <a:lnSpc>
                <a:spcPct val="125000"/>
              </a:lnSpc>
              <a:spcAft>
                <a:spcPts val="400"/>
              </a:spcAft>
            </a:pPr>
            <a:r>
              <a:rPr sz="1050" b="1">
                <a:solidFill>
                  <a:srgbClr val="002632"/>
                </a:solidFill>
                <a:latin typeface="맑은 고딕"/>
              </a:rPr>
              <a:t>· 02  </a:t>
            </a:r>
            <a:r>
              <a:rPr sz="1050" b="0">
                <a:solidFill>
                  <a:srgbClr val="5B6B70"/>
                </a:solidFill>
                <a:latin typeface="맑은 고딕"/>
              </a:rPr>
              <a:t>지역 — 자치구·법정동별 가격 격차와 동별 편차</a:t>
            </a:r>
          </a:p>
          <a:p>
            <a:pPr algn="l" marL="109728">
              <a:lnSpc>
                <a:spcPct val="125000"/>
              </a:lnSpc>
              <a:spcAft>
                <a:spcPts val="400"/>
              </a:spcAft>
            </a:pPr>
            <a:r>
              <a:rPr sz="1050" b="1">
                <a:solidFill>
                  <a:srgbClr val="002632"/>
                </a:solidFill>
                <a:latin typeface="맑은 고딕"/>
              </a:rPr>
              <a:t>· 03  </a:t>
            </a:r>
            <a:r>
              <a:rPr sz="1050" b="0">
                <a:solidFill>
                  <a:srgbClr val="5B6B70"/>
                </a:solidFill>
                <a:latin typeface="맑은 고딕"/>
              </a:rPr>
              <a:t>단지 속성 — 준공연차, 정비사업 단계</a:t>
            </a:r>
          </a:p>
          <a:p>
            <a:pPr algn="l" marL="109728">
              <a:lnSpc>
                <a:spcPct val="125000"/>
              </a:lnSpc>
              <a:spcAft>
                <a:spcPts val="400"/>
              </a:spcAft>
            </a:pPr>
            <a:r>
              <a:rPr sz="1050" b="1">
                <a:solidFill>
                  <a:srgbClr val="002632"/>
                </a:solidFill>
                <a:latin typeface="맑은 고딕"/>
              </a:rPr>
              <a:t>· 04  </a:t>
            </a:r>
            <a:r>
              <a:rPr sz="1050" b="0">
                <a:solidFill>
                  <a:srgbClr val="5B6B70"/>
                </a:solidFill>
                <a:latin typeface="맑은 고딕"/>
              </a:rPr>
              <a:t>입지 — 역세권, 한강조망, 학군</a:t>
            </a:r>
          </a:p>
          <a:p>
            <a:pPr algn="l" marL="109728">
              <a:lnSpc>
                <a:spcPct val="125000"/>
              </a:lnSpc>
              <a:spcAft>
                <a:spcPts val="400"/>
              </a:spcAft>
            </a:pPr>
            <a:r>
              <a:rPr sz="1050" b="1">
                <a:solidFill>
                  <a:srgbClr val="002632"/>
                </a:solidFill>
                <a:latin typeface="맑은 고딕"/>
              </a:rPr>
              <a:t>· 05  </a:t>
            </a:r>
            <a:r>
              <a:rPr sz="1050" b="0">
                <a:solidFill>
                  <a:srgbClr val="5B6B70"/>
                </a:solidFill>
                <a:latin typeface="맑은 고딕"/>
              </a:rPr>
              <a:t>매물 속성 — 면적, 층</a:t>
            </a:r>
          </a:p>
          <a:p>
            <a:pPr algn="l" marL="109728">
              <a:lnSpc>
                <a:spcPct val="125000"/>
              </a:lnSpc>
              <a:spcAft>
                <a:spcPts val="400"/>
              </a:spcAft>
            </a:pPr>
            <a:r>
              <a:rPr sz="1050" b="1">
                <a:solidFill>
                  <a:srgbClr val="002632"/>
                </a:solidFill>
                <a:latin typeface="맑은 고딕"/>
              </a:rPr>
              <a:t>· 06  </a:t>
            </a:r>
            <a:r>
              <a:rPr sz="1050" b="0">
                <a:solidFill>
                  <a:srgbClr val="5B6B70"/>
                </a:solidFill>
                <a:latin typeface="맑은 고딕"/>
              </a:rPr>
              <a:t>전세-매매 — 전세가율의 선행성</a:t>
            </a:r>
          </a:p>
          <a:p>
            <a:pPr algn="l" marL="109728">
              <a:lnSpc>
                <a:spcPct val="125000"/>
              </a:lnSpc>
              <a:spcAft>
                <a:spcPts val="400"/>
              </a:spcAft>
            </a:pPr>
            <a:r>
              <a:rPr sz="1050" b="1">
                <a:solidFill>
                  <a:srgbClr val="002632"/>
                </a:solidFill>
                <a:latin typeface="맑은 고딕"/>
              </a:rPr>
              <a:t>· 07  </a:t>
            </a:r>
            <a:r>
              <a:rPr sz="1050" b="0">
                <a:solidFill>
                  <a:srgbClr val="5B6B70"/>
                </a:solidFill>
                <a:latin typeface="맑은 고딕"/>
              </a:rPr>
              <a:t>복합 — 정비사업 강도와 가격 변동성</a:t>
            </a:r>
          </a:p>
          <a:p>
            <a:pPr algn="l" marL="109728">
              <a:lnSpc>
                <a:spcPct val="125000"/>
              </a:lnSpc>
              <a:spcAft>
                <a:spcPts val="400"/>
              </a:spcAft>
            </a:pPr>
            <a:r>
              <a:rPr sz="1050" b="1">
                <a:solidFill>
                  <a:srgbClr val="002632"/>
                </a:solidFill>
                <a:latin typeface="맑은 고딕"/>
              </a:rPr>
              <a:t>· 08~10  </a:t>
            </a:r>
            <a:r>
              <a:rPr sz="1050" b="0">
                <a:solidFill>
                  <a:srgbClr val="5B6B70"/>
                </a:solidFill>
                <a:latin typeface="맑은 고딕"/>
              </a:rPr>
              <a:t>(추가) 이벤트 반대 반응 동, 동 클러스터링 시도, 인구·세대수</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데이터 개요</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1</a:t>
            </a:r>
          </a:p>
        </p:txBody>
      </p:sp>
      <p:graphicFrame>
        <p:nvGraphicFramePr>
          <p:cNvPr id="4" name="Table 3"/>
          <p:cNvGraphicFramePr>
            <a:graphicFrameLocks noGrp="1"/>
          </p:cNvGraphicFramePr>
          <p:nvPr/>
        </p:nvGraphicFramePr>
        <p:xfrm>
          <a:off x="457200" y="969264"/>
          <a:ext cx="11521440" cy="2847848"/>
        </p:xfrm>
        <a:graphic>
          <a:graphicData uri="http://schemas.openxmlformats.org/drawingml/2006/table">
            <a:tbl>
              <a:tblPr firstRow="1" bandRow="1">
                <a:tableStyleId>{5C22544A-7EE6-4342-B048-85BDC9FD1C3A}</a:tableStyleId>
              </a:tblPr>
              <a:tblGrid>
                <a:gridCol w="3291840"/>
                <a:gridCol w="2560320"/>
                <a:gridCol w="5669280"/>
              </a:tblGrid>
              <a:tr h="301244">
                <a:tc>
                  <a:txBody>
                    <a:bodyPr/>
                    <a:lstStyle/>
                    <a:p>
                      <a:pPr algn="l"/>
                      <a:r>
                        <a:rPr sz="1000" b="1">
                          <a:solidFill>
                            <a:srgbClr val="FFFFFF"/>
                          </a:solidFill>
                          <a:latin typeface="맑은 고딕"/>
                        </a:rPr>
                        <a:t>테이블</a:t>
                      </a:r>
                    </a:p>
                  </a:txBody>
                  <a:tcPr anchor="ctr" marL="73152" marR="73152" marT="41148" marB="41148">
                    <a:solidFill>
                      <a:srgbClr val="002632"/>
                    </a:solidFill>
                  </a:tcPr>
                </a:tc>
                <a:tc>
                  <a:txBody>
                    <a:bodyPr/>
                    <a:lstStyle/>
                    <a:p>
                      <a:pPr algn="ctr"/>
                      <a:r>
                        <a:rPr sz="1000" b="1">
                          <a:solidFill>
                            <a:srgbClr val="FFFFFF"/>
                          </a:solidFill>
                          <a:latin typeface="맑은 고딕"/>
                        </a:rPr>
                        <a:t>행 수(active snapshot)</a:t>
                      </a:r>
                    </a:p>
                  </a:txBody>
                  <a:tcPr anchor="ctr" marL="73152" marR="73152" marT="41148" marB="41148">
                    <a:solidFill>
                      <a:srgbClr val="002632"/>
                    </a:solidFill>
                  </a:tcPr>
                </a:tc>
                <a:tc>
                  <a:txBody>
                    <a:bodyPr/>
                    <a:lstStyle/>
                    <a:p>
                      <a:pPr algn="ctr"/>
                      <a:r>
                        <a:rPr sz="1000" b="1">
                          <a:solidFill>
                            <a:srgbClr val="FFFFFF"/>
                          </a:solidFill>
                          <a:latin typeface="맑은 고딕"/>
                        </a:rPr>
                        <a:t>내용</a:t>
                      </a:r>
                    </a:p>
                  </a:txBody>
                  <a:tcPr anchor="ctr" marL="73152" marR="73152" marT="41148" marB="41148">
                    <a:solidFill>
                      <a:srgbClr val="002632"/>
                    </a:solidFill>
                  </a:tcPr>
                </a:tc>
              </a:tr>
              <a:tr h="301244">
                <a:tc>
                  <a:txBody>
                    <a:bodyPr/>
                    <a:lstStyle/>
                    <a:p>
                      <a:pPr algn="l"/>
                      <a:r>
                        <a:rPr sz="1000" b="0">
                          <a:solidFill>
                            <a:srgbClr val="002632"/>
                          </a:solidFill>
                          <a:latin typeface="맑은 고딕"/>
                        </a:rPr>
                        <a:t>trade_sale</a:t>
                      </a:r>
                    </a:p>
                  </a:txBody>
                  <a:tcPr anchor="ctr" marL="73152" marR="73152" marT="41148" marB="41148">
                    <a:solidFill>
                      <a:srgbClr val="F3F6F6"/>
                    </a:solidFill>
                  </a:tcPr>
                </a:tc>
                <a:tc>
                  <a:txBody>
                    <a:bodyPr/>
                    <a:lstStyle/>
                    <a:p>
                      <a:pPr algn="ctr"/>
                      <a:r>
                        <a:rPr sz="1000" b="0">
                          <a:solidFill>
                            <a:srgbClr val="002632"/>
                          </a:solidFill>
                          <a:latin typeface="맑은 고딕"/>
                        </a:rPr>
                        <a:t>1,438,551</a:t>
                      </a:r>
                    </a:p>
                  </a:txBody>
                  <a:tcPr anchor="ctr" marL="73152" marR="73152" marT="41148" marB="41148">
                    <a:solidFill>
                      <a:srgbClr val="F3F6F6"/>
                    </a:solidFill>
                  </a:tcPr>
                </a:tc>
                <a:tc>
                  <a:txBody>
                    <a:bodyPr/>
                    <a:lstStyle/>
                    <a:p>
                      <a:pPr algn="ctr"/>
                      <a:r>
                        <a:rPr sz="1000" b="0">
                          <a:solidFill>
                            <a:srgbClr val="002632"/>
                          </a:solidFill>
                          <a:latin typeface="맑은 고딕"/>
                        </a:rPr>
                        <a:t>매매 실거래 원장 (2006-01~2026-08)</a:t>
                      </a:r>
                    </a:p>
                  </a:txBody>
                  <a:tcPr anchor="ctr" marL="73152" marR="73152" marT="41148" marB="41148">
                    <a:solidFill>
                      <a:srgbClr val="F3F6F6"/>
                    </a:solidFill>
                  </a:tcPr>
                </a:tc>
              </a:tr>
              <a:tr h="301244">
                <a:tc>
                  <a:txBody>
                    <a:bodyPr/>
                    <a:lstStyle/>
                    <a:p>
                      <a:pPr algn="l"/>
                      <a:r>
                        <a:rPr sz="1000" b="0">
                          <a:solidFill>
                            <a:srgbClr val="002632"/>
                          </a:solidFill>
                          <a:latin typeface="맑은 고딕"/>
                        </a:rPr>
                        <a:t>trade_rent</a:t>
                      </a:r>
                    </a:p>
                  </a:txBody>
                  <a:tcPr anchor="ctr" marL="73152" marR="73152" marT="41148" marB="41148">
                    <a:solidFill>
                      <a:srgbClr val="FFFFFF"/>
                    </a:solidFill>
                  </a:tcPr>
                </a:tc>
                <a:tc>
                  <a:txBody>
                    <a:bodyPr/>
                    <a:lstStyle/>
                    <a:p>
                      <a:pPr algn="ctr"/>
                      <a:r>
                        <a:rPr sz="1000" b="0">
                          <a:solidFill>
                            <a:srgbClr val="002632"/>
                          </a:solidFill>
                          <a:latin typeface="맑은 고딕"/>
                        </a:rPr>
                        <a:t>3,083,158</a:t>
                      </a:r>
                    </a:p>
                  </a:txBody>
                  <a:tcPr anchor="ctr" marL="73152" marR="73152" marT="41148" marB="41148">
                    <a:solidFill>
                      <a:srgbClr val="FFFFFF"/>
                    </a:solidFill>
                  </a:tcPr>
                </a:tc>
                <a:tc>
                  <a:txBody>
                    <a:bodyPr/>
                    <a:lstStyle/>
                    <a:p>
                      <a:pPr algn="ctr"/>
                      <a:r>
                        <a:rPr sz="1000" b="0">
                          <a:solidFill>
                            <a:srgbClr val="002632"/>
                          </a:solidFill>
                          <a:latin typeface="맑은 고딕"/>
                        </a:rPr>
                        <a:t>전월세 실거래 원장 (2011-01~2026-08)</a:t>
                      </a:r>
                    </a:p>
                  </a:txBody>
                  <a:tcPr anchor="ctr" marL="73152" marR="73152" marT="41148" marB="41148">
                    <a:solidFill>
                      <a:srgbClr val="FFFFFF"/>
                    </a:solidFill>
                  </a:tcPr>
                </a:tc>
              </a:tr>
              <a:tr h="301244">
                <a:tc>
                  <a:txBody>
                    <a:bodyPr/>
                    <a:lstStyle/>
                    <a:p>
                      <a:pPr algn="l"/>
                      <a:r>
                        <a:rPr sz="1000" b="0">
                          <a:solidFill>
                            <a:srgbClr val="002632"/>
                          </a:solidFill>
                          <a:latin typeface="맑은 고딕"/>
                        </a:rPr>
                        <a:t>complex / complex_metrics</a:t>
                      </a:r>
                    </a:p>
                  </a:txBody>
                  <a:tcPr anchor="ctr" marL="73152" marR="73152" marT="41148" marB="41148">
                    <a:solidFill>
                      <a:srgbClr val="F3F6F6"/>
                    </a:solidFill>
                  </a:tcPr>
                </a:tc>
                <a:tc>
                  <a:txBody>
                    <a:bodyPr/>
                    <a:lstStyle/>
                    <a:p>
                      <a:pPr algn="ctr"/>
                      <a:r>
                        <a:rPr sz="1000" b="0">
                          <a:solidFill>
                            <a:srgbClr val="002632"/>
                          </a:solidFill>
                          <a:latin typeface="맑은 고딕"/>
                        </a:rPr>
                        <a:t>9,160</a:t>
                      </a:r>
                    </a:p>
                  </a:txBody>
                  <a:tcPr anchor="ctr" marL="73152" marR="73152" marT="41148" marB="41148">
                    <a:solidFill>
                      <a:srgbClr val="F3F6F6"/>
                    </a:solidFill>
                  </a:tcPr>
                </a:tc>
                <a:tc>
                  <a:txBody>
                    <a:bodyPr/>
                    <a:lstStyle/>
                    <a:p>
                      <a:pPr algn="ctr"/>
                      <a:r>
                        <a:rPr sz="1000" b="0">
                          <a:solidFill>
                            <a:srgbClr val="002632"/>
                          </a:solidFill>
                          <a:latin typeface="맑은 고딕"/>
                        </a:rPr>
                        <a:t>단지 기본정보 / 입지지표</a:t>
                      </a:r>
                    </a:p>
                  </a:txBody>
                  <a:tcPr anchor="ctr" marL="73152" marR="73152" marT="41148" marB="41148">
                    <a:solidFill>
                      <a:srgbClr val="F3F6F6"/>
                    </a:solidFill>
                  </a:tcPr>
                </a:tc>
              </a:tr>
              <a:tr h="520192">
                <a:tc>
                  <a:txBody>
                    <a:bodyPr/>
                    <a:lstStyle/>
                    <a:p>
                      <a:pPr algn="l"/>
                      <a:r>
                        <a:rPr sz="1000" b="0">
                          <a:solidFill>
                            <a:srgbClr val="002632"/>
                          </a:solidFill>
                          <a:latin typeface="맑은 고딕"/>
                        </a:rPr>
                        <a:t>dong_index</a:t>
                      </a:r>
                    </a:p>
                  </a:txBody>
                  <a:tcPr anchor="ctr" marL="73152" marR="73152" marT="41148" marB="41148">
                    <a:solidFill>
                      <a:srgbClr val="FFFFFF"/>
                    </a:solidFill>
                  </a:tcPr>
                </a:tc>
                <a:tc>
                  <a:txBody>
                    <a:bodyPr/>
                    <a:lstStyle/>
                    <a:p>
                      <a:pPr algn="ctr"/>
                      <a:r>
                        <a:rPr sz="1000" b="0">
                          <a:solidFill>
                            <a:srgbClr val="002632"/>
                          </a:solidFill>
                          <a:latin typeface="맑은 고딕"/>
                        </a:rPr>
                        <a:t>28,372</a:t>
                      </a:r>
                    </a:p>
                  </a:txBody>
                  <a:tcPr anchor="ctr" marL="73152" marR="73152" marT="41148" marB="41148">
                    <a:solidFill>
                      <a:srgbClr val="FFFFFF"/>
                    </a:solidFill>
                  </a:tcPr>
                </a:tc>
                <a:tc>
                  <a:txBody>
                    <a:bodyPr/>
                    <a:lstStyle/>
                    <a:p>
                      <a:pPr algn="ctr"/>
                      <a:r>
                        <a:rPr sz="1000" b="0">
                          <a:solidFill>
                            <a:srgbClr val="002632"/>
                          </a:solidFill>
                          <a:latin typeface="맑은 고딕"/>
                        </a:rPr>
                        <a:t>법정동×분기 hedonic 가격지수(단지 크기·연식 차이를 보정해 같은 조건이면 가격이 얼마나 변했는지만 뽑아낸 지수)</a:t>
                      </a:r>
                    </a:p>
                  </a:txBody>
                  <a:tcPr anchor="ctr" marL="73152" marR="73152" marT="41148" marB="41148">
                    <a:solidFill>
                      <a:srgbClr val="FFFFFF"/>
                    </a:solidFill>
                  </a:tcPr>
                </a:tc>
              </a:tr>
              <a:tr h="301244">
                <a:tc>
                  <a:txBody>
                    <a:bodyPr/>
                    <a:lstStyle/>
                    <a:p>
                      <a:pPr algn="l"/>
                      <a:r>
                        <a:rPr sz="1000" b="0">
                          <a:solidFill>
                            <a:srgbClr val="002632"/>
                          </a:solidFill>
                          <a:latin typeface="맑은 고딕"/>
                        </a:rPr>
                        <a:t>dong_feature</a:t>
                      </a:r>
                    </a:p>
                  </a:txBody>
                  <a:tcPr anchor="ctr" marL="73152" marR="73152" marT="41148" marB="41148">
                    <a:solidFill>
                      <a:srgbClr val="F3F6F6"/>
                    </a:solidFill>
                  </a:tcPr>
                </a:tc>
                <a:tc>
                  <a:txBody>
                    <a:bodyPr/>
                    <a:lstStyle/>
                    <a:p>
                      <a:pPr algn="ctr"/>
                      <a:r>
                        <a:rPr sz="1000" b="0">
                          <a:solidFill>
                            <a:srgbClr val="002632"/>
                          </a:solidFill>
                          <a:latin typeface="맑은 고딕"/>
                        </a:rPr>
                        <a:t>19,761</a:t>
                      </a:r>
                    </a:p>
                  </a:txBody>
                  <a:tcPr anchor="ctr" marL="73152" marR="73152" marT="41148" marB="41148">
                    <a:solidFill>
                      <a:srgbClr val="F3F6F6"/>
                    </a:solidFill>
                  </a:tcPr>
                </a:tc>
                <a:tc>
                  <a:txBody>
                    <a:bodyPr/>
                    <a:lstStyle/>
                    <a:p>
                      <a:pPr algn="ctr"/>
                      <a:r>
                        <a:rPr sz="1000" b="0">
                          <a:solidFill>
                            <a:srgbClr val="002632"/>
                          </a:solidFill>
                          <a:latin typeface="맑은 고딕"/>
                        </a:rPr>
                        <a:t>법정동×기점분기 feature(거래·전세·정비사업 등)</a:t>
                      </a:r>
                    </a:p>
                  </a:txBody>
                  <a:tcPr anchor="ctr" marL="73152" marR="73152" marT="41148" marB="41148">
                    <a:solidFill>
                      <a:srgbClr val="F3F6F6"/>
                    </a:solidFill>
                  </a:tcPr>
                </a:tc>
              </a:tr>
              <a:tr h="520192">
                <a:tc>
                  <a:txBody>
                    <a:bodyPr/>
                    <a:lstStyle/>
                    <a:p>
                      <a:pPr algn="l"/>
                      <a:r>
                        <a:rPr sz="1000" b="0">
                          <a:solidFill>
                            <a:srgbClr val="002632"/>
                          </a:solidFill>
                          <a:latin typeface="맑은 고딕"/>
                        </a:rPr>
                        <a:t>market_event / event_summary / event_dong_path</a:t>
                      </a:r>
                    </a:p>
                  </a:txBody>
                  <a:tcPr anchor="ctr" marL="73152" marR="73152" marT="41148" marB="41148">
                    <a:solidFill>
                      <a:srgbClr val="FFFFFF"/>
                    </a:solidFill>
                  </a:tcPr>
                </a:tc>
                <a:tc>
                  <a:txBody>
                    <a:bodyPr/>
                    <a:lstStyle/>
                    <a:p>
                      <a:pPr algn="ctr"/>
                      <a:r>
                        <a:rPr sz="1000" b="0">
                          <a:solidFill>
                            <a:srgbClr val="002632"/>
                          </a:solidFill>
                          <a:latin typeface="맑은 고딕"/>
                        </a:rPr>
                        <a:t>49 / 49 / 90,936</a:t>
                      </a:r>
                    </a:p>
                  </a:txBody>
                  <a:tcPr anchor="ctr" marL="73152" marR="73152" marT="41148" marB="41148">
                    <a:solidFill>
                      <a:srgbClr val="FFFFFF"/>
                    </a:solidFill>
                  </a:tcPr>
                </a:tc>
                <a:tc>
                  <a:txBody>
                    <a:bodyPr/>
                    <a:lstStyle/>
                    <a:p>
                      <a:pPr algn="ctr"/>
                      <a:r>
                        <a:rPr sz="1000" b="0">
                          <a:solidFill>
                            <a:srgbClr val="002632"/>
                          </a:solidFill>
                          <a:latin typeface="맑은 고딕"/>
                        </a:rPr>
                        <a:t>정책·금리·거시 이벤트, 전후 요약, 동별 경로</a:t>
                      </a:r>
                    </a:p>
                  </a:txBody>
                  <a:tcPr anchor="ctr" marL="73152" marR="73152" marT="41148" marB="41148">
                    <a:solidFill>
                      <a:srgbClr val="FFFFFF"/>
                    </a:solidFill>
                  </a:tcPr>
                </a:tc>
              </a:tr>
              <a:tr h="301244">
                <a:tc>
                  <a:txBody>
                    <a:bodyPr/>
                    <a:lstStyle/>
                    <a:p>
                      <a:pPr algn="l"/>
                      <a:r>
                        <a:rPr sz="1000" b="0">
                          <a:solidFill>
                            <a:srgbClr val="002632"/>
                          </a:solidFill>
                          <a:latin typeface="맑은 고딕"/>
                        </a:rPr>
                        <a:t>(외부) 행정안전부 인구·세대현황</a:t>
                      </a:r>
                    </a:p>
                  </a:txBody>
                  <a:tcPr anchor="ctr" marL="73152" marR="73152" marT="41148" marB="41148">
                    <a:solidFill>
                      <a:srgbClr val="F3F6F6"/>
                    </a:solidFill>
                  </a:tcPr>
                </a:tc>
                <a:tc>
                  <a:txBody>
                    <a:bodyPr/>
                    <a:lstStyle/>
                    <a:p>
                      <a:pPr algn="ctr"/>
                      <a:r>
                        <a:rPr sz="1000" b="0">
                          <a:solidFill>
                            <a:srgbClr val="002632"/>
                          </a:solidFill>
                          <a:latin typeface="맑은 고딕"/>
                        </a:rPr>
                        <a:t>340개 동 × 2개 분기</a:t>
                      </a:r>
                    </a:p>
                  </a:txBody>
                  <a:tcPr anchor="ctr" marL="73152" marR="73152" marT="41148" marB="41148">
                    <a:solidFill>
                      <a:srgbClr val="F3F6F6"/>
                    </a:solidFill>
                  </a:tcPr>
                </a:tc>
                <a:tc>
                  <a:txBody>
                    <a:bodyPr/>
                    <a:lstStyle/>
                    <a:p>
                      <a:pPr algn="ctr"/>
                      <a:r>
                        <a:rPr sz="1000" b="0">
                          <a:solidFill>
                            <a:srgbClr val="002632"/>
                          </a:solidFill>
                          <a:latin typeface="맑은 고딕"/>
                        </a:rPr>
                        <a:t>10번 축용, data.go.kr API로 별도 수집 — eda/docs/data-sources.md</a:t>
                      </a:r>
                    </a:p>
                  </a:txBody>
                  <a:tcPr anchor="ctr" marL="73152" marR="73152" marT="41148" marB="41148">
                    <a:solidFill>
                      <a:srgbClr val="F3F6F6"/>
                    </a:solidFill>
                  </a:tcPr>
                </a:tc>
              </a:tr>
            </a:tbl>
          </a:graphicData>
        </a:graphic>
      </p:graphicFrame>
      <p:sp>
        <p:nvSpPr>
          <p:cNvPr id="5" name="TextBox 4"/>
          <p:cNvSpPr txBox="1"/>
          <p:nvPr/>
        </p:nvSpPr>
        <p:spPr>
          <a:xfrm>
            <a:off x="457200" y="3908552"/>
            <a:ext cx="11277295" cy="237744"/>
          </a:xfrm>
          <a:prstGeom prst="rect">
            <a:avLst/>
          </a:prstGeom>
          <a:noFill/>
        </p:spPr>
        <p:txBody>
          <a:bodyPr wrap="square">
            <a:spAutoFit/>
          </a:bodyPr>
          <a:lstStyle/>
          <a:p>
            <a:pPr algn="l"/>
            <a:r>
              <a:rPr sz="900" b="0">
                <a:solidFill>
                  <a:srgbClr val="5B6B70"/>
                </a:solidFill>
                <a:latin typeface="맑은 고딕"/>
              </a:rPr>
              <a:t>DB는 Railway Postgres, DATABASE_READONLY_URL로 조회(read-only, 팀 데이터 영향 없음). 원본은 국토부 실거래가 API·한국은행·서울 열린데이터광장·행정안전부.</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 시간 — 거래량이 가격보다 훨씬 크게 흔들린다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TextBox 3"/>
          <p:cNvSpPr txBox="1"/>
          <p:nvPr/>
        </p:nvSpPr>
        <p:spPr>
          <a:xfrm>
            <a:off x="457200" y="950976"/>
            <a:ext cx="11277295" cy="279527"/>
          </a:xfrm>
          <a:prstGeom prst="rect">
            <a:avLst/>
          </a:prstGeom>
          <a:noFill/>
        </p:spPr>
        <p:txBody>
          <a:bodyPr wrap="none">
            <a:spAutoFit/>
          </a:bodyPr>
          <a:lstStyle/>
          <a:p>
            <a:pPr algn="l"/>
            <a:r>
              <a:rPr sz="1300" b="1">
                <a:solidFill>
                  <a:srgbClr val="002632"/>
                </a:solidFill>
                <a:latin typeface="맑은 고딕"/>
              </a:rPr>
              <a:t>무엇을 보려는 그래프인가: 정책·금리 발표 시점과 거래량이 실제로 겹쳐 움직이는지 확인</a:t>
            </a:r>
          </a:p>
        </p:txBody>
      </p:sp>
      <p:pic>
        <p:nvPicPr>
          <p:cNvPr id="5" name="Picture 4" descr="01a_quarterly_volume_events.png"/>
          <p:cNvPicPr>
            <a:picLocks noChangeAspect="1"/>
          </p:cNvPicPr>
          <p:nvPr/>
        </p:nvPicPr>
        <p:blipFill>
          <a:blip r:embed="rId2"/>
          <a:stretch>
            <a:fillRect/>
          </a:stretch>
        </p:blipFill>
        <p:spPr>
          <a:xfrm>
            <a:off x="2226106" y="1968929"/>
            <a:ext cx="7739481" cy="3830603"/>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 시간 — 거래량 지수 vs 단가 지수</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TextBox 3"/>
          <p:cNvSpPr txBox="1"/>
          <p:nvPr/>
        </p:nvSpPr>
        <p:spPr>
          <a:xfrm>
            <a:off x="457200" y="950976"/>
            <a:ext cx="11277295" cy="279527"/>
          </a:xfrm>
          <a:prstGeom prst="rect">
            <a:avLst/>
          </a:prstGeom>
          <a:noFill/>
        </p:spPr>
        <p:txBody>
          <a:bodyPr wrap="none">
            <a:spAutoFit/>
          </a:bodyPr>
          <a:lstStyle/>
          <a:p>
            <a:pPr algn="l"/>
            <a:r>
              <a:rPr sz="1300" b="1">
                <a:solidFill>
                  <a:srgbClr val="002632"/>
                </a:solidFill>
                <a:latin typeface="맑은 고딕"/>
              </a:rPr>
              <a:t>무엇을 보려는 그래프인가: 거래량과 단가 중 어느 쪽이 더 크게 출렁이는지 같은 척도로 비교</a:t>
            </a:r>
          </a:p>
        </p:txBody>
      </p:sp>
      <p:pic>
        <p:nvPicPr>
          <p:cNvPr id="5" name="Picture 4" descr="01b_volume_vs_price_index.png"/>
          <p:cNvPicPr>
            <a:picLocks noChangeAspect="1"/>
          </p:cNvPicPr>
          <p:nvPr/>
        </p:nvPicPr>
        <p:blipFill>
          <a:blip r:embed="rId2"/>
          <a:stretch>
            <a:fillRect/>
          </a:stretch>
        </p:blipFill>
        <p:spPr>
          <a:xfrm>
            <a:off x="2226106" y="1490079"/>
            <a:ext cx="7739481" cy="3828183"/>
          </a:xfrm>
          <a:prstGeom prst="rect">
            <a:avLst/>
          </a:prstGeom>
        </p:spPr>
      </p:pic>
      <p:sp>
        <p:nvSpPr>
          <p:cNvPr id="6" name="Rounded Rectangle 5"/>
          <p:cNvSpPr/>
          <p:nvPr/>
        </p:nvSpPr>
        <p:spPr>
          <a:xfrm>
            <a:off x="457200" y="5373127"/>
            <a:ext cx="11277295" cy="777240"/>
          </a:xfrm>
          <a:prstGeom prst="roundRect">
            <a:avLst/>
          </a:prstGeom>
          <a:solidFill>
            <a:srgbClr val="F3F6F6"/>
          </a:solidFill>
          <a:ln w="15875">
            <a:solidFill>
              <a:srgbClr val="B1760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B1760A"/>
                </a:solidFill>
                <a:latin typeface="맑은 고딕"/>
              </a:rPr>
              <a:t>핵심 수치</a:t>
            </a:r>
          </a:p>
          <a:p>
            <a:pPr algn="l">
              <a:lnSpc>
                <a:spcPct val="130000"/>
              </a:lnSpc>
            </a:pPr>
            <a:r>
              <a:rPr sz="1050" b="0">
                <a:solidFill>
                  <a:srgbClr val="002632"/>
                </a:solidFill>
                <a:latin typeface="맑은 고딕"/>
              </a:rPr>
              <a:t>2022년 거래량 -71.3% (전년 대비), 2023년 182.5%. 같은 기간 가격 변화는 -3.3% → 4.3%로 훨씬 완만함.</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2. 지역 — 자치구 간 가격 격차</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TextBox 3"/>
          <p:cNvSpPr txBox="1"/>
          <p:nvPr/>
        </p:nvSpPr>
        <p:spPr>
          <a:xfrm>
            <a:off x="457200" y="950976"/>
            <a:ext cx="11277295" cy="279527"/>
          </a:xfrm>
          <a:prstGeom prst="rect">
            <a:avLst/>
          </a:prstGeom>
          <a:noFill/>
        </p:spPr>
        <p:txBody>
          <a:bodyPr wrap="none">
            <a:spAutoFit/>
          </a:bodyPr>
          <a:lstStyle/>
          <a:p>
            <a:pPr algn="l"/>
            <a:r>
              <a:rPr sz="1300" b="1">
                <a:solidFill>
                  <a:srgbClr val="002632"/>
                </a:solidFill>
                <a:latin typeface="맑은 고딕"/>
              </a:rPr>
              <a:t>무엇을 보려는 그래프인가: 같은 서울 안에서 자치구별 가격 수준이 얼마나 다른지 확인</a:t>
            </a:r>
          </a:p>
        </p:txBody>
      </p:sp>
      <p:pic>
        <p:nvPicPr>
          <p:cNvPr id="5" name="Picture 4" descr="02a_gu_price_2026.png"/>
          <p:cNvPicPr>
            <a:picLocks noChangeAspect="1"/>
          </p:cNvPicPr>
          <p:nvPr/>
        </p:nvPicPr>
        <p:blipFill>
          <a:blip r:embed="rId2"/>
          <a:stretch>
            <a:fillRect/>
          </a:stretch>
        </p:blipFill>
        <p:spPr>
          <a:xfrm>
            <a:off x="4010220" y="1526926"/>
            <a:ext cx="4171254" cy="471461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2. 지역 — 구 평균과 동별 흐름이 다를 수 있다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TextBox 3"/>
          <p:cNvSpPr txBox="1"/>
          <p:nvPr/>
        </p:nvSpPr>
        <p:spPr>
          <a:xfrm>
            <a:off x="457200" y="950976"/>
            <a:ext cx="11277295" cy="279527"/>
          </a:xfrm>
          <a:prstGeom prst="rect">
            <a:avLst/>
          </a:prstGeom>
          <a:noFill/>
        </p:spPr>
        <p:txBody>
          <a:bodyPr wrap="none">
            <a:spAutoFit/>
          </a:bodyPr>
          <a:lstStyle/>
          <a:p>
            <a:pPr algn="l"/>
            <a:r>
              <a:rPr sz="1300" b="1">
                <a:solidFill>
                  <a:srgbClr val="002632"/>
                </a:solidFill>
                <a:latin typeface="맑은 고딕"/>
              </a:rPr>
              <a:t>무엇을 보려는 그래프인가: 구 평균 하나로는 안 보이는 동별 편차가 실제로 있는지 확인</a:t>
            </a:r>
          </a:p>
        </p:txBody>
      </p:sp>
      <p:pic>
        <p:nvPicPr>
          <p:cNvPr id="5" name="Picture 4" descr="02b_dong_yoy_top_bottom.png"/>
          <p:cNvPicPr>
            <a:picLocks noChangeAspect="1"/>
          </p:cNvPicPr>
          <p:nvPr/>
        </p:nvPicPr>
        <p:blipFill>
          <a:blip r:embed="rId2"/>
          <a:stretch>
            <a:fillRect/>
          </a:stretch>
        </p:blipFill>
        <p:spPr>
          <a:xfrm>
            <a:off x="3908129" y="1470233"/>
            <a:ext cx="4375437" cy="3410676"/>
          </a:xfrm>
          <a:prstGeom prst="rect">
            <a:avLst/>
          </a:prstGeom>
        </p:spPr>
      </p:pic>
      <p:sp>
        <p:nvSpPr>
          <p:cNvPr id="6" name="Rounded Rectangle 5"/>
          <p:cNvSpPr/>
          <p:nvPr/>
        </p:nvSpPr>
        <p:spPr>
          <a:xfrm>
            <a:off x="457200" y="4935773"/>
            <a:ext cx="11277295" cy="850392"/>
          </a:xfrm>
          <a:prstGeom prst="roundRect">
            <a:avLst/>
          </a:prstGeom>
          <a:solidFill>
            <a:srgbClr val="F3F6F6"/>
          </a:solidFill>
          <a:ln w="15875">
            <a:solidFill>
              <a:srgbClr val="B1760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B1760A"/>
                </a:solidFill>
                <a:latin typeface="맑은 고딕"/>
              </a:rPr>
              <a:t>같은 기준(hedonic, 25Q2→26Q2)으로 본 강남구</a:t>
            </a:r>
          </a:p>
          <a:p>
            <a:pPr algn="l">
              <a:lnSpc>
                <a:spcPct val="130000"/>
              </a:lnSpc>
            </a:pPr>
            <a:r>
              <a:rPr sz="1050" b="0">
                <a:solidFill>
                  <a:srgbClr val="002632"/>
                </a:solidFill>
                <a:latin typeface="맑은 고딕"/>
              </a:rPr>
              <a:t>강남구 소속 동 중 표본기준(직전 4분기 거래 20건 이상)을 통과한 13개 동의 평균 상승률은 +6.8%인데, 그 안에서 역삼동 -7.1%부터 수서동 +33.3%까지 동별로 크게 갈립니다. 용산구 보광동은 +46.3%로 조사 대상 중 가장 많이 올랐습니다.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3. 단지 속성 — 준공연차와 가격의 U자 관계</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TextBox 3"/>
          <p:cNvSpPr txBox="1"/>
          <p:nvPr/>
        </p:nvSpPr>
        <p:spPr>
          <a:xfrm>
            <a:off x="457200" y="950976"/>
            <a:ext cx="11277295" cy="279527"/>
          </a:xfrm>
          <a:prstGeom prst="rect">
            <a:avLst/>
          </a:prstGeom>
          <a:noFill/>
        </p:spPr>
        <p:txBody>
          <a:bodyPr wrap="none">
            <a:spAutoFit/>
          </a:bodyPr>
          <a:lstStyle/>
          <a:p>
            <a:pPr algn="l"/>
            <a:r>
              <a:rPr sz="1300" b="1">
                <a:solidFill>
                  <a:srgbClr val="002632"/>
                </a:solidFill>
                <a:latin typeface="맑은 고딕"/>
              </a:rPr>
              <a:t>무엇을 보려는 그래프인가: 단지가 지어진 지 얼마나 됐는지가 가격과 어떤 모양으로 관계되는지 확인</a:t>
            </a:r>
          </a:p>
        </p:txBody>
      </p:sp>
      <p:pic>
        <p:nvPicPr>
          <p:cNvPr id="5" name="Picture 4" descr="03a_age_price.png"/>
          <p:cNvPicPr>
            <a:picLocks noChangeAspect="1"/>
          </p:cNvPicPr>
          <p:nvPr/>
        </p:nvPicPr>
        <p:blipFill>
          <a:blip r:embed="rId2"/>
          <a:stretch>
            <a:fillRect/>
          </a:stretch>
        </p:blipFill>
        <p:spPr>
          <a:xfrm>
            <a:off x="2562606" y="1940079"/>
            <a:ext cx="7066483" cy="3888304"/>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3. 단지 속성 — 정비사업 진행 단계별 프리미엄</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TextBox 3"/>
          <p:cNvSpPr txBox="1"/>
          <p:nvPr/>
        </p:nvSpPr>
        <p:spPr>
          <a:xfrm>
            <a:off x="457200" y="950976"/>
            <a:ext cx="11277295" cy="279527"/>
          </a:xfrm>
          <a:prstGeom prst="rect">
            <a:avLst/>
          </a:prstGeom>
          <a:noFill/>
        </p:spPr>
        <p:txBody>
          <a:bodyPr wrap="none">
            <a:spAutoFit/>
          </a:bodyPr>
          <a:lstStyle/>
          <a:p>
            <a:pPr algn="l"/>
            <a:r>
              <a:rPr sz="1300" b="1">
                <a:solidFill>
                  <a:srgbClr val="002632"/>
                </a:solidFill>
                <a:latin typeface="맑은 고딕"/>
              </a:rPr>
              <a:t>무엇을 보려는 그래프인가: 정비사업이 실제로 진행 중인 단지가 가격에 프리미엄을 받는지 확인</a:t>
            </a:r>
          </a:p>
        </p:txBody>
      </p:sp>
      <p:pic>
        <p:nvPicPr>
          <p:cNvPr id="5" name="Picture 4" descr="03b_redevelop_premium.png"/>
          <p:cNvPicPr>
            <a:picLocks noChangeAspect="1"/>
          </p:cNvPicPr>
          <p:nvPr/>
        </p:nvPicPr>
        <p:blipFill>
          <a:blip r:embed="rId2"/>
          <a:stretch>
            <a:fillRect/>
          </a:stretch>
        </p:blipFill>
        <p:spPr>
          <a:xfrm>
            <a:off x="3346902" y="1466575"/>
            <a:ext cx="5497889" cy="3326551"/>
          </a:xfrm>
          <a:prstGeom prst="rect">
            <a:avLst/>
          </a:prstGeom>
        </p:spPr>
      </p:pic>
      <p:sp>
        <p:nvSpPr>
          <p:cNvPr id="6" name="Rounded Rectangle 5"/>
          <p:cNvSpPr/>
          <p:nvPr/>
        </p:nvSpPr>
        <p:spPr>
          <a:xfrm>
            <a:off x="457200" y="4847991"/>
            <a:ext cx="11277295" cy="777240"/>
          </a:xfrm>
          <a:prstGeom prst="roundRect">
            <a:avLst/>
          </a:prstGeom>
          <a:solidFill>
            <a:srgbClr val="F3F6F6"/>
          </a:solidFill>
          <a:ln w="15875">
            <a:solidFill>
              <a:srgbClr val="B1760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B1760A"/>
                </a:solidFill>
                <a:latin typeface="맑은 고딕"/>
              </a:rPr>
              <a:t>핵심 수치</a:t>
            </a:r>
          </a:p>
          <a:p>
            <a:pPr algn="l">
              <a:lnSpc>
                <a:spcPct val="130000"/>
              </a:lnSpc>
            </a:pPr>
            <a:r>
              <a:rPr sz="1050" b="0">
                <a:solidFill>
                  <a:srgbClr val="002632"/>
                </a:solidFill>
                <a:latin typeface="맑은 고딕"/>
              </a:rPr>
              <a:t>'건축심의' 단계 단지는 정비사업 대상이 아닌 일반 단지보다 ㎡당 단가가 154% 더 높음.</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4. 입지 — 역까지 거리와 가격</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TextBox 3"/>
          <p:cNvSpPr txBox="1"/>
          <p:nvPr/>
        </p:nvSpPr>
        <p:spPr>
          <a:xfrm>
            <a:off x="457200" y="950976"/>
            <a:ext cx="11277295" cy="279527"/>
          </a:xfrm>
          <a:prstGeom prst="rect">
            <a:avLst/>
          </a:prstGeom>
          <a:noFill/>
        </p:spPr>
        <p:txBody>
          <a:bodyPr wrap="none">
            <a:spAutoFit/>
          </a:bodyPr>
          <a:lstStyle/>
          <a:p>
            <a:pPr algn="l"/>
            <a:r>
              <a:rPr sz="1300" b="1">
                <a:solidFill>
                  <a:srgbClr val="002632"/>
                </a:solidFill>
                <a:latin typeface="맑은 고딕"/>
              </a:rPr>
              <a:t>무엇을 보려는 그래프인가: 지하철역까지 거리가 가까울수록 실제로 비싼지 확인</a:t>
            </a:r>
          </a:p>
        </p:txBody>
      </p:sp>
      <p:pic>
        <p:nvPicPr>
          <p:cNvPr id="5" name="Picture 4" descr="04a_station_distance_price.png"/>
          <p:cNvPicPr>
            <a:picLocks noChangeAspect="1"/>
          </p:cNvPicPr>
          <p:nvPr/>
        </p:nvPicPr>
        <p:blipFill>
          <a:blip r:embed="rId2"/>
          <a:stretch>
            <a:fillRect/>
          </a:stretch>
        </p:blipFill>
        <p:spPr>
          <a:xfrm>
            <a:off x="2562606" y="1940079"/>
            <a:ext cx="7066483" cy="3888304"/>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4. 입지 — 한강조망이 가장 강한 입지 요인</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TextBox 3"/>
          <p:cNvSpPr txBox="1"/>
          <p:nvPr/>
        </p:nvSpPr>
        <p:spPr>
          <a:xfrm>
            <a:off x="457200" y="950976"/>
            <a:ext cx="11277295" cy="279527"/>
          </a:xfrm>
          <a:prstGeom prst="rect">
            <a:avLst/>
          </a:prstGeom>
          <a:noFill/>
        </p:spPr>
        <p:txBody>
          <a:bodyPr wrap="none">
            <a:spAutoFit/>
          </a:bodyPr>
          <a:lstStyle/>
          <a:p>
            <a:pPr algn="l"/>
            <a:r>
              <a:rPr sz="1300" b="1">
                <a:solidFill>
                  <a:srgbClr val="002632"/>
                </a:solidFill>
                <a:latin typeface="맑은 고딕"/>
              </a:rPr>
              <a:t>무엇을 보려는 그래프인가: 입지 요인들(한강조망·학군 등) 중 가격과 가장 밀접한 게 무엇인지 비교</a:t>
            </a:r>
          </a:p>
        </p:txBody>
      </p:sp>
      <p:pic>
        <p:nvPicPr>
          <p:cNvPr id="5" name="Picture 4" descr="04b_river_view_price.png"/>
          <p:cNvPicPr>
            <a:picLocks noChangeAspect="1"/>
          </p:cNvPicPr>
          <p:nvPr/>
        </p:nvPicPr>
        <p:blipFill>
          <a:blip r:embed="rId2"/>
          <a:stretch>
            <a:fillRect/>
          </a:stretch>
        </p:blipFill>
        <p:spPr>
          <a:xfrm>
            <a:off x="4278386" y="1466575"/>
            <a:ext cx="3634922" cy="3326551"/>
          </a:xfrm>
          <a:prstGeom prst="rect">
            <a:avLst/>
          </a:prstGeom>
        </p:spPr>
      </p:pic>
      <p:sp>
        <p:nvSpPr>
          <p:cNvPr id="6" name="Rounded Rectangle 5"/>
          <p:cNvSpPr/>
          <p:nvPr/>
        </p:nvSpPr>
        <p:spPr>
          <a:xfrm>
            <a:off x="457200" y="4847991"/>
            <a:ext cx="11277295" cy="850392"/>
          </a:xfrm>
          <a:prstGeom prst="roundRect">
            <a:avLst/>
          </a:prstGeom>
          <a:solidFill>
            <a:srgbClr val="F3F6F6"/>
          </a:solidFill>
          <a:ln w="15875">
            <a:solidFill>
              <a:srgbClr val="5B6B70"/>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5B6B70"/>
                </a:solidFill>
                <a:latin typeface="맑은 고딕"/>
              </a:rPr>
              <a:t>참고: 학군 거리는 영향이 약함</a:t>
            </a:r>
          </a:p>
          <a:p>
            <a:pPr algn="l">
              <a:lnSpc>
                <a:spcPct val="130000"/>
              </a:lnSpc>
            </a:pPr>
            <a:r>
              <a:rPr sz="1050" b="0">
                <a:solidFill>
                  <a:srgbClr val="002632"/>
                </a:solidFill>
                <a:latin typeface="맑은 고딕"/>
              </a:rPr>
              <a:t>초등학교(-0.007)·중학교(-0.067)·고등학교(-0.039)까지 거리는 단가와의 상관계수가 -0.07~-0.01 수준으로 거의 무관했습니다. 단순 물리적 거리보다 '어느 학군인지'(동 단위 효과)가 더 중요할 가능성이 있습니다.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5. 매물 속성 — 층수가 오를수록 단가도 오른다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TextBox 3"/>
          <p:cNvSpPr txBox="1"/>
          <p:nvPr/>
        </p:nvSpPr>
        <p:spPr>
          <a:xfrm>
            <a:off x="457200" y="950976"/>
            <a:ext cx="11277295" cy="279527"/>
          </a:xfrm>
          <a:prstGeom prst="rect">
            <a:avLst/>
          </a:prstGeom>
          <a:noFill/>
        </p:spPr>
        <p:txBody>
          <a:bodyPr wrap="none">
            <a:spAutoFit/>
          </a:bodyPr>
          <a:lstStyle/>
          <a:p>
            <a:pPr algn="l"/>
            <a:r>
              <a:rPr sz="1300" b="1">
                <a:solidFill>
                  <a:srgbClr val="002632"/>
                </a:solidFill>
                <a:latin typeface="맑은 고딕"/>
              </a:rPr>
              <a:t>무엇을 보려는 그래프인가: 같은 단지 안에서도 층수가 가격에 영향을 주는지 확인</a:t>
            </a:r>
          </a:p>
        </p:txBody>
      </p:sp>
      <p:pic>
        <p:nvPicPr>
          <p:cNvPr id="5" name="Picture 4" descr="05a_floor_price.png"/>
          <p:cNvPicPr>
            <a:picLocks noChangeAspect="1"/>
          </p:cNvPicPr>
          <p:nvPr/>
        </p:nvPicPr>
        <p:blipFill>
          <a:blip r:embed="rId2"/>
          <a:stretch>
            <a:fillRect/>
          </a:stretch>
        </p:blipFill>
        <p:spPr>
          <a:xfrm>
            <a:off x="2562606" y="1940079"/>
            <a:ext cx="7066483" cy="3888304"/>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5. 매물 속성 — 면적은 작거나 커야 비싸다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TextBox 3"/>
          <p:cNvSpPr txBox="1"/>
          <p:nvPr/>
        </p:nvSpPr>
        <p:spPr>
          <a:xfrm>
            <a:off x="457200" y="950976"/>
            <a:ext cx="11277295" cy="279527"/>
          </a:xfrm>
          <a:prstGeom prst="rect">
            <a:avLst/>
          </a:prstGeom>
          <a:noFill/>
        </p:spPr>
        <p:txBody>
          <a:bodyPr wrap="none">
            <a:spAutoFit/>
          </a:bodyPr>
          <a:lstStyle/>
          <a:p>
            <a:pPr algn="l"/>
            <a:r>
              <a:rPr sz="1300" b="1">
                <a:solidFill>
                  <a:srgbClr val="002632"/>
                </a:solidFill>
                <a:latin typeface="맑은 고딕"/>
              </a:rPr>
              <a:t>무엇을 보려는 그래프인가: 면적대별로 ㎡당 가격이 어떤 모양으로 다른지 확인</a:t>
            </a:r>
          </a:p>
        </p:txBody>
      </p:sp>
      <p:pic>
        <p:nvPicPr>
          <p:cNvPr id="5" name="Picture 4" descr="05b_area_price.png"/>
          <p:cNvPicPr>
            <a:picLocks noChangeAspect="1"/>
          </p:cNvPicPr>
          <p:nvPr/>
        </p:nvPicPr>
        <p:blipFill>
          <a:blip r:embed="rId2"/>
          <a:stretch>
            <a:fillRect/>
          </a:stretch>
        </p:blipFill>
        <p:spPr>
          <a:xfrm>
            <a:off x="2478481" y="1896332"/>
            <a:ext cx="7234732" cy="3975798"/>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6. 전세-매매 — 전세가율 상관은 해마다 방향이 바뀐다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TextBox 3"/>
          <p:cNvSpPr txBox="1"/>
          <p:nvPr/>
        </p:nvSpPr>
        <p:spPr>
          <a:xfrm>
            <a:off x="457200" y="950976"/>
            <a:ext cx="11277295" cy="279527"/>
          </a:xfrm>
          <a:prstGeom prst="rect">
            <a:avLst/>
          </a:prstGeom>
          <a:noFill/>
        </p:spPr>
        <p:txBody>
          <a:bodyPr wrap="none">
            <a:spAutoFit/>
          </a:bodyPr>
          <a:lstStyle/>
          <a:p>
            <a:pPr algn="l"/>
            <a:r>
              <a:rPr sz="1300" b="1">
                <a:solidFill>
                  <a:srgbClr val="002632"/>
                </a:solidFill>
                <a:latin typeface="맑은 고딕"/>
              </a:rPr>
              <a:t>무엇을 보려는 그래프인가: 전세가율이 높은 동네가 1년 뒤 매매가도 더 오르는지 확인</a:t>
            </a:r>
          </a:p>
        </p:txBody>
      </p:sp>
      <p:pic>
        <p:nvPicPr>
          <p:cNvPr id="5" name="Picture 4" descr="06_jeonse_ratio_future_change.png"/>
          <p:cNvPicPr>
            <a:picLocks noChangeAspect="1"/>
          </p:cNvPicPr>
          <p:nvPr/>
        </p:nvPicPr>
        <p:blipFill>
          <a:blip r:embed="rId2"/>
          <a:stretch>
            <a:fillRect/>
          </a:stretch>
        </p:blipFill>
        <p:spPr>
          <a:xfrm>
            <a:off x="3663571" y="1466575"/>
            <a:ext cx="4864551" cy="3326551"/>
          </a:xfrm>
          <a:prstGeom prst="rect">
            <a:avLst/>
          </a:prstGeom>
        </p:spPr>
      </p:pic>
      <p:sp>
        <p:nvSpPr>
          <p:cNvPr id="6" name="Rounded Rectangle 5"/>
          <p:cNvSpPr/>
          <p:nvPr/>
        </p:nvSpPr>
        <p:spPr>
          <a:xfrm>
            <a:off x="457200" y="4847991"/>
            <a:ext cx="11277295" cy="850392"/>
          </a:xfrm>
          <a:prstGeom prst="roundRect">
            <a:avLst/>
          </a:prstGeom>
          <a:solidFill>
            <a:srgbClr val="F3F6F6"/>
          </a:solidFill>
          <a:ln w="15875">
            <a:solidFill>
              <a:srgbClr val="B1760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B1760A"/>
                </a:solidFill>
                <a:latin typeface="맑은 고딕"/>
              </a:rPr>
              <a:t>전체 상관계수와 한계</a:t>
            </a:r>
          </a:p>
          <a:p>
            <a:pPr algn="l">
              <a:lnSpc>
                <a:spcPct val="130000"/>
              </a:lnSpc>
            </a:pPr>
            <a:r>
              <a:rPr sz="1050" b="0">
                <a:solidFill>
                  <a:srgbClr val="002632"/>
                </a:solidFill>
                <a:latin typeface="맑은 고딕"/>
              </a:rPr>
              <a:t>전세가율 하위 20% 동은 1년 뒤 평균 5.5%, 상위 20%는 10.2% 올라 방향은 일관되지만, 전체 상관계수는 0.150(n=12,440)로 크지 않습니다. 연도별로 쪼개면 +0.27~-0.51로 부호가 뒤집혀(다음 슬라이드), '선행지표'보다는 '약하고 불안정한 동반관계'가 정확한 표현입니다.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6. 전세-매매 — 연도별로 쪼개면 상관관계가 사라진다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TextBox 3"/>
          <p:cNvSpPr txBox="1"/>
          <p:nvPr/>
        </p:nvSpPr>
        <p:spPr>
          <a:xfrm>
            <a:off x="457200" y="950976"/>
            <a:ext cx="11277295" cy="279527"/>
          </a:xfrm>
          <a:prstGeom prst="rect">
            <a:avLst/>
          </a:prstGeom>
          <a:noFill/>
        </p:spPr>
        <p:txBody>
          <a:bodyPr wrap="none">
            <a:spAutoFit/>
          </a:bodyPr>
          <a:lstStyle/>
          <a:p>
            <a:pPr algn="l"/>
            <a:r>
              <a:rPr sz="1300" b="1">
                <a:solidFill>
                  <a:srgbClr val="002632"/>
                </a:solidFill>
                <a:latin typeface="맑은 고딕"/>
              </a:rPr>
              <a:t>무엇을 보려는 그래프인가: 앞 슬라이드의 전세가율-가격 관계가 해마다 안정적으로 유지되는지 확인</a:t>
            </a:r>
          </a:p>
        </p:txBody>
      </p:sp>
      <p:pic>
        <p:nvPicPr>
          <p:cNvPr id="5" name="Picture 4" descr="06b_jeonse_corr_by_year.png"/>
          <p:cNvPicPr>
            <a:picLocks noChangeAspect="1"/>
          </p:cNvPicPr>
          <p:nvPr/>
        </p:nvPicPr>
        <p:blipFill>
          <a:blip r:embed="rId2"/>
          <a:stretch>
            <a:fillRect/>
          </a:stretch>
        </p:blipFill>
        <p:spPr>
          <a:xfrm>
            <a:off x="2730855" y="1847277"/>
            <a:ext cx="6729984" cy="4073909"/>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7. 복합 — 정비사업 강도와 가격 변동성, 유의한 관계 없음</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TextBox 3"/>
          <p:cNvSpPr txBox="1"/>
          <p:nvPr/>
        </p:nvSpPr>
        <p:spPr>
          <a:xfrm>
            <a:off x="457200" y="950976"/>
            <a:ext cx="11277295" cy="279527"/>
          </a:xfrm>
          <a:prstGeom prst="rect">
            <a:avLst/>
          </a:prstGeom>
          <a:noFill/>
        </p:spPr>
        <p:txBody>
          <a:bodyPr wrap="none">
            <a:spAutoFit/>
          </a:bodyPr>
          <a:lstStyle/>
          <a:p>
            <a:pPr algn="l"/>
            <a:r>
              <a:rPr sz="1300" b="1">
                <a:solidFill>
                  <a:srgbClr val="002632"/>
                </a:solidFill>
                <a:latin typeface="맑은 고딕"/>
              </a:rPr>
              <a:t>무엇을 보려는 그래프인가: 정비사업이 '얼마나 큰 규모로' 진행되는지가 가격 변동성과 관련 있는지 확인</a:t>
            </a:r>
          </a:p>
        </p:txBody>
      </p:sp>
      <p:pic>
        <p:nvPicPr>
          <p:cNvPr id="5" name="Picture 4" descr="07_redevelop_intensity_volatility.png"/>
          <p:cNvPicPr>
            <a:picLocks noChangeAspect="1"/>
          </p:cNvPicPr>
          <p:nvPr/>
        </p:nvPicPr>
        <p:blipFill>
          <a:blip r:embed="rId2"/>
          <a:stretch>
            <a:fillRect/>
          </a:stretch>
        </p:blipFill>
        <p:spPr>
          <a:xfrm>
            <a:off x="3912289" y="1466575"/>
            <a:ext cx="4367115" cy="3326551"/>
          </a:xfrm>
          <a:prstGeom prst="rect">
            <a:avLst/>
          </a:prstGeom>
        </p:spPr>
      </p:pic>
      <p:sp>
        <p:nvSpPr>
          <p:cNvPr id="6" name="Rounded Rectangle 5"/>
          <p:cNvSpPr/>
          <p:nvPr/>
        </p:nvSpPr>
        <p:spPr>
          <a:xfrm>
            <a:off x="457200" y="4847991"/>
            <a:ext cx="11277295" cy="1037844"/>
          </a:xfrm>
          <a:prstGeom prst="roundRect">
            <a:avLst/>
          </a:prstGeom>
          <a:solidFill>
            <a:srgbClr val="F3F6F6"/>
          </a:solidFill>
          <a:ln w="15875">
            <a:solidFill>
              <a:srgbClr val="B1760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B1760A"/>
                </a:solidFill>
                <a:latin typeface="맑은 고딕"/>
              </a:rPr>
              <a:t>정비사업 강도와 가격 변동성은 통계적으로 무관</a:t>
            </a:r>
          </a:p>
          <a:p>
            <a:pPr algn="l">
              <a:lnSpc>
                <a:spcPct val="130000"/>
              </a:lnSpc>
            </a:pPr>
            <a:r>
              <a:rPr sz="1050" b="0">
                <a:solidFill>
                  <a:srgbClr val="002632"/>
                </a:solidFill>
                <a:latin typeface="맑은 고딕"/>
              </a:rPr>
              <a:t>정비사업 강도(재고 대비 진행 세대 비중)가 19개 동에서 100%를 넘습니다(최댓값 946%, 보광동 — 원본 데이터의 두 항목이 서로 다른 범위를 집계한 것으로 보임). 이 이상치들을 포함하면 상관계수가 있어 보이지만, 정상 범위(강도≤1)만 남기면 r=0.009(p=0.889)로 통계적으로 아무 관계가 없습니다. (p값은 우연히 이런 결과가 나올 확률로, 관례상 0.05보다 크면 '유의하지 않다'=관계가 있다고 보기 어렵다고 판단합니다)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8. (추가) 반응이 갈린 이벤트, 반대로 움직인 동</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TextBox 3"/>
          <p:cNvSpPr txBox="1"/>
          <p:nvPr/>
        </p:nvSpPr>
        <p:spPr>
          <a:xfrm>
            <a:off x="457200" y="950976"/>
            <a:ext cx="11277295" cy="279527"/>
          </a:xfrm>
          <a:prstGeom prst="rect">
            <a:avLst/>
          </a:prstGeom>
          <a:noFill/>
        </p:spPr>
        <p:txBody>
          <a:bodyPr wrap="none">
            <a:spAutoFit/>
          </a:bodyPr>
          <a:lstStyle/>
          <a:p>
            <a:pPr algn="l"/>
            <a:r>
              <a:rPr sz="1300" b="1">
                <a:solidFill>
                  <a:srgbClr val="002632"/>
                </a:solidFill>
                <a:latin typeface="맑은 고딕"/>
              </a:rPr>
              <a:t>무엇을 보려는 그래프인가: 동네마다 반응이 크게 갈린 이벤트를 찾아, 원인을 그 이벤트로 특정할 수 있는지 확인</a:t>
            </a:r>
          </a:p>
        </p:txBody>
      </p:sp>
      <p:pic>
        <p:nvPicPr>
          <p:cNvPr id="5" name="Picture 4" descr="08_low_consensus_events.png"/>
          <p:cNvPicPr>
            <a:picLocks noChangeAspect="1"/>
          </p:cNvPicPr>
          <p:nvPr/>
        </p:nvPicPr>
        <p:blipFill>
          <a:blip r:embed="rId2"/>
          <a:stretch>
            <a:fillRect/>
          </a:stretch>
        </p:blipFill>
        <p:spPr>
          <a:xfrm>
            <a:off x="3386037" y="1466575"/>
            <a:ext cx="5419619" cy="3326551"/>
          </a:xfrm>
          <a:prstGeom prst="rect">
            <a:avLst/>
          </a:prstGeom>
        </p:spPr>
      </p:pic>
      <p:sp>
        <p:nvSpPr>
          <p:cNvPr id="6" name="Rounded Rectangle 5"/>
          <p:cNvSpPr/>
          <p:nvPr/>
        </p:nvSpPr>
        <p:spPr>
          <a:xfrm>
            <a:off x="457200" y="4829703"/>
            <a:ext cx="11277295" cy="850392"/>
          </a:xfrm>
          <a:prstGeom prst="roundRect">
            <a:avLst/>
          </a:prstGeom>
          <a:solidFill>
            <a:srgbClr val="F3F6F6"/>
          </a:solidFill>
          <a:ln w="15875">
            <a:solidFill>
              <a:srgbClr val="B1760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B1760A"/>
                </a:solidFill>
                <a:latin typeface="맑은 고딕"/>
              </a:rPr>
              <a:t>선택된 5개 이벤트 전부가 다른 이벤트와 겹칩니다</a:t>
            </a:r>
          </a:p>
          <a:p>
            <a:pPr algn="l">
              <a:lnSpc>
                <a:spcPct val="130000"/>
              </a:lnSpc>
            </a:pPr>
            <a:r>
              <a:rPr sz="1050" b="0">
                <a:solidFill>
                  <a:srgbClr val="002632"/>
                </a:solidFill>
                <a:latin typeface="맑은 고딕"/>
              </a:rPr>
              <a:t>김용진 님 EDA 제안 문서(eda_filelist.md)의 관점을 반영했습니다. event_summary의 overlapping_events(사건 앞뒤 ±4분기 안에 겹치는 다른 사건이 있는지 표시한 값)를 확인한 결과, 이번에 고른 5개 이벤트 전부가 다른 이벤트와 겹쳐서, 5개 중 어느 것도 개별 효과로 분리 해석할 수 없습니다.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9. (추가, 시도) 함께 움직이는 동 클러스터링</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TextBox 3"/>
          <p:cNvSpPr txBox="1"/>
          <p:nvPr/>
        </p:nvSpPr>
        <p:spPr>
          <a:xfrm>
            <a:off x="457200" y="950976"/>
            <a:ext cx="11277295" cy="279527"/>
          </a:xfrm>
          <a:prstGeom prst="rect">
            <a:avLst/>
          </a:prstGeom>
          <a:noFill/>
        </p:spPr>
        <p:txBody>
          <a:bodyPr wrap="none">
            <a:spAutoFit/>
          </a:bodyPr>
          <a:lstStyle/>
          <a:p>
            <a:pPr algn="l"/>
            <a:r>
              <a:rPr sz="1300" b="1">
                <a:solidFill>
                  <a:srgbClr val="002632"/>
                </a:solidFill>
                <a:latin typeface="맑은 고딕"/>
              </a:rPr>
              <a:t>무엇을 보려는 그래프인가: 가격이 비슷하게 오르내리는 동끼리 묶이는 그룹이 있는지 확인</a:t>
            </a:r>
          </a:p>
        </p:txBody>
      </p:sp>
      <p:pic>
        <p:nvPicPr>
          <p:cNvPr id="5" name="Picture 4" descr="09_cluster_size_imbalance.png"/>
          <p:cNvPicPr>
            <a:picLocks noChangeAspect="1"/>
          </p:cNvPicPr>
          <p:nvPr/>
        </p:nvPicPr>
        <p:blipFill>
          <a:blip r:embed="rId2"/>
          <a:stretch>
            <a:fillRect/>
          </a:stretch>
        </p:blipFill>
        <p:spPr>
          <a:xfrm>
            <a:off x="3752816" y="1466575"/>
            <a:ext cx="4686061" cy="3326551"/>
          </a:xfrm>
          <a:prstGeom prst="rect">
            <a:avLst/>
          </a:prstGeom>
        </p:spPr>
      </p:pic>
      <p:sp>
        <p:nvSpPr>
          <p:cNvPr id="6" name="Rounded Rectangle 5"/>
          <p:cNvSpPr/>
          <p:nvPr/>
        </p:nvSpPr>
        <p:spPr>
          <a:xfrm>
            <a:off x="457200" y="4829703"/>
            <a:ext cx="11277295" cy="850392"/>
          </a:xfrm>
          <a:prstGeom prst="roundRect">
            <a:avLst/>
          </a:prstGeom>
          <a:solidFill>
            <a:srgbClr val="F3F6F6"/>
          </a:solidFill>
          <a:ln w="15875">
            <a:solidFill>
              <a:srgbClr val="B1760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B1760A"/>
                </a:solidFill>
                <a:latin typeface="맑은 고딕"/>
              </a:rPr>
              <a:t>한계 — 해석 가능한 결과를 얻지 못했습니다</a:t>
            </a:r>
          </a:p>
          <a:p>
            <a:pPr algn="l">
              <a:lnSpc>
                <a:spcPct val="130000"/>
              </a:lnSpc>
            </a:pPr>
            <a:r>
              <a:rPr sz="1050" b="0">
                <a:solidFill>
                  <a:srgbClr val="002632"/>
                </a:solidFill>
                <a:latin typeface="맑은 고딕"/>
              </a:rPr>
              <a:t>결측 분기(표본 부족으로 제외된 동)가 있는 분기를 통째로 제외하는 방식이라 41개 분기 중 24개만 남고 시계열이 끊겼습니다. 그 결과 195개 동 중 167개가 한 클러스터에 몰려 그룹 간 차이를 해석할 수 없었습니다. 결측 보간이나 임계값 조정 후 재시도가 필요합니다.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10. (추가) 인구·세대수 — 새로 가져온 외부 데이터</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69264"/>
            <a:ext cx="11277295" cy="1316736"/>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무엇을 보려는 건가</a:t>
            </a:r>
          </a:p>
          <a:p>
            <a:pPr algn="l" marL="109728">
              <a:lnSpc>
                <a:spcPct val="125000"/>
              </a:lnSpc>
              <a:spcAft>
                <a:spcPts val="400"/>
              </a:spcAft>
            </a:pPr>
            <a:r>
              <a:rPr sz="1050" b="1">
                <a:solidFill>
                  <a:srgbClr val="002632"/>
                </a:solidFill>
                <a:latin typeface="맑은 고딕"/>
              </a:rPr>
              <a:t>· 질문  </a:t>
            </a:r>
            <a:r>
              <a:rPr sz="1050" b="0">
                <a:solidFill>
                  <a:srgbClr val="5B6B70"/>
                </a:solidFill>
                <a:latin typeface="맑은 고딕"/>
              </a:rPr>
              <a:t>2번 축에서 강남구 평균은 오르는데 역삼·대치·압구정동은 내려간 이유가 인구 변화 때문일까?</a:t>
            </a:r>
          </a:p>
          <a:p>
            <a:pPr algn="l" marL="109728">
              <a:lnSpc>
                <a:spcPct val="125000"/>
              </a:lnSpc>
              <a:spcAft>
                <a:spcPts val="400"/>
              </a:spcAft>
            </a:pPr>
            <a:r>
              <a:rPr sz="1050" b="1">
                <a:solidFill>
                  <a:srgbClr val="002632"/>
                </a:solidFill>
                <a:latin typeface="맑은 고딕"/>
              </a:rPr>
              <a:t>· 데이터  </a:t>
            </a:r>
            <a:r>
              <a:rPr sz="1050" b="0">
                <a:solidFill>
                  <a:srgbClr val="5B6B70"/>
                </a:solidFill>
                <a:latin typeface="맑은 고딕"/>
              </a:rPr>
              <a:t>행정안전부 법정동별 주민등록 인구·세대현황 (공공데이터포털, 무료·자동승인)</a:t>
            </a:r>
          </a:p>
          <a:p>
            <a:pPr algn="l" marL="109728">
              <a:lnSpc>
                <a:spcPct val="125000"/>
              </a:lnSpc>
              <a:spcAft>
                <a:spcPts val="400"/>
              </a:spcAft>
            </a:pPr>
            <a:r>
              <a:rPr sz="1050" b="1">
                <a:solidFill>
                  <a:srgbClr val="002632"/>
                </a:solidFill>
                <a:latin typeface="맑은 고딕"/>
              </a:rPr>
              <a:t>· 방법  </a:t>
            </a:r>
            <a:r>
              <a:rPr sz="1050" b="0">
                <a:solidFill>
                  <a:srgbClr val="5B6B70"/>
                </a:solidFill>
                <a:latin typeface="맑은 고딕"/>
              </a:rPr>
              <a:t>법정동 340개의 2025Q2·2026Q2 인구·세대수를 새로 받아, 2번 축의 동별 가격 변화율과 합침</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10. (추가) 인구-가격 관계는 보광동 하나가 만든 착시였다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TextBox 3"/>
          <p:cNvSpPr txBox="1"/>
          <p:nvPr/>
        </p:nvSpPr>
        <p:spPr>
          <a:xfrm>
            <a:off x="457200" y="950976"/>
            <a:ext cx="11277295" cy="279527"/>
          </a:xfrm>
          <a:prstGeom prst="rect">
            <a:avLst/>
          </a:prstGeom>
          <a:noFill/>
        </p:spPr>
        <p:txBody>
          <a:bodyPr wrap="none">
            <a:spAutoFit/>
          </a:bodyPr>
          <a:lstStyle/>
          <a:p>
            <a:pPr algn="l"/>
            <a:r>
              <a:rPr sz="1300" b="1">
                <a:solidFill>
                  <a:srgbClr val="002632"/>
                </a:solidFill>
                <a:latin typeface="맑은 고딕"/>
              </a:rPr>
              <a:t>무엇을 보려는 그래프인가: 인구가 줄어든 동네와 가격이 오른 동네가 실제로 겹치는지 확인</a:t>
            </a:r>
          </a:p>
        </p:txBody>
      </p:sp>
      <p:pic>
        <p:nvPicPr>
          <p:cNvPr id="5" name="Picture 4" descr="10_population_vs_price.png"/>
          <p:cNvPicPr>
            <a:picLocks noChangeAspect="1"/>
          </p:cNvPicPr>
          <p:nvPr/>
        </p:nvPicPr>
        <p:blipFill>
          <a:blip r:embed="rId2"/>
          <a:stretch>
            <a:fillRect/>
          </a:stretch>
        </p:blipFill>
        <p:spPr>
          <a:xfrm>
            <a:off x="3839125" y="1466575"/>
            <a:ext cx="4513444" cy="3326551"/>
          </a:xfrm>
          <a:prstGeom prst="rect">
            <a:avLst/>
          </a:prstGeom>
        </p:spPr>
      </p:pic>
      <p:sp>
        <p:nvSpPr>
          <p:cNvPr id="6" name="Rounded Rectangle 5"/>
          <p:cNvSpPr/>
          <p:nvPr/>
        </p:nvSpPr>
        <p:spPr>
          <a:xfrm>
            <a:off x="457200" y="4847991"/>
            <a:ext cx="11277295" cy="850392"/>
          </a:xfrm>
          <a:prstGeom prst="roundRect">
            <a:avLst/>
          </a:prstGeom>
          <a:solidFill>
            <a:srgbClr val="F3F6F6"/>
          </a:solidFill>
          <a:ln w="15875">
            <a:solidFill>
              <a:srgbClr val="B1760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B1760A"/>
                </a:solidFill>
                <a:latin typeface="맑은 고딕"/>
              </a:rPr>
              <a:t>통계적으로 유의하지 않음</a:t>
            </a:r>
          </a:p>
          <a:p>
            <a:pPr algn="l">
              <a:lnSpc>
                <a:spcPct val="130000"/>
              </a:lnSpc>
            </a:pPr>
            <a:r>
              <a:rPr sz="1050" b="0">
                <a:solidFill>
                  <a:srgbClr val="002632"/>
                </a:solidFill>
                <a:latin typeface="맑은 고딕"/>
              </a:rPr>
              <a:t>전체 231개 동 상관계수는 -0.108(p=0.10, 유의하지 않음)이고, 보광동 하나를 빼면 -0.001(p=0.98)로 사실상 관계가 사라집니다. '인구가 줄면 가격이 오른다'는 일반적 경향이 아니라 보광동이라는 특정 사례 하나가 만든 그림입니다.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10. (추가) 그래도 보광동 사례 자체는 흥미롭다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TextBox 3"/>
          <p:cNvSpPr txBox="1"/>
          <p:nvPr/>
        </p:nvSpPr>
        <p:spPr>
          <a:xfrm>
            <a:off x="457200" y="969264"/>
            <a:ext cx="11277295" cy="279527"/>
          </a:xfrm>
          <a:prstGeom prst="rect">
            <a:avLst/>
          </a:prstGeom>
          <a:noFill/>
        </p:spPr>
        <p:txBody>
          <a:bodyPr wrap="none">
            <a:spAutoFit/>
          </a:bodyPr>
          <a:lstStyle/>
          <a:p>
            <a:pPr algn="l"/>
            <a:r>
              <a:rPr sz="1300" b="1">
                <a:solidFill>
                  <a:srgbClr val="002632"/>
                </a:solidFill>
                <a:latin typeface="맑은 고딕"/>
              </a:rPr>
              <a:t>무엇을 보려는 표인가: 2번 축에서 짚었던 동 5곳의 인구·가격 변화를 나란히 비교</a:t>
            </a:r>
          </a:p>
        </p:txBody>
      </p:sp>
      <p:graphicFrame>
        <p:nvGraphicFramePr>
          <p:cNvPr id="5" name="Table 4"/>
          <p:cNvGraphicFramePr>
            <a:graphicFrameLocks noGrp="1"/>
          </p:cNvGraphicFramePr>
          <p:nvPr/>
        </p:nvGraphicFramePr>
        <p:xfrm>
          <a:off x="457200" y="1340231"/>
          <a:ext cx="10972800" cy="1807464"/>
        </p:xfrm>
        <a:graphic>
          <a:graphicData uri="http://schemas.openxmlformats.org/drawingml/2006/table">
            <a:tbl>
              <a:tblPr firstRow="1" bandRow="1">
                <a:tableStyleId>{5C22544A-7EE6-4342-B048-85BDC9FD1C3A}</a:tableStyleId>
              </a:tblPr>
              <a:tblGrid>
                <a:gridCol w="2286000"/>
                <a:gridCol w="2286000"/>
                <a:gridCol w="3200400"/>
                <a:gridCol w="3200400"/>
              </a:tblGrid>
              <a:tr h="301244">
                <a:tc>
                  <a:txBody>
                    <a:bodyPr/>
                    <a:lstStyle/>
                    <a:p>
                      <a:pPr algn="l"/>
                      <a:r>
                        <a:rPr sz="1000" b="1">
                          <a:solidFill>
                            <a:srgbClr val="FFFFFF"/>
                          </a:solidFill>
                          <a:latin typeface="맑은 고딕"/>
                        </a:rPr>
                        <a:t>동</a:t>
                      </a:r>
                    </a:p>
                  </a:txBody>
                  <a:tcPr anchor="ctr" marL="73152" marR="73152" marT="41148" marB="41148">
                    <a:solidFill>
                      <a:srgbClr val="002632"/>
                    </a:solidFill>
                  </a:tcPr>
                </a:tc>
                <a:tc>
                  <a:txBody>
                    <a:bodyPr/>
                    <a:lstStyle/>
                    <a:p>
                      <a:pPr algn="ctr"/>
                      <a:r>
                        <a:rPr sz="1000" b="1">
                          <a:solidFill>
                            <a:srgbClr val="FFFFFF"/>
                          </a:solidFill>
                          <a:latin typeface="맑은 고딕"/>
                        </a:rPr>
                        <a:t>구</a:t>
                      </a:r>
                    </a:p>
                  </a:txBody>
                  <a:tcPr anchor="ctr" marL="73152" marR="73152" marT="41148" marB="41148">
                    <a:solidFill>
                      <a:srgbClr val="002632"/>
                    </a:solidFill>
                  </a:tcPr>
                </a:tc>
                <a:tc>
                  <a:txBody>
                    <a:bodyPr/>
                    <a:lstStyle/>
                    <a:p>
                      <a:pPr algn="ctr"/>
                      <a:r>
                        <a:rPr sz="1000" b="1">
                          <a:solidFill>
                            <a:srgbClr val="FFFFFF"/>
                          </a:solidFill>
                          <a:latin typeface="맑은 고딕"/>
                        </a:rPr>
                        <a:t>인구 변화율(1년)</a:t>
                      </a:r>
                    </a:p>
                  </a:txBody>
                  <a:tcPr anchor="ctr" marL="73152" marR="73152" marT="41148" marB="41148">
                    <a:solidFill>
                      <a:srgbClr val="002632"/>
                    </a:solidFill>
                  </a:tcPr>
                </a:tc>
                <a:tc>
                  <a:txBody>
                    <a:bodyPr/>
                    <a:lstStyle/>
                    <a:p>
                      <a:pPr algn="ctr"/>
                      <a:r>
                        <a:rPr sz="1000" b="1">
                          <a:solidFill>
                            <a:srgbClr val="FFFFFF"/>
                          </a:solidFill>
                          <a:latin typeface="맑은 고딕"/>
                        </a:rPr>
                        <a:t>가격 변화율(1년)</a:t>
                      </a:r>
                    </a:p>
                  </a:txBody>
                  <a:tcPr anchor="ctr" marL="73152" marR="73152" marT="41148" marB="41148">
                    <a:solidFill>
                      <a:srgbClr val="002632"/>
                    </a:solidFill>
                  </a:tcPr>
                </a:tc>
              </a:tr>
              <a:tr h="301244">
                <a:tc>
                  <a:txBody>
                    <a:bodyPr/>
                    <a:lstStyle/>
                    <a:p>
                      <a:pPr algn="l"/>
                      <a:r>
                        <a:rPr sz="1000" b="0">
                          <a:solidFill>
                            <a:srgbClr val="002632"/>
                          </a:solidFill>
                          <a:latin typeface="맑은 고딕"/>
                        </a:rPr>
                        <a:t>보광동</a:t>
                      </a:r>
                    </a:p>
                  </a:txBody>
                  <a:tcPr anchor="ctr" marL="73152" marR="73152" marT="41148" marB="41148">
                    <a:solidFill>
                      <a:srgbClr val="F3F6F6"/>
                    </a:solidFill>
                  </a:tcPr>
                </a:tc>
                <a:tc>
                  <a:txBody>
                    <a:bodyPr/>
                    <a:lstStyle/>
                    <a:p>
                      <a:pPr algn="ctr"/>
                      <a:r>
                        <a:rPr sz="1000" b="0">
                          <a:solidFill>
                            <a:srgbClr val="002632"/>
                          </a:solidFill>
                          <a:latin typeface="맑은 고딕"/>
                        </a:rPr>
                        <a:t>용산구</a:t>
                      </a:r>
                    </a:p>
                  </a:txBody>
                  <a:tcPr anchor="ctr" marL="73152" marR="73152" marT="41148" marB="41148">
                    <a:solidFill>
                      <a:srgbClr val="F3F6F6"/>
                    </a:solidFill>
                  </a:tcPr>
                </a:tc>
                <a:tc>
                  <a:txBody>
                    <a:bodyPr/>
                    <a:lstStyle/>
                    <a:p>
                      <a:pPr algn="ctr"/>
                      <a:r>
                        <a:rPr sz="1000" b="0">
                          <a:solidFill>
                            <a:srgbClr val="002632"/>
                          </a:solidFill>
                          <a:latin typeface="맑은 고딕"/>
                        </a:rPr>
                        <a:t>-26.5%</a:t>
                      </a:r>
                    </a:p>
                  </a:txBody>
                  <a:tcPr anchor="ctr" marL="73152" marR="73152" marT="41148" marB="41148">
                    <a:solidFill>
                      <a:srgbClr val="F3F6F6"/>
                    </a:solidFill>
                  </a:tcPr>
                </a:tc>
                <a:tc>
                  <a:txBody>
                    <a:bodyPr/>
                    <a:lstStyle/>
                    <a:p>
                      <a:pPr algn="ctr"/>
                      <a:r>
                        <a:rPr sz="1000" b="0">
                          <a:solidFill>
                            <a:srgbClr val="002632"/>
                          </a:solidFill>
                          <a:latin typeface="맑은 고딕"/>
                        </a:rPr>
                        <a:t>46.3%</a:t>
                      </a:r>
                    </a:p>
                  </a:txBody>
                  <a:tcPr anchor="ctr" marL="73152" marR="73152" marT="41148" marB="41148">
                    <a:solidFill>
                      <a:srgbClr val="F3F6F6"/>
                    </a:solidFill>
                  </a:tcPr>
                </a:tc>
              </a:tr>
              <a:tr h="301244">
                <a:tc>
                  <a:txBody>
                    <a:bodyPr/>
                    <a:lstStyle/>
                    <a:p>
                      <a:pPr algn="l"/>
                      <a:r>
                        <a:rPr sz="1000" b="0">
                          <a:solidFill>
                            <a:srgbClr val="002632"/>
                          </a:solidFill>
                          <a:latin typeface="맑은 고딕"/>
                        </a:rPr>
                        <a:t>압구정동</a:t>
                      </a:r>
                    </a:p>
                  </a:txBody>
                  <a:tcPr anchor="ctr" marL="73152" marR="73152" marT="41148" marB="41148">
                    <a:solidFill>
                      <a:srgbClr val="FFFFFF"/>
                    </a:solidFill>
                  </a:tcPr>
                </a:tc>
                <a:tc>
                  <a:txBody>
                    <a:bodyPr/>
                    <a:lstStyle/>
                    <a:p>
                      <a:pPr algn="ctr"/>
                      <a:r>
                        <a:rPr sz="1000" b="0">
                          <a:solidFill>
                            <a:srgbClr val="002632"/>
                          </a:solidFill>
                          <a:latin typeface="맑은 고딕"/>
                        </a:rPr>
                        <a:t>강남구</a:t>
                      </a:r>
                    </a:p>
                  </a:txBody>
                  <a:tcPr anchor="ctr" marL="73152" marR="73152" marT="41148" marB="41148">
                    <a:solidFill>
                      <a:srgbClr val="FFFFFF"/>
                    </a:solidFill>
                  </a:tcPr>
                </a:tc>
                <a:tc>
                  <a:txBody>
                    <a:bodyPr/>
                    <a:lstStyle/>
                    <a:p>
                      <a:pPr algn="ctr"/>
                      <a:r>
                        <a:rPr sz="1000" b="0">
                          <a:solidFill>
                            <a:srgbClr val="002632"/>
                          </a:solidFill>
                          <a:latin typeface="맑은 고딕"/>
                        </a:rPr>
                        <a:t>-0.8%</a:t>
                      </a:r>
                    </a:p>
                  </a:txBody>
                  <a:tcPr anchor="ctr" marL="73152" marR="73152" marT="41148" marB="41148">
                    <a:solidFill>
                      <a:srgbClr val="FFFFFF"/>
                    </a:solidFill>
                  </a:tcPr>
                </a:tc>
                <a:tc>
                  <a:txBody>
                    <a:bodyPr/>
                    <a:lstStyle/>
                    <a:p>
                      <a:pPr algn="ctr"/>
                      <a:r>
                        <a:rPr sz="1000" b="0">
                          <a:solidFill>
                            <a:srgbClr val="002632"/>
                          </a:solidFill>
                          <a:latin typeface="맑은 고딕"/>
                        </a:rPr>
                        <a:t>-1.6%</a:t>
                      </a:r>
                    </a:p>
                  </a:txBody>
                  <a:tcPr anchor="ctr" marL="73152" marR="73152" marT="41148" marB="41148">
                    <a:solidFill>
                      <a:srgbClr val="FFFFFF"/>
                    </a:solidFill>
                  </a:tcPr>
                </a:tc>
              </a:tr>
              <a:tr h="301244">
                <a:tc>
                  <a:txBody>
                    <a:bodyPr/>
                    <a:lstStyle/>
                    <a:p>
                      <a:pPr algn="l"/>
                      <a:r>
                        <a:rPr sz="1000" b="0">
                          <a:solidFill>
                            <a:srgbClr val="002632"/>
                          </a:solidFill>
                          <a:latin typeface="맑은 고딕"/>
                        </a:rPr>
                        <a:t>수서동</a:t>
                      </a:r>
                    </a:p>
                  </a:txBody>
                  <a:tcPr anchor="ctr" marL="73152" marR="73152" marT="41148" marB="41148">
                    <a:solidFill>
                      <a:srgbClr val="F3F6F6"/>
                    </a:solidFill>
                  </a:tcPr>
                </a:tc>
                <a:tc>
                  <a:txBody>
                    <a:bodyPr/>
                    <a:lstStyle/>
                    <a:p>
                      <a:pPr algn="ctr"/>
                      <a:r>
                        <a:rPr sz="1000" b="0">
                          <a:solidFill>
                            <a:srgbClr val="002632"/>
                          </a:solidFill>
                          <a:latin typeface="맑은 고딕"/>
                        </a:rPr>
                        <a:t>강남구</a:t>
                      </a:r>
                    </a:p>
                  </a:txBody>
                  <a:tcPr anchor="ctr" marL="73152" marR="73152" marT="41148" marB="41148">
                    <a:solidFill>
                      <a:srgbClr val="F3F6F6"/>
                    </a:solidFill>
                  </a:tcPr>
                </a:tc>
                <a:tc>
                  <a:txBody>
                    <a:bodyPr/>
                    <a:lstStyle/>
                    <a:p>
                      <a:pPr algn="ctr"/>
                      <a:r>
                        <a:rPr sz="1000" b="0">
                          <a:solidFill>
                            <a:srgbClr val="002632"/>
                          </a:solidFill>
                          <a:latin typeface="맑은 고딕"/>
                        </a:rPr>
                        <a:t>-0.7%</a:t>
                      </a:r>
                    </a:p>
                  </a:txBody>
                  <a:tcPr anchor="ctr" marL="73152" marR="73152" marT="41148" marB="41148">
                    <a:solidFill>
                      <a:srgbClr val="F3F6F6"/>
                    </a:solidFill>
                  </a:tcPr>
                </a:tc>
                <a:tc>
                  <a:txBody>
                    <a:bodyPr/>
                    <a:lstStyle/>
                    <a:p>
                      <a:pPr algn="ctr"/>
                      <a:r>
                        <a:rPr sz="1000" b="0">
                          <a:solidFill>
                            <a:srgbClr val="002632"/>
                          </a:solidFill>
                          <a:latin typeface="맑은 고딕"/>
                        </a:rPr>
                        <a:t>33.3%</a:t>
                      </a:r>
                    </a:p>
                  </a:txBody>
                  <a:tcPr anchor="ctr" marL="73152" marR="73152" marT="41148" marB="41148">
                    <a:solidFill>
                      <a:srgbClr val="F3F6F6"/>
                    </a:solidFill>
                  </a:tcPr>
                </a:tc>
              </a:tr>
              <a:tr h="301244">
                <a:tc>
                  <a:txBody>
                    <a:bodyPr/>
                    <a:lstStyle/>
                    <a:p>
                      <a:pPr algn="l"/>
                      <a:r>
                        <a:rPr sz="1000" b="0">
                          <a:solidFill>
                            <a:srgbClr val="002632"/>
                          </a:solidFill>
                          <a:latin typeface="맑은 고딕"/>
                        </a:rPr>
                        <a:t>대치동</a:t>
                      </a:r>
                    </a:p>
                  </a:txBody>
                  <a:tcPr anchor="ctr" marL="73152" marR="73152" marT="41148" marB="41148">
                    <a:solidFill>
                      <a:srgbClr val="FFFFFF"/>
                    </a:solidFill>
                  </a:tcPr>
                </a:tc>
                <a:tc>
                  <a:txBody>
                    <a:bodyPr/>
                    <a:lstStyle/>
                    <a:p>
                      <a:pPr algn="ctr"/>
                      <a:r>
                        <a:rPr sz="1000" b="0">
                          <a:solidFill>
                            <a:srgbClr val="002632"/>
                          </a:solidFill>
                          <a:latin typeface="맑은 고딕"/>
                        </a:rPr>
                        <a:t>강남구</a:t>
                      </a:r>
                    </a:p>
                  </a:txBody>
                  <a:tcPr anchor="ctr" marL="73152" marR="73152" marT="41148" marB="41148">
                    <a:solidFill>
                      <a:srgbClr val="FFFFFF"/>
                    </a:solidFill>
                  </a:tcPr>
                </a:tc>
                <a:tc>
                  <a:txBody>
                    <a:bodyPr/>
                    <a:lstStyle/>
                    <a:p>
                      <a:pPr algn="ctr"/>
                      <a:r>
                        <a:rPr sz="1000" b="0">
                          <a:solidFill>
                            <a:srgbClr val="002632"/>
                          </a:solidFill>
                          <a:latin typeface="맑은 고딕"/>
                        </a:rPr>
                        <a:t>-0.4%</a:t>
                      </a:r>
                    </a:p>
                  </a:txBody>
                  <a:tcPr anchor="ctr" marL="73152" marR="73152" marT="41148" marB="41148">
                    <a:solidFill>
                      <a:srgbClr val="FFFFFF"/>
                    </a:solidFill>
                  </a:tcPr>
                </a:tc>
                <a:tc>
                  <a:txBody>
                    <a:bodyPr/>
                    <a:lstStyle/>
                    <a:p>
                      <a:pPr algn="ctr"/>
                      <a:r>
                        <a:rPr sz="1000" b="0">
                          <a:solidFill>
                            <a:srgbClr val="002632"/>
                          </a:solidFill>
                          <a:latin typeface="맑은 고딕"/>
                        </a:rPr>
                        <a:t>-4.8%</a:t>
                      </a:r>
                    </a:p>
                  </a:txBody>
                  <a:tcPr anchor="ctr" marL="73152" marR="73152" marT="41148" marB="41148">
                    <a:solidFill>
                      <a:srgbClr val="FFFFFF"/>
                    </a:solidFill>
                  </a:tcPr>
                </a:tc>
              </a:tr>
              <a:tr h="301244">
                <a:tc>
                  <a:txBody>
                    <a:bodyPr/>
                    <a:lstStyle/>
                    <a:p>
                      <a:pPr algn="l"/>
                      <a:r>
                        <a:rPr sz="1000" b="0">
                          <a:solidFill>
                            <a:srgbClr val="002632"/>
                          </a:solidFill>
                          <a:latin typeface="맑은 고딕"/>
                        </a:rPr>
                        <a:t>역삼동</a:t>
                      </a:r>
                    </a:p>
                  </a:txBody>
                  <a:tcPr anchor="ctr" marL="73152" marR="73152" marT="41148" marB="41148">
                    <a:solidFill>
                      <a:srgbClr val="F3F6F6"/>
                    </a:solidFill>
                  </a:tcPr>
                </a:tc>
                <a:tc>
                  <a:txBody>
                    <a:bodyPr/>
                    <a:lstStyle/>
                    <a:p>
                      <a:pPr algn="ctr"/>
                      <a:r>
                        <a:rPr sz="1000" b="0">
                          <a:solidFill>
                            <a:srgbClr val="002632"/>
                          </a:solidFill>
                          <a:latin typeface="맑은 고딕"/>
                        </a:rPr>
                        <a:t>강남구</a:t>
                      </a:r>
                    </a:p>
                  </a:txBody>
                  <a:tcPr anchor="ctr" marL="73152" marR="73152" marT="41148" marB="41148">
                    <a:solidFill>
                      <a:srgbClr val="F3F6F6"/>
                    </a:solidFill>
                  </a:tcPr>
                </a:tc>
                <a:tc>
                  <a:txBody>
                    <a:bodyPr/>
                    <a:lstStyle/>
                    <a:p>
                      <a:pPr algn="ctr"/>
                      <a:r>
                        <a:rPr sz="1000" b="0">
                          <a:solidFill>
                            <a:srgbClr val="002632"/>
                          </a:solidFill>
                          <a:latin typeface="맑은 고딕"/>
                        </a:rPr>
                        <a:t>-0.3%</a:t>
                      </a:r>
                    </a:p>
                  </a:txBody>
                  <a:tcPr anchor="ctr" marL="73152" marR="73152" marT="41148" marB="41148">
                    <a:solidFill>
                      <a:srgbClr val="F3F6F6"/>
                    </a:solidFill>
                  </a:tcPr>
                </a:tc>
                <a:tc>
                  <a:txBody>
                    <a:bodyPr/>
                    <a:lstStyle/>
                    <a:p>
                      <a:pPr algn="ctr"/>
                      <a:r>
                        <a:rPr sz="1000" b="0">
                          <a:solidFill>
                            <a:srgbClr val="002632"/>
                          </a:solidFill>
                          <a:latin typeface="맑은 고딕"/>
                        </a:rPr>
                        <a:t>-7.1%</a:t>
                      </a:r>
                    </a:p>
                  </a:txBody>
                  <a:tcPr anchor="ctr" marL="73152" marR="73152" marT="41148" marB="41148">
                    <a:solidFill>
                      <a:srgbClr val="F3F6F6"/>
                    </a:solidFill>
                  </a:tcPr>
                </a:tc>
              </a:tr>
            </a:tbl>
          </a:graphicData>
        </a:graphic>
      </p:graphicFrame>
      <p:sp>
        <p:nvSpPr>
          <p:cNvPr id="6" name="TextBox 5"/>
          <p:cNvSpPr txBox="1"/>
          <p:nvPr/>
        </p:nvSpPr>
        <p:spPr>
          <a:xfrm>
            <a:off x="457200" y="3239135"/>
            <a:ext cx="11277295" cy="237744"/>
          </a:xfrm>
          <a:prstGeom prst="rect">
            <a:avLst/>
          </a:prstGeom>
          <a:noFill/>
        </p:spPr>
        <p:txBody>
          <a:bodyPr wrap="square">
            <a:spAutoFit/>
          </a:bodyPr>
          <a:lstStyle/>
          <a:p>
            <a:pPr algn="l"/>
            <a:r>
              <a:rPr sz="900" b="0">
                <a:solidFill>
                  <a:srgbClr val="5B6B70"/>
                </a:solidFill>
                <a:latin typeface="맑은 고딕"/>
              </a:rPr>
              <a:t>2번 축에서 다룬 동 5개만 뽑음. 전체 231개 동 결과는 eda/output/12_population_vs_price.csv</a:t>
            </a:r>
          </a:p>
        </p:txBody>
      </p:sp>
      <p:sp>
        <p:nvSpPr>
          <p:cNvPr id="7" name="Rounded Rectangle 6"/>
          <p:cNvSpPr/>
          <p:nvPr/>
        </p:nvSpPr>
        <p:spPr>
          <a:xfrm>
            <a:off x="457200" y="3568319"/>
            <a:ext cx="11277295" cy="1037844"/>
          </a:xfrm>
          <a:prstGeom prst="roundRect">
            <a:avLst/>
          </a:prstGeom>
          <a:solidFill>
            <a:srgbClr val="F3F6F6"/>
          </a:solidFill>
          <a:ln w="15875">
            <a:solidFill>
              <a:srgbClr val="B1760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B1760A"/>
                </a:solidFill>
                <a:latin typeface="맑은 고딕"/>
              </a:rPr>
              <a:t>핵심 결론</a:t>
            </a:r>
          </a:p>
          <a:p>
            <a:pPr algn="l">
              <a:lnSpc>
                <a:spcPct val="130000"/>
              </a:lnSpc>
            </a:pPr>
            <a:r>
              <a:rPr sz="1050" b="0">
                <a:solidFill>
                  <a:srgbClr val="002632"/>
                </a:solidFill>
                <a:latin typeface="맑은 고딕"/>
              </a:rPr>
              <a:t>① '인구가 줄면 가격이 오른다'는 231개 동 전체의 일반적 관계는 통계적으로 근거가 없다(보광동 제외 시 r=-0.001). ② 다만 보광동 개별 사례(인구 -26.5%, 가격 +46.3%)는 정비사업 이주로 추정해볼 만한 값이라 눈여겨볼 필요는 있다(원인은 별도 확인 필요). ③ 강남구 내부 편차(역삼·대치·압구정 하락)는 인구로 설명되지 않는다 — 인구 변화가 다들 -1% 안팎으로 비슷했다.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핵심 결론</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1645920"/>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marL="109728">
              <a:lnSpc>
                <a:spcPct val="125000"/>
              </a:lnSpc>
              <a:spcAft>
                <a:spcPts val="400"/>
              </a:spcAft>
            </a:pPr>
            <a:r>
              <a:rPr sz="1050" b="1">
                <a:solidFill>
                  <a:srgbClr val="002632"/>
                </a:solidFill>
                <a:latin typeface="맑은 고딕"/>
              </a:rPr>
              <a:t>· 거래량 변동폭 &gt; 가격 변동폭  </a:t>
            </a:r>
            <a:r>
              <a:rPr sz="1050" b="0">
                <a:solidFill>
                  <a:srgbClr val="5B6B70"/>
                </a:solidFill>
                <a:latin typeface="맑은 고딕"/>
              </a:rPr>
              <a:t>정책·금리 변화 시점과 거래량 급변 시점이 겹친다(인과는 미검증)</a:t>
            </a:r>
          </a:p>
          <a:p>
            <a:pPr algn="l" marL="109728">
              <a:lnSpc>
                <a:spcPct val="125000"/>
              </a:lnSpc>
              <a:spcAft>
                <a:spcPts val="400"/>
              </a:spcAft>
            </a:pPr>
            <a:r>
              <a:rPr sz="1050" b="1">
                <a:solidFill>
                  <a:srgbClr val="002632"/>
                </a:solidFill>
                <a:latin typeface="맑은 고딕"/>
              </a:rPr>
              <a:t>· 구 평균 ≠ 동 흐름  </a:t>
            </a:r>
            <a:r>
              <a:rPr sz="1050" b="0">
                <a:solidFill>
                  <a:srgbClr val="5B6B70"/>
                </a:solidFill>
                <a:latin typeface="맑은 고딕"/>
              </a:rPr>
              <a:t>강남구 hedonic 평균은 +6.8%지만 역삼(-7.1%)~수서(+33.3%)까지 동별 편차 큼</a:t>
            </a:r>
          </a:p>
          <a:p>
            <a:pPr algn="l" marL="109728">
              <a:lnSpc>
                <a:spcPct val="125000"/>
              </a:lnSpc>
              <a:spcAft>
                <a:spcPts val="400"/>
              </a:spcAft>
            </a:pPr>
            <a:r>
              <a:rPr sz="1050" b="1">
                <a:solidFill>
                  <a:srgbClr val="002632"/>
                </a:solidFill>
                <a:latin typeface="맑은 고딕"/>
              </a:rPr>
              <a:t>· 입지 요인 중 상관 최강은 한강조망  </a:t>
            </a:r>
            <a:r>
              <a:rPr sz="1050" b="0">
                <a:solidFill>
                  <a:srgbClr val="5B6B70"/>
                </a:solidFill>
                <a:latin typeface="맑은 고딕"/>
              </a:rPr>
              <a:t>역세권(-0.17)보다 한강조망(0.29) 상관이 더 강함(둘 다 원시거래 상관)</a:t>
            </a:r>
          </a:p>
          <a:p>
            <a:pPr algn="l" marL="109728">
              <a:lnSpc>
                <a:spcPct val="125000"/>
              </a:lnSpc>
              <a:spcAft>
                <a:spcPts val="400"/>
              </a:spcAft>
            </a:pPr>
            <a:r>
              <a:rPr sz="1050" b="1">
                <a:solidFill>
                  <a:srgbClr val="002632"/>
                </a:solidFill>
                <a:latin typeface="맑은 고딕"/>
              </a:rPr>
              <a:t>· 정비사업 강도-변동성은 유의하지 않음  </a:t>
            </a:r>
            <a:r>
              <a:rPr sz="1050" b="0">
                <a:solidFill>
                  <a:srgbClr val="5B6B70"/>
                </a:solidFill>
                <a:latin typeface="맑은 고딕"/>
              </a:rPr>
              <a:t>정상 범위 동만 보면 r=0.009, p=0.889로 통계적으로 무관</a:t>
            </a:r>
          </a:p>
          <a:p>
            <a:pPr algn="l" marL="109728">
              <a:lnSpc>
                <a:spcPct val="125000"/>
              </a:lnSpc>
              <a:spcAft>
                <a:spcPts val="400"/>
              </a:spcAft>
            </a:pPr>
            <a:r>
              <a:rPr sz="1050" b="1">
                <a:solidFill>
                  <a:srgbClr val="002632"/>
                </a:solidFill>
                <a:latin typeface="맑은 고딕"/>
              </a:rPr>
              <a:t>· 전세가율은 불안정한 약한 동반관계  </a:t>
            </a:r>
            <a:r>
              <a:rPr sz="1050" b="0">
                <a:solidFill>
                  <a:srgbClr val="5B6B70"/>
                </a:solidFill>
                <a:latin typeface="맑은 고딕"/>
              </a:rPr>
              <a:t>전체 상관 0.150이지만 연도별로 +0.27~-0.51로 부호가 뒤집힘</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한계 및 다음 단계</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1037844"/>
          </a:xfrm>
          <a:prstGeom prst="roundRect">
            <a:avLst/>
          </a:prstGeom>
          <a:solidFill>
            <a:srgbClr val="F3F6F6"/>
          </a:solidFill>
          <a:ln w="15875">
            <a:solidFill>
              <a:srgbClr val="B1760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B1760A"/>
                </a:solidFill>
                <a:latin typeface="맑은 고딕"/>
              </a:rPr>
              <a:t>현재 결과의 한계 (provisional, 잠정적인 결과라는 뜻)</a:t>
            </a:r>
          </a:p>
          <a:p>
            <a:pPr algn="l">
              <a:lnSpc>
                <a:spcPct val="130000"/>
              </a:lnSpc>
            </a:pPr>
            <a:r>
              <a:rPr sz="1050" b="0">
                <a:solidFill>
                  <a:srgbClr val="002632"/>
                </a:solidFill>
                <a:latin typeface="맑은 고딕"/>
              </a:rPr>
              <a:t>이벤트-가격, 정책-거래량 관계는 상관관계·시점이 겹치는 것일 뿐 인과관계가 아님. 3·4번 축은 현재 시점 단지 정보를 과거 거래에도 그대로 적용해서 비교한 시점 불일치가 있음. 9번 축(클러스터링)은 방법론 재설계가 필요함. 6번 축(전세가율)은 여러 해·여러 동을 한꺼번에 묶어 계산한 상관이라, 그 시기 시장 전체가 오르내리는 공통 흐름과 진짜 선행성을 완전히 구분하지 못함.</a:t>
            </a:r>
          </a:p>
        </p:txBody>
      </p:sp>
      <p:sp>
        <p:nvSpPr>
          <p:cNvPr id="5" name="Rounded Rectangle 4"/>
          <p:cNvSpPr/>
          <p:nvPr/>
        </p:nvSpPr>
        <p:spPr>
          <a:xfrm>
            <a:off x="457200" y="2171700"/>
            <a:ext cx="11277295" cy="1316736"/>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계획된 후속 작업</a:t>
            </a:r>
          </a:p>
          <a:p>
            <a:pPr algn="l" marL="109728">
              <a:lnSpc>
                <a:spcPct val="125000"/>
              </a:lnSpc>
              <a:spcAft>
                <a:spcPts val="400"/>
              </a:spcAft>
            </a:pPr>
            <a:r>
              <a:rPr sz="1050" b="1">
                <a:solidFill>
                  <a:srgbClr val="002632"/>
                </a:solidFill>
                <a:latin typeface="맑은 고딕"/>
              </a:rPr>
              <a:t>· 동 클러스터링 재시도  </a:t>
            </a:r>
            <a:r>
              <a:rPr sz="1050" b="0">
                <a:solidFill>
                  <a:srgbClr val="5B6B70"/>
                </a:solidFill>
                <a:latin typeface="맑은 고딕"/>
              </a:rPr>
              <a:t>결측 보간 또는 결측 허용 임계값 조정 후 다시 수행</a:t>
            </a:r>
          </a:p>
          <a:p>
            <a:pPr algn="l" marL="109728">
              <a:lnSpc>
                <a:spcPct val="125000"/>
              </a:lnSpc>
              <a:spcAft>
                <a:spcPts val="400"/>
              </a:spcAft>
            </a:pPr>
            <a:r>
              <a:rPr sz="1050" b="1">
                <a:solidFill>
                  <a:srgbClr val="002632"/>
                </a:solidFill>
                <a:latin typeface="맑은 고딕"/>
              </a:rPr>
              <a:t>· 회귀분석으로 재설계  </a:t>
            </a:r>
            <a:r>
              <a:rPr sz="1050" b="0">
                <a:solidFill>
                  <a:srgbClr val="5B6B70"/>
                </a:solidFill>
                <a:latin typeface="맑은 고딕"/>
              </a:rPr>
              <a:t>3~5번 축을 여러 요인(면적·연식·구·분기 등)을 한 번에 통제하는 회귀분석으로 다시 보기</a:t>
            </a:r>
          </a:p>
          <a:p>
            <a:pPr algn="l" marL="109728">
              <a:lnSpc>
                <a:spcPct val="125000"/>
              </a:lnSpc>
              <a:spcAft>
                <a:spcPts val="400"/>
              </a:spcAft>
            </a:pPr>
            <a:r>
              <a:rPr sz="1050" b="1">
                <a:solidFill>
                  <a:srgbClr val="002632"/>
                </a:solidFill>
                <a:latin typeface="맑은 고딕"/>
              </a:rPr>
              <a:t>· 모델 feature와 교차 검증  </a:t>
            </a:r>
            <a:r>
              <a:rPr sz="1050" b="0">
                <a:solidFill>
                  <a:srgbClr val="5B6B70"/>
                </a:solidFill>
                <a:latin typeface="맑은 고딕"/>
              </a:rPr>
              <a:t>이번 EDA에서 신뢰도 높게 남은 요인(한강조망, 역세권)이 모델(models/index) feature와 얼마나 겹치는지 확인</a:t>
            </a:r>
          </a:p>
        </p:txBody>
      </p:sp>
    </p:spTree>
  </p:cSld>
  <p:clrMapOvr>
    <a:masterClrMapping/>
  </p:clrMapOvr>
</p:sld>
</file>

<file path=ppt/theme/theme1.xml><?xml version="1.0" encoding="utf-8"?>
<a:theme xmlns:a="http://schemas.openxmlformats.org/drawingml/2006/main" xmlns:r="http://schemas.openxmlformats.org/officeDocument/2006/relationships" name="Office 테마">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테마">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2026-06-04T01:48:04Z</dcterms:created>
  <dc:creator>정선우</dc:creator>
</cp:coreProperties>
</file>