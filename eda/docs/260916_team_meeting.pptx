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core.xml" ContentType="application/vnd.openxmlformats-package.core-properties+xml"/>
  <Override PartName="/ppt/metadata" ContentType="application/binary"/>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Types>
</file>

<file path=_rels/.rels><?xml version='1.0' encoding='UTF-8' standalone='yes'?>
<Relationships xmlns="http://schemas.openxmlformats.org/package/2006/relationships"><Relationship Id="rId1" Type="http://schemas.openxmlformats.org/package/2006/relationships/metadata/core-properties" Target="docProps/core.xml"/><Relationship Id="rId2"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48" r:id="rId4"/>
  </p:sldMasterIdLst>
  <p:notesMasterIdLst>
    <p:notesMasterId r:id="rId5"/>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6"/>
    <p:sldId id="268" r:id="rId19"/>
    <p:sldId id="269" r:id="rId20"/>
    <p:sldId id="270" r:id="rId21"/>
    <p:sldId id="271" r:id="rId22"/>
    <p:sldId id="272" r:id="rId23"/>
    <p:sldId id="273" r:id="rId24"/>
    <p:sldId id="274" r:id="rId25"/>
    <p:sldId id="275" r:id="rId26"/>
    <p:sldId id="276" r:id="rId27"/>
    <p:sldId id="277" r:id="rId28"/>
    <p:sldId id="278" r:id="rId29"/>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GoogleSlidesCustomDataVersion2">
      <go:slidesCustomData xmlns:go="http://customooxmlschemas.google.com/" r:id="rId18" roundtripDataSignature="AMtx7mjtWzU+aBYasoenyN9c0fMJbifs9Q=="/>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5EEB32C9-EA51-438A-8DAD-C1DC1D4AD4C2}">
  <a:tblStyle styleId="{5EEB32C9-EA51-438A-8DAD-C1DC1D4AD4C2}" styleName="Table_0">
    <a:wholeTbl>
      <a:tcTxStyle b="off" i="off">
        <a:font>
          <a:latin typeface="맑은 고딕"/>
          <a:ea typeface="맑은 고딕"/>
          <a:cs typeface="맑은 고딕"/>
        </a:font>
        <a:schemeClr val="dk1"/>
      </a:tcTxStyle>
      <a:tcStyle>
        <a:tcBdr>
          <a:left>
            <a:ln cap="flat" cmpd="sng" w="12700">
              <a:solidFill>
                <a:schemeClr val="lt1"/>
              </a:solidFill>
              <a:prstDash val="solid"/>
              <a:round/>
              <a:headEnd len="sm" w="sm" type="none"/>
              <a:tailEnd len="sm" w="sm" type="none"/>
            </a:ln>
          </a:left>
          <a:right>
            <a:ln cap="flat" cmpd="sng" w="12700">
              <a:solidFill>
                <a:schemeClr val="lt1"/>
              </a:solidFill>
              <a:prstDash val="solid"/>
              <a:round/>
              <a:headEnd len="sm" w="sm" type="none"/>
              <a:tailEnd len="sm" w="sm" type="none"/>
            </a:ln>
          </a:right>
          <a:top>
            <a:ln cap="flat" cmpd="sng" w="12700">
              <a:solidFill>
                <a:schemeClr val="lt1"/>
              </a:solidFill>
              <a:prstDash val="solid"/>
              <a:round/>
              <a:headEnd len="sm" w="sm" type="none"/>
              <a:tailEnd len="sm" w="sm" type="none"/>
            </a:ln>
          </a:top>
          <a:bottom>
            <a:ln cap="flat" cmpd="sng" w="12700">
              <a:solidFill>
                <a:schemeClr val="lt1"/>
              </a:solidFill>
              <a:prstDash val="solid"/>
              <a:round/>
              <a:headEnd len="sm" w="sm" type="none"/>
              <a:tailEnd len="sm" w="sm" type="none"/>
            </a:ln>
          </a:bottom>
          <a:insideH>
            <a:ln cap="flat" cmpd="sng" w="12700">
              <a:solidFill>
                <a:schemeClr val="lt1"/>
              </a:solidFill>
              <a:prstDash val="solid"/>
              <a:round/>
              <a:headEnd len="sm" w="sm" type="none"/>
              <a:tailEnd len="sm" w="sm" type="none"/>
            </a:ln>
          </a:insideH>
          <a:insideV>
            <a:ln cap="flat" cmpd="sng" w="12700">
              <a:solidFill>
                <a:schemeClr val="lt1"/>
              </a:solidFill>
              <a:prstDash val="solid"/>
              <a:round/>
              <a:headEnd len="sm" w="sm" type="none"/>
              <a:tailEnd len="sm" w="sm" type="none"/>
            </a:ln>
          </a:insideV>
        </a:tcBdr>
        <a:fill>
          <a:solidFill>
            <a:srgbClr val="E7E9EC"/>
          </a:solidFill>
        </a:fill>
      </a:tcStyle>
    </a:wholeTbl>
    <a:band1H>
      <a:tcTxStyle/>
      <a:tcStyle>
        <a:fill>
          <a:solidFill>
            <a:srgbClr val="CAD1D8"/>
          </a:solidFill>
        </a:fill>
      </a:tcStyle>
    </a:band1H>
    <a:band2H>
      <a:tcTxStyle/>
    </a:band2H>
    <a:band1V>
      <a:tcTxStyle/>
      <a:tcStyle>
        <a:fill>
          <a:solidFill>
            <a:srgbClr val="CAD1D8"/>
          </a:solidFill>
        </a:fill>
      </a:tcStyle>
    </a:band1V>
    <a:band2V>
      <a:tcTxStyle/>
    </a:band2V>
    <a:lastCol>
      <a:tcTxStyle b="on" i="off">
        <a:font>
          <a:latin typeface="맑은 고딕"/>
          <a:ea typeface="맑은 고딕"/>
          <a:cs typeface="맑은 고딕"/>
        </a:font>
        <a:schemeClr val="lt1"/>
      </a:tcTxStyle>
      <a:tcStyle>
        <a:fill>
          <a:solidFill>
            <a:schemeClr val="accent1"/>
          </a:solidFill>
        </a:fill>
      </a:tcStyle>
    </a:lastCol>
    <a:firstCol>
      <a:tcTxStyle b="on" i="off">
        <a:font>
          <a:latin typeface="맑은 고딕"/>
          <a:ea typeface="맑은 고딕"/>
          <a:cs typeface="맑은 고딕"/>
        </a:font>
        <a:schemeClr val="lt1"/>
      </a:tcTxStyle>
      <a:tcStyle>
        <a:fill>
          <a:solidFill>
            <a:schemeClr val="accent1"/>
          </a:solidFill>
        </a:fill>
      </a:tcStyle>
    </a:firstCol>
    <a:lastRow>
      <a:tcTxStyle b="on" i="off">
        <a:font>
          <a:latin typeface="맑은 고딕"/>
          <a:ea typeface="맑은 고딕"/>
          <a:cs typeface="맑은 고딕"/>
        </a:font>
        <a:schemeClr val="lt1"/>
      </a:tcTxStyle>
      <a:tcStyle>
        <a:tcBdr>
          <a:top>
            <a:ln cap="flat" cmpd="sng" w="38100">
              <a:solidFill>
                <a:schemeClr val="lt1"/>
              </a:solidFill>
              <a:prstDash val="solid"/>
              <a:round/>
              <a:headEnd len="sm" w="sm" type="none"/>
              <a:tailEnd len="sm" w="sm" type="none"/>
            </a:ln>
          </a:top>
        </a:tcBdr>
        <a:fill>
          <a:solidFill>
            <a:schemeClr val="accent1"/>
          </a:solidFill>
        </a:fill>
      </a:tcStyle>
    </a:lastRow>
    <a:seCell>
      <a:tcTxStyle/>
    </a:seCell>
    <a:swCell>
      <a:tcTxStyle/>
    </a:swCell>
    <a:firstRow>
      <a:tcTxStyle b="on" i="off">
        <a:font>
          <a:latin typeface="맑은 고딕"/>
          <a:ea typeface="맑은 고딕"/>
          <a:cs typeface="맑은 고딕"/>
        </a:font>
        <a:schemeClr val="lt1"/>
      </a:tcTxStyle>
      <a:tcStyle>
        <a:tcBdr>
          <a:bottom>
            <a:ln cap="flat" cmpd="sng" w="38100">
              <a:solidFill>
                <a:schemeClr val="lt1"/>
              </a:solidFill>
              <a:prstDash val="solid"/>
              <a:round/>
              <a:headEnd len="sm" w="sm" type="none"/>
              <a:tailEnd len="sm" w="sm" type="none"/>
            </a:ln>
          </a:bottom>
        </a:tcBdr>
        <a:fill>
          <a:solidFill>
            <a:schemeClr val="accent1"/>
          </a:solidFill>
        </a:fill>
      </a:tcStyle>
    </a:firstRow>
    <a:neCell>
      <a:tcTxStyle/>
    </a:neCell>
    <a:nwCell>
      <a:tcTxStyle/>
    </a:nwCell>
  </a:tblStyle>
</a:tblStyleLst>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tableStyles" Target="tableStyle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2.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customschemas.google.com/relationships/presentationmetadata" Target="metadata"/><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Malgun Gothic"/>
                <a:ea typeface="Malgun Gothic"/>
                <a:cs typeface="Malgun Gothic"/>
                <a:sym typeface="Malgun Gothic"/>
              </a:defRPr>
            </a:lvl1pPr>
            <a:lvl2pPr lvl="1"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2pPr>
            <a:lvl3pPr lvl="2"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3pPr>
            <a:lvl4pPr lvl="3"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4pPr>
            <a:lvl5pPr lvl="4"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5pPr>
            <a:lvl6pPr lvl="5"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6pPr>
            <a:lvl7pPr lvl="6"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7pPr>
            <a:lvl8pPr lvl="7"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8pPr>
            <a:lvl9pPr lvl="8"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Malgun Gothic"/>
                <a:ea typeface="Malgun Gothic"/>
                <a:cs typeface="Malgun Gothic"/>
                <a:sym typeface="Malgun Gothic"/>
              </a:defRPr>
            </a:lvl1pPr>
            <a:lvl2pPr lvl="1"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2pPr>
            <a:lvl3pPr lvl="2"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3pPr>
            <a:lvl4pPr lvl="3"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4pPr>
            <a:lvl5pPr lvl="4"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5pPr>
            <a:lvl6pPr lvl="5"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6pPr>
            <a:lvl7pPr lvl="6"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7pPr>
            <a:lvl8pPr lvl="7"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8pPr>
            <a:lvl9pPr lvl="8"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Malgun Gothic"/>
                <a:ea typeface="Malgun Gothic"/>
                <a:cs typeface="Malgun Gothic"/>
                <a:sym typeface="Malgun Gothic"/>
              </a:defRPr>
            </a:lvl1pPr>
            <a:lvl2pPr indent="-228600" lvl="1" marL="914400" marR="0" rtl="0" algn="l">
              <a:spcBef>
                <a:spcPts val="0"/>
              </a:spcBef>
              <a:spcAft>
                <a:spcPts val="0"/>
              </a:spcAft>
              <a:buSzPts val="1400"/>
              <a:buNone/>
              <a:defRPr b="0" i="0" sz="1200" u="none" cap="none" strike="noStrike">
                <a:solidFill>
                  <a:schemeClr val="dk1"/>
                </a:solidFill>
                <a:latin typeface="Malgun Gothic"/>
                <a:ea typeface="Malgun Gothic"/>
                <a:cs typeface="Malgun Gothic"/>
                <a:sym typeface="Malgun Gothic"/>
              </a:defRPr>
            </a:lvl2pPr>
            <a:lvl3pPr indent="-228600" lvl="2" marL="1371600" marR="0" rtl="0" algn="l">
              <a:spcBef>
                <a:spcPts val="0"/>
              </a:spcBef>
              <a:spcAft>
                <a:spcPts val="0"/>
              </a:spcAft>
              <a:buSzPts val="1400"/>
              <a:buNone/>
              <a:defRPr b="0" i="0" sz="1200" u="none" cap="none" strike="noStrike">
                <a:solidFill>
                  <a:schemeClr val="dk1"/>
                </a:solidFill>
                <a:latin typeface="Malgun Gothic"/>
                <a:ea typeface="Malgun Gothic"/>
                <a:cs typeface="Malgun Gothic"/>
                <a:sym typeface="Malgun Gothic"/>
              </a:defRPr>
            </a:lvl3pPr>
            <a:lvl4pPr indent="-228600" lvl="3" marL="1828800" marR="0" rtl="0" algn="l">
              <a:spcBef>
                <a:spcPts val="0"/>
              </a:spcBef>
              <a:spcAft>
                <a:spcPts val="0"/>
              </a:spcAft>
              <a:buSzPts val="1400"/>
              <a:buNone/>
              <a:defRPr b="0" i="0" sz="1200" u="none" cap="none" strike="noStrike">
                <a:solidFill>
                  <a:schemeClr val="dk1"/>
                </a:solidFill>
                <a:latin typeface="Malgun Gothic"/>
                <a:ea typeface="Malgun Gothic"/>
                <a:cs typeface="Malgun Gothic"/>
                <a:sym typeface="Malgun Gothic"/>
              </a:defRPr>
            </a:lvl4pPr>
            <a:lvl5pPr indent="-228600" lvl="4" marL="2286000" marR="0" rtl="0" algn="l">
              <a:spcBef>
                <a:spcPts val="0"/>
              </a:spcBef>
              <a:spcAft>
                <a:spcPts val="0"/>
              </a:spcAft>
              <a:buSzPts val="1400"/>
              <a:buNone/>
              <a:defRPr b="0" i="0" sz="1200" u="none" cap="none" strike="noStrike">
                <a:solidFill>
                  <a:schemeClr val="dk1"/>
                </a:solidFill>
                <a:latin typeface="Malgun Gothic"/>
                <a:ea typeface="Malgun Gothic"/>
                <a:cs typeface="Malgun Gothic"/>
                <a:sym typeface="Malgun Gothic"/>
              </a:defRPr>
            </a:lvl5pPr>
            <a:lvl6pPr indent="-228600" lvl="5" marL="2743200" marR="0" rtl="0" algn="l">
              <a:spcBef>
                <a:spcPts val="0"/>
              </a:spcBef>
              <a:spcAft>
                <a:spcPts val="0"/>
              </a:spcAft>
              <a:buSzPts val="1400"/>
              <a:buNone/>
              <a:defRPr b="0" i="0" sz="1200" u="none" cap="none" strike="noStrike">
                <a:solidFill>
                  <a:schemeClr val="dk1"/>
                </a:solidFill>
                <a:latin typeface="Malgun Gothic"/>
                <a:ea typeface="Malgun Gothic"/>
                <a:cs typeface="Malgun Gothic"/>
                <a:sym typeface="Malgun Gothic"/>
              </a:defRPr>
            </a:lvl6pPr>
            <a:lvl7pPr indent="-228600" lvl="6" marL="3200400" marR="0" rtl="0" algn="l">
              <a:spcBef>
                <a:spcPts val="0"/>
              </a:spcBef>
              <a:spcAft>
                <a:spcPts val="0"/>
              </a:spcAft>
              <a:buSzPts val="1400"/>
              <a:buNone/>
              <a:defRPr b="0" i="0" sz="1200" u="none" cap="none" strike="noStrike">
                <a:solidFill>
                  <a:schemeClr val="dk1"/>
                </a:solidFill>
                <a:latin typeface="Malgun Gothic"/>
                <a:ea typeface="Malgun Gothic"/>
                <a:cs typeface="Malgun Gothic"/>
                <a:sym typeface="Malgun Gothic"/>
              </a:defRPr>
            </a:lvl7pPr>
            <a:lvl8pPr indent="-228600" lvl="7" marL="3657600" marR="0" rtl="0" algn="l">
              <a:spcBef>
                <a:spcPts val="0"/>
              </a:spcBef>
              <a:spcAft>
                <a:spcPts val="0"/>
              </a:spcAft>
              <a:buSzPts val="1400"/>
              <a:buNone/>
              <a:defRPr b="0" i="0" sz="1200" u="none" cap="none" strike="noStrike">
                <a:solidFill>
                  <a:schemeClr val="dk1"/>
                </a:solidFill>
                <a:latin typeface="Malgun Gothic"/>
                <a:ea typeface="Malgun Gothic"/>
                <a:cs typeface="Malgun Gothic"/>
                <a:sym typeface="Malgun Gothic"/>
              </a:defRPr>
            </a:lvl8pPr>
            <a:lvl9pPr indent="-228600" lvl="8" marL="4114800" marR="0" rtl="0" algn="l">
              <a:spcBef>
                <a:spcPts val="0"/>
              </a:spcBef>
              <a:spcAft>
                <a:spcPts val="0"/>
              </a:spcAft>
              <a:buSzPts val="1400"/>
              <a:buNone/>
              <a:defRPr b="0" i="0" sz="1200" u="none" cap="none" strike="noStrike">
                <a:solidFill>
                  <a:schemeClr val="dk1"/>
                </a:solidFill>
                <a:latin typeface="Malgun Gothic"/>
                <a:ea typeface="Malgun Gothic"/>
                <a:cs typeface="Malgun Gothic"/>
                <a:sym typeface="Malgun Gothic"/>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Malgun Gothic"/>
                <a:ea typeface="Malgun Gothic"/>
                <a:cs typeface="Malgun Gothic"/>
                <a:sym typeface="Malgun Gothic"/>
              </a:defRPr>
            </a:lvl1pPr>
            <a:lvl2pPr lvl="1"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2pPr>
            <a:lvl3pPr lvl="2"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3pPr>
            <a:lvl4pPr lvl="3"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4pPr>
            <a:lvl5pPr lvl="4"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5pPr>
            <a:lvl6pPr lvl="5"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6pPr>
            <a:lvl7pPr lvl="6"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7pPr>
            <a:lvl8pPr lvl="7"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8pPr>
            <a:lvl9pPr lvl="8"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ko-KR" sz="1200" u="none" cap="none" strike="noStrike">
                <a:solidFill>
                  <a:schemeClr val="dk1"/>
                </a:solidFill>
                <a:latin typeface="Malgun Gothic"/>
                <a:ea typeface="Malgun Gothic"/>
                <a:cs typeface="Malgun Gothic"/>
                <a:sym typeface="Malgun Gothic"/>
              </a:rPr>
              <a:t>‹#›</a:t>
            </a:fld>
            <a:endParaRPr b="0" i="0" sz="1200" u="none" cap="none" strike="noStrike">
              <a:solidFill>
                <a:schemeClr val="dk1"/>
              </a:solidFill>
              <a:latin typeface="Malgun Gothic"/>
              <a:ea typeface="Malgun Gothic"/>
              <a:cs typeface="Malgun Gothic"/>
              <a:sym typeface="Malgun Gothic"/>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안녕하세요, 오늘은 서울 아파트 매매가에 영향을 주는 요인을 여러 각도에서 살펴본 EDA 결과를 공유드리겠습니다. Railway Postgres에 있는 실제 실거래·단지·입지 데이터를 read-only로 직접 조회해서 나온 결과이고, 김용진 님이 공유해주신 EDA 제안 문서도 참고해서 두 축을 추가했습니다. 예쁘게 요약한 결론만 보여드리는 게 아니라, 어떤 데이터로 어떻게 계산했는지 하나하나 같이 짚으면서 가겠습니다.</a:t>
            </a:r>
          </a:p>
        </p:txBody>
      </p:sp>
      <p:sp>
        <p:nvSpPr>
          <p:cNvPr id="4" name="Slide Number Placeholder 3"/>
          <p:cNvSpPr>
            <a:spLocks noGrp="1"/>
          </p:cNvSpPr>
          <p:nvPr>
            <p:ph type="sldNum" idx="12"/>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오늘 다룰 순서입니다. 1번부터 7번까지는 저희가 브레인스토밍한 축이고, 8번과 9번은 김용진 님이 공유해주신 EDA 제안 문서를 보고 추가로 진행한 것입니다. 10번은 저희가 데이터를 보다가 '이 정도 가격 변동을 설명하려면 인구·가구수도 필요하지 않을까' 싶어서 외부 공공데이터를 새로 받아와 추가한 것입니다. 각 축마다 데이터로 확인한 그림 한두 장과 핵심 메시지를 같이 보여드리겠습니다.</a:t>
            </a:r>
          </a:p>
        </p:txBody>
      </p:sp>
      <p:sp>
        <p:nvSpPr>
          <p:cNvPr id="4" name="Slide Number Placeholder 3"/>
          <p:cNvSpPr>
            <a:spLocks noGrp="1"/>
          </p:cNvSpPr>
          <p:nvPr>
            <p:ph type="sldNum" idx="12"/>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저희가 쓴 데이터는 두 갈래입니다. 대부분은 팀이 Railway Postgres에 올려둔 정제 테이블이고, read-only 계정으로만 접속했기 때문에 이 작업으로 팀 데이터에 영향을 준 건 전혀 없습니다. 매매·전월세 원장이 각각 140만 건, 300만 건 정도고, 여기에 단지 정보·법정동 가격지수·정책 이벤트를 붙여서 분석했습니다. 마지막 한 줄만 예외인데, 10번 축(인구·세대수)은 DB에 없는 정보라 행정안전부 공공데이터를 저희가 별도로 받아왔습니다 — 이것도 팀 DB와는 무관한 외부 API라 마찬가지로 영향은 없습니다.</a:t>
            </a:r>
          </a:p>
        </p:txBody>
      </p:sp>
      <p:sp>
        <p:nvSpPr>
          <p:cNvPr id="4" name="Slide Number Placeholder 3"/>
          <p:cNvSpPr>
            <a:spLocks noGrp="1"/>
          </p:cNvSpPr>
          <p:nvPr>
            <p:ph type="sldNum" idx="12"/>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가로축은 분기(2006Q1부터 2026Q3까지), 세로축은 그 분기의 매매 거래 건수입니다. 빨간 점선은 2017년 8·2 대책 같은 규제 강화 시점, 초록 점선은 2023년 1월 규제지역 해제 시점입니다. 2022년에 거래량이 바닥까지 떨어졌다가 2023년 규제 해제 직후부터 반등하는 게 시점상 겹쳐 보입니다. 다만 이건 그래프에 이벤트 시점을 표시해본 것일 뿐, 금리·계절성·다른 정책까지 통제해서 인과를 검정한 건 아니라서 '정책 때문에 거래량이 움직였다'고 단정하지는 않겠습니다 — '시점이 겹친다' 정도로 신중하게 봐주세요.</a:t>
            </a:r>
          </a:p>
        </p:txBody>
      </p:sp>
      <p:sp>
        <p:nvSpPr>
          <p:cNvPr id="4" name="Slide Number Placeholder 3"/>
          <p:cNvSpPr>
            <a:spLocks noGrp="1"/>
          </p:cNvSpPr>
          <p:nvPr>
            <p:ph type="sldNum" idx="12"/>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이 그래프는 2006~2008년 3개년 평균을 100으로 놓고 거래량과 단가가 각각 얼마나 커졌는지 지수화한 것입니다. 2006년 한 해만 기준으로 삼으면 왜곡이 있어서(2006년은 거래량이 유난히 많고 가격은 유난히 낮았던 이상치에 가까운 해였습니다) 3개년 평균으로 바꿨습니다. 가로축은 연도, 세로축은 지수값이고, 하늘색이 거래량, 남색이 단가입니다. 두 선이 같이 우상향하지 않고 거래량(하늘색)이 훨씬 크게 출렁이는 걸 보실 수 있습니다. 방금 화면에서 말씀드린 것처럼 2022년에 거래량이 -71%까지 급감했는데 가격은 -3.3%밖에 안 빠졌어요. 거래량이 가격보다 훨씬 크게 변한다는 건 확인된 사실이지만, 왜 그런지(정책·금리 때문인지 다른 이유인지)는 이 그래프만으로는 알 수 없다는 점을 짚고 가겠습니다. 그리고 점선으로 표시한 맨 끝 2026년 구간은 8월까지만 집계된 데이터라 실선과 다르게 그렸습니다 — 이 구간을 '연간 하락'처럼 읽으면 안 됩니다. 같은 개월수(1~8월)로 전년과 비교하면 실제로는 거래량 -7.1%, 단가 -9.0% 정도입니다.</a:t>
            </a:r>
          </a:p>
        </p:txBody>
      </p:sp>
      <p:sp>
        <p:nvSpPr>
          <p:cNvPr id="4" name="Slide Number Placeholder 3"/>
          <p:cNvSpPr>
            <a:spLocks noGrp="1"/>
          </p:cNvSpPr>
          <p:nvPr>
            <p:ph type="sldNum" idx="12"/>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가로축은 2026년 거래의 ㎡당 단가 중앙값(만원), 세로축은 자치구입니다. 주황색이 강남3구(강남·서초·송파), 하늘색이 나머지 22개 구입니다. 강남구가 3,531만원으로 가장 낮은 도봉구(802만원)의 4.4배입니다. 같은 서울이라도 구 단위로 보면 이 정도 격차가 있다는 걸 먼저 보여드리는 그림입니다.</a:t>
            </a:r>
          </a:p>
        </p:txBody>
      </p:sp>
      <p:sp>
        <p:nvSpPr>
          <p:cNvPr id="4" name="Slide Number Placeholder 3"/>
          <p:cNvSpPr>
            <a:spLocks noGrp="1"/>
          </p:cNvSpPr>
          <p:nvPr>
            <p:ph type="sldNum" idx="12"/>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가로축은 2025Q2에서 2026Q2까지 1년간 법정동 hedonic 가격지수의 실제 상승률(%)이고, 세로축은 동 이름과 소속 구입니다. 초록이 상승, 빨강이 하락입니다. 이전 버전에서는 이 숫자를 log 지수 차이를 그대로 %로 표기하는 오류가 있어서 다시 계산했습니다(보광동은 +38.0%가 아니라 +46.3%, 순위는 바뀌지 않습니다). 그리고 앞 슬라이드의 '자치구별 단가'는 원시거래 중앙값(2023~2026년)이고 이 슬라이드의 동별 순위는 hedonic 지수(25Q2→26Q2)라서 서로 다른 기준이었습니다 — 그래서 이번엔 같은 hedonic 기준으로 강남구 평균 상승률도 새로 계산했습니다. 강남구 eligible 동 13개 평균은 +6.8%로 실제로도 플러스지만, 그 안에서 역삼동(-7.1%)부터 수서동(+33.3%)까지 동별 편차가 굉장히 큽니다. '구 평균이 오른다고 그 구의 모든 동이 다 오르는 건 아니다'라는 메시지는 같은 기준으로 다시 봐도 여전히 유효합니다. 다만 이 지수는 같은 동 안에서의 시점 간 변화만 비교 가능하다는 점(동 간 수준 비교는 부적절)을 참고로 말씀드립니다.</a:t>
            </a:r>
          </a:p>
        </p:txBody>
      </p:sp>
      <p:sp>
        <p:nvSpPr>
          <p:cNvPr id="4" name="Slide Number Placeholder 3"/>
          <p:cNvSpPr>
            <a:spLocks noGrp="1"/>
          </p:cNvSpPr>
          <p:nvPr>
            <p:ph type="sldNum" idx="12"/>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가로축은 준공 후 연차 구간(0~5년부터 40~60년까지), 세로축은 2024~2026년 거래의 ㎡당 단가 중앙값입니다. 신축(0~10년)이 비싸다가 10~40년 구간에서 떨어지고, 40년 이상 노후 단지에서 다시 가장 비싸지는 U자형입니다. 재건축 기대감이 반영됐을 거라는 게 자연스러운 가설이라 다음 슬라이드에서 정비사업 단계별로 직접 확인해보겠습니다 — 다만 이것도 지역·입지·단지규모를 따로 통제하지 않은 단순 중앙값 비교라, '연차 자체의 효과'라고 단정하기보다는 참고 지표로 봐주시면 좋겠습니다.</a:t>
            </a:r>
          </a:p>
        </p:txBody>
      </p:sp>
      <p:sp>
        <p:nvSpPr>
          <p:cNvPr id="4" name="Slide Number Placeholder 3"/>
          <p:cNvSpPr>
            <a:spLocks noGrp="1"/>
          </p:cNvSpPr>
          <p:nvPr>
            <p:ph type="sldNum" idx="12"/>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가로축은 정비사업 진행 단계(구역지정부터 건축심의까지), 세로축은 정비사업 대상이 아닌 일반 단지를 0%로 놓았을 때의 단가 프리미엄(%)입니다. 건축심의 단계 단지가 154%로 가장 높고, 관리처분 단계가 오히려 34%로 낮게 나오는데, 이게 왜 그런지(이주로 인한 건물 상태 때문인지 다른 이유인지)는 이 데이터만으로는 확인할 수 없어서 가능한 해석 중 하나로만 말씀드립니다. 그리고 한 가지 중요한 한계가 있는데, 정비사업 단계는 '지금 시점(2026년) 기준'이고 이걸 2024년, 2020년 등 과거 거래에도 그대로 붙여서 비교했습니다 — 그 단지가 그때도 같은 단계였다는 보장이 없는 시점 불일치가 있습니다. 착공 단계는 거래 46건뿐이라 표본도 작습니다.</a:t>
            </a:r>
          </a:p>
        </p:txBody>
      </p:sp>
      <p:sp>
        <p:nvSpPr>
          <p:cNvPr id="4" name="Slide Number Placeholder 3"/>
          <p:cNvSpPr>
            <a:spLocks noGrp="1"/>
          </p:cNvSpPr>
          <p:nvPr>
            <p:ph type="sldNum" idx="12"/>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가로축은 단지에서 가장 가까운 지하철역까지 거리 구간, 세로축은 ㎡당 단가 중앙값입니다. 300m 이내가 1,466만원인데 2km를 넘어가면 687만원으로 거의 반토막입니다. 거리가 멀어질수록 단가가 계단식으로 낮아지는, 아주 뚜렷한 역세권 프리미엄입니다.</a:t>
            </a:r>
          </a:p>
        </p:txBody>
      </p:sp>
      <p:sp>
        <p:nvSpPr>
          <p:cNvPr id="4" name="Slide Number Placeholder 3"/>
          <p:cNvSpPr>
            <a:spLocks noGrp="1"/>
          </p:cNvSpPr>
          <p:nvPr>
            <p:ph type="sldNum" idx="12"/>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가로축은 한강 조망 세대가 있는지 여부(O/X), 세로축은 ㎡당 단가입니다. 한강 조망이 있는 단지가 1,850만원, 없는 단지가 1,194만원으로 약 55% 차이가 납니다. 저희가 확인한 입지 요인 중에서 상관계수가 가장 높게(0.29) 나온 게 이 한강조망이었습니다. 반면 학교까지 거리는 생각보다 영향이 거의 없었는데, 이건 아마 '학군'이라는 게 물리적 거리보다 특정 동 전체의 평판이나 배정 학교 자체로 작동하기 때문일 것 같습니다. 그래프는 따로 안 붙였고 콜아웃으로만 짚었습니다.</a:t>
            </a:r>
          </a:p>
        </p:txBody>
      </p:sp>
      <p:sp>
        <p:nvSpPr>
          <p:cNvPr id="4" name="Slide Number Placeholder 3"/>
          <p:cNvSpPr>
            <a:spLocks noGrp="1"/>
          </p:cNvSpPr>
          <p:nvPr>
            <p:ph type="sldNum" idx="12"/>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가로축은 층대(지하/1층부터 21층 이상까지), 세로축은 ㎡당 단가 중앙값입니다. 층이 높아질수록 계속 단가가 오르다가 21층 이상 구간에서 922만원으로 크게 뜁니다. 다만 이건 지역·연식·단지를 따로 통제하지 않은 단순 비교라서, 왜 이렇게 나오는지(고층 자체의 프리미엄인지, 최근 지어진 고층 대단지가 원래 비싼 지역에 많은 건지)는 이 데이터만으로 확정할 수 없습니다.</a:t>
            </a:r>
          </a:p>
        </p:txBody>
      </p:sp>
      <p:sp>
        <p:nvSpPr>
          <p:cNvPr id="4" name="Slide Number Placeholder 3"/>
          <p:cNvSpPr>
            <a:spLocks noGrp="1"/>
          </p:cNvSpPr>
          <p:nvPr>
            <p:ph type="sldNum" idx="12"/>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가로축은 전용면적 구간, 세로축은 ㎡당 단가 중앙값입니다. 흔히 '국민평형'이라 부르는 60~85㎡ 구간이 오히려 가장 싸고(612만원), 40㎡ 이하 소형(761만원)과 165㎡ 이상 대형(921만원) 양쪽 끝이 더 비싼 U자형입니다. 소형은 수요층이, 대형은 희소성이 이유일 거라는 가설은 세워볼 수 있지만 이 데이터만으로 확인된 원인은 아니라서 '가능한 해석' 정도로만 말씀드립니다.</a:t>
            </a:r>
          </a:p>
        </p:txBody>
      </p:sp>
      <p:sp>
        <p:nvSpPr>
          <p:cNvPr id="4" name="Slide Number Placeholder 3"/>
          <p:cNvSpPr>
            <a:spLocks noGrp="1"/>
          </p:cNvSpPr>
          <p:nvPr>
            <p:ph type="sldNum" idx="12"/>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가로축은 '기점 분기의 전세가율'을 낮은 순서대로 5등분한 그룹(Q1~Q5), 세로축은 그 기점으로부터 1년 뒤 매매 가격지수가 평균 몇 % 올랐는지입니다. 5개 구간이 순서대로 증가하는 모양 자체는 그대로입니다. 다만 원래 코드에 버그가 있었습니다 — '1년 뒤에도 거래가 충분한 동'만 골라서 비교했는데, 이건 기점 시점엔 알 수 없는 미래 정보로 표본을 고른 셈이라 고쳤습니다. 고친 뒤 상관계수는 0.150로 이전 0.135와 비슷하지만, 이번엔 기점 연도별로 쪼개서 다시 봤더니 해마다 부호가 뒤집혔습니다(다음 슬라이드에서 보여드립니다) — 그래서 '전세가율이 매매가를 선행한다'는 표현은 과한 것 같고, '약하고 불안정한 동반관계' 정도로 정정하겠습니다.</a:t>
            </a:r>
          </a:p>
        </p:txBody>
      </p:sp>
      <p:sp>
        <p:nvSpPr>
          <p:cNvPr id="4" name="Slide Number Placeholder 3"/>
          <p:cNvSpPr>
            <a:spLocks noGrp="1"/>
          </p:cNvSpPr>
          <p:nvPr>
            <p:ph type="sldNum" idx="12"/>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가로축은 기점 연도, 세로축은 그 연도에 시작한 동x기점 표본만으로 계산한 전세가율-미래상승률 상관계수입니다. 2011·2018·2021·2022년처럼 초록색(양의 상관)인 해도 있지만, 2015~2017년, 2019년, 2023~2025년은 빨간색(음의 상관)이고 특히 2024년은 -0.507로 꽤 강한 음의 상관입니다. 즉 앞 슬라이드에서 본 전체 상관 0.15는 이 여러 해의 신호가 섞여 나온 평균일 뿐, 어느 해에나 적용되는 안정적인 관계가 아닙니다. 시장 국면(그 해 전체가 오르는 시기인지 내리는 시기인지)이 전세가율과 미래 가격 양쪽에 동시에 영향을 줘서 생기는 착시일 가능성이 있습니다.</a:t>
            </a:r>
          </a:p>
        </p:txBody>
      </p:sp>
      <p:sp>
        <p:nvSpPr>
          <p:cNvPr id="4" name="Slide Number Placeholder 3"/>
          <p:cNvSpPr>
            <a:spLocks noGrp="1"/>
          </p:cNvSpPr>
          <p:nvPr>
            <p:ph type="sldNum" idx="12"/>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가로축은 그 동에서 정비사업이 진행 중인 세대가 전체 재고 세대 대비 차지하는 비중(강도), 세로축은 그 동의 분기별 가격 변화율의 표준편차(변동성)입니다. 하늘색이 강도가 정상 범위(0~1, 즉 0~100%)인 동, 빨간색이 100%를 넘는 이상치 동입니다. 원래 발표에서는 '강도가 유무보다 중요하다'고 말씀드렸는데, 코드를 다시 검토하면서 두 가지 버그를 발견했습니다. 하나는 표본이 부족해 빠진 분기가 있으면 여러 분기 차이를 한 분기 변화로 잘못 계산하던 것이고, 다른 하나는 정비사업 강도 지표 자체가 19개 동에서 100%를 넘는(최댓값 946%, 보광동) 비정상 값이었다는 겁니다. 재고 대비 진행 세대 비중이 100%를 넘는 건 원본 데이터의 두 항목(진행 세대수, 재고 세대수)이 서로 다른 범위나 시점을 집계했을 가능성이 있는데, 저희가 고칠 수 있는 부분이 아니라서 이상치로 분리해서 보고합니다. 이 이상치들을 빼고 정상 범위만 보면 상관계수가 0.009, p값은 0.889로 통계적으로 유의한 관계가 전혀 없습니다. 그래서 '정비사업 강도가 변동성과 관련 있다'는 원래 결론은 철회하고, '이번 데이터로는 유의한 관계를 찾지 못했다'로 정정하겠습니다.</a:t>
            </a:r>
          </a:p>
        </p:txBody>
      </p:sp>
      <p:sp>
        <p:nvSpPr>
          <p:cNvPr id="4" name="Slide Number Placeholder 3"/>
          <p:cNvSpPr>
            <a:spLocks noGrp="1"/>
          </p:cNvSpPr>
          <p:nvPr>
            <p:ph type="sldNum" idx="12"/>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가로축은 그 이벤트 4분기 뒤 상승한 동의 비율(%), 세로축은 상승한 동 비율이 50%에 가장 가까운(=반반으로 갈린) 이벤트 5개입니다. 이전 버전은 선택 기준으로 다른 컬럼을 썼는데, 그 컬럼이 평균이 어느 쪽으로 치우쳤는지에 따라 '반반 갈림'과 다른 의미가 될 수 있어서 저희가 화면에 실제로 쓰는 정의(상승한 동 비율 50% 근접)로 다시 골랐습니다 — 같은 5개 이벤트가 나왔지만 순서가 바뀌었습니다. 점선이 50% 기준선이고, 초록은 상승한 동이 더 많았던 이벤트, 빨강은 하락한 동이 더 많았던 이벤트입니다. 그리고 이번에 이벤트 겹침 여부를 5개 전부 대해 다시 확인했더니, 놀랍게도 5개 전부가 ±4분기 안에 다른 이벤트와 겹쳐 있었습니다 (이전엔 2쌍만 언급했었습니다). 그러니까 이 슬라이드는 '동네마다 반응이 갈린다'는 사실은 보여주지만, '어느 이벤트 때문에 갈렸는지'는 이 5개 중 단 하나도 답할 수 없다는 점을 분명히 말씀드립니다.</a:t>
            </a:r>
          </a:p>
        </p:txBody>
      </p:sp>
      <p:sp>
        <p:nvSpPr>
          <p:cNvPr id="4" name="Slide Number Placeholder 3"/>
          <p:cNvSpPr>
            <a:spLocks noGrp="1"/>
          </p:cNvSpPr>
          <p:nvPr>
            <p:ph type="sldNum" idx="12"/>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이것도 김용진 님 제안('함께 움직이는 동 묶음 찾기')을 시도해본 것인데, 솔직히 이번엔 실패에 가깝습니다. 가로축은 클러스터 번호, 세로축은 그 클러스터에 속한 동 개수입니다. 6개로 나눴는데 195개 동 중 167개(85%)가 5번 클러스터 하나에 몰렸습니다. 원인은 상관계수를 계산할 때 표본이 부족해서 제외된 동이 하나라도 있는 분기를 통째로 버렸기 때문에, 41개 분기 중 24개만 남고 그마저 중간에 뻥 뚫려서(2021Q3 다음이 바로 2025Q1) 신호가 제대로 안 잡힌 것 같습니다. 결측을 버리지 않고 보간하거나 임계값을 조정하면 나아질 수 있어서, 이건 다음 단계 과제로 남겨두겠습니다.</a:t>
            </a:r>
          </a:p>
        </p:txBody>
      </p:sp>
      <p:sp>
        <p:nvSpPr>
          <p:cNvPr id="4" name="Slide Number Placeholder 3"/>
          <p:cNvSpPr>
            <a:spLocks noGrp="1"/>
          </p:cNvSpPr>
          <p:nvPr>
            <p:ph type="sldNum" idx="12"/>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이 축은 사전에 계획했던 게 아니라, 2번 축을 보다가 '강남구 평균은 오르는데 왜 역삼·대치동은 내려갔을까, 혹시 그 동네 인구가 줄어드는 중 아닐까' 하는 의문에서 새로 추가한 겁니다. DB에는 인구 데이터가 없어서, 행정안전부가 공공데이터포털에 무료로 공개한 법정동별 주민등록 인구·세대현황 API를 새로 받아왔습니다. 동 이름을 법정동코드로 바꾸는 과정(Kakao 주소검색 API)까지 거쳐서 340개 동의 2025Q2·2026Q2 인구·세대수를 확보했고, 이걸 2번 축에서 이미 계산해둔 동별 가격 변화율과 합쳤습니다. 참고로 이 인구 통계는 2022년 10월부터만 공식 집계되고, 한 번에 3개월까지만 조회할 수 있어서 이번엔 비교가 가능한 딱 두 분기(2025Q2, 2026Q2)만 받았습니다.</a:t>
            </a:r>
          </a:p>
        </p:txBody>
      </p:sp>
      <p:sp>
        <p:nvSpPr>
          <p:cNvPr id="4" name="Slide Number Placeholder 3"/>
          <p:cNvSpPr>
            <a:spLocks noGrp="1"/>
          </p:cNvSpPr>
          <p:nvPr>
            <p:ph type="sldNum" idx="12"/>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가로축은 그 동의 1년간 인구 변화율(%), 세로축은 같은 기간 hedonic 가격지수 변화율(%)입니다. 점 하나가 법정동 하나(231개)이고, 남색 직선은 전체 추세선입니다. 직관적으로는 '인구가 늘어나는 동네가 수요가 많아서 가격도 더 오르지 않을까' 싶은데, 실제로는 정반대로 추세선이 오른쪽으로 갈수록(인구가 늘수록) 살짝 내려갑니다. 상관계수는 -0.114로 강하진 않지만 방향이 일관됩니다. 특히 빨간 점으로 표시한 용산구 보광동을 보시면, 인구가 1년 만에 26.5% 줄었는데(7,042명에서 5,178명으로) 가격은 조사한 동 중 가장 많이 올랐습니다(+38%). 반면 2번 축에서 봤던 강남구 역삼·대치·압구정동은 인구 변화가 거의 없었습니다(-0.2~-0.8% 수준) — 그러니까 강남구 내부의 가격 하락은 인구로는 설명이 안 되고, 인구 감소는 오히려 보광동처럼 정비사업으로 이주가 진행 중인 동네에서 뚜렷하게 나타났습니다.</a:t>
            </a:r>
          </a:p>
        </p:txBody>
      </p:sp>
      <p:sp>
        <p:nvSpPr>
          <p:cNvPr id="4" name="Slide Number Placeholder 3"/>
          <p:cNvSpPr>
            <a:spLocks noGrp="1"/>
          </p:cNvSpPr>
          <p:nvPr>
            <p:ph type="sldNum" idx="12"/>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이 표는 2번 축에서 이름이 나왔던 동 5개만 따로 뽑은 겁니다. 보광동은 인구가 -26.5%로 압도적으로 많이 줄었고 가격은 +38%로 가장 많이 올랐습니다. 반면 나머지 강남구 4개 동은 인구 변화율이 -0.2%에서 -0.8% 사이로 서로 비슷비슷한데 가격은 수서동만 +28.7%로 오르고 나머지는 다 내려갔습니다. 즉 인구는 보광동 같은 극단적 사례는 설명하지만, 강남구 안에서 동마다 갈린 이유까지는 설명하지 못합니다. 콜아웃에 정리한 세 가지가 오늘 이 축에서 드리고 싶은 결론입니다: 전체적으로는 약한 역상관, 보광동은 정비사업 이주로 보이는 특수 사례, 강남구 내부 미스터리는 여전히 미해결이라는 것입니다.</a:t>
            </a:r>
          </a:p>
        </p:txBody>
      </p:sp>
      <p:sp>
        <p:nvSpPr>
          <p:cNvPr id="4" name="Slide Number Placeholder 3"/>
          <p:cNvSpPr>
            <a:spLocks noGrp="1"/>
          </p:cNvSpPr>
          <p:nvPr>
            <p:ph type="sldNum" idx="12"/>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오늘 다룬 10개 축을 한 줄씩 압축하면 이렇습니다. codex로 두 차례 독립 검증을 거치면서 정비사업 강도 결론은 철회했고, 전세가율·구-동 비교·거래량-정책 관계는 표현을 더 신중하게 고쳤습니다. 가장 확실하게 남는 건 두 가지입니다 — 거래량이 가격보다 훨씬 크게 흔들린다는 것과, 구 단위 평균만 보면 안 되고 동 단위 편차를 봐야 한다는 것입니다.</a:t>
            </a:r>
          </a:p>
        </p:txBody>
      </p:sp>
      <p:sp>
        <p:nvSpPr>
          <p:cNvPr id="4" name="Slide Number Placeholder 3"/>
          <p:cNvSpPr>
            <a:spLocks noGrp="1"/>
          </p:cNvSpPr>
          <p:nvPr>
            <p:ph type="sldNum" idx="12"/>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마지막으로 오늘 자료가 어떻게 검증됐는지부터 말씀드리겠습니다. 발표 준비를 마친 뒤 codex 세션 두 개를 독립적으로 띄워서 전체 분석 과정을 재검토받았습니다. 두 세션이 공통으로 지적한 문제들은 전부 코드를 고치고 숫자를 다시 계산했습니다 — 그중 정비사업 강도 결론은 버그를 고치고 나니 통계적으로 유의하지 않아서 완전히 철회했습니다. 나머지도 상당수는 상관관계지 인과관계가 아니라는 점을 다시 한번 강조드리고 싶습니다. 다음 단계로는 클러스터링을 다시 시도하고, 3~5번 축처럼 여러 요인이 뒤섞인 분석은 제대로 된 회귀분석으로 재설계하고, 오늘 그나마 신뢰도 있게 남은 요인들을 모델 담당자와 같이 확인해보면 좋을 것 같습니다. 여기까지입니다, 질문 있으시면 편하게 말씀해주세요.</a:t>
            </a:r>
          </a:p>
        </p:txBody>
      </p:sp>
      <p:sp>
        <p:nvSpPr>
          <p:cNvPr id="4" name="Slide Number Placeholder 3"/>
          <p:cNvSpPr>
            <a:spLocks noGrp="1"/>
          </p:cNvSpPr>
          <p:nvPr>
            <p:ph type="sldNum" idx="12"/>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3.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6.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6.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6.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6.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8.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제목 슬라이드" type="title">
  <p:cSld name="TITLE">
    <p:spTree>
      <p:nvGrpSpPr>
        <p:cNvPr id="15" name="Shape 15"/>
        <p:cNvGrpSpPr/>
        <p:nvPr/>
      </p:nvGrpSpPr>
      <p:grpSpPr>
        <a:xfrm>
          <a:off x="0" y="0"/>
          <a:ext cx="0" cy="0"/>
          <a:chOff x="0" y="0"/>
          <a:chExt cx="0" cy="0"/>
        </a:xfrm>
      </p:grpSpPr>
      <p:sp>
        <p:nvSpPr>
          <p:cNvPr id="16" name="Google Shape;16;p15"/>
          <p:cNvSpPr/>
          <p:nvPr/>
        </p:nvSpPr>
        <p:spPr>
          <a:xfrm>
            <a:off x="0" y="6583680"/>
            <a:ext cx="12192000" cy="274320"/>
          </a:xfrm>
          <a:prstGeom prst="rect">
            <a:avLst/>
          </a:prstGeom>
          <a:solidFill>
            <a:srgbClr val="002F3E"/>
          </a:solidFill>
          <a:ln cap="flat" cmpd="sng" w="19050">
            <a:solidFill>
              <a:srgbClr val="003E3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Malgun Gothic"/>
              <a:ea typeface="Malgun Gothic"/>
              <a:cs typeface="Malgun Gothic"/>
              <a:sym typeface="Malgun Gothic"/>
            </a:endParaRPr>
          </a:p>
        </p:txBody>
      </p:sp>
      <p:sp>
        <p:nvSpPr>
          <p:cNvPr id="17" name="Google Shape;17;p15"/>
          <p:cNvSpPr txBox="1"/>
          <p:nvPr>
            <p:ph type="ctrTitle"/>
          </p:nvPr>
        </p:nvSpPr>
        <p:spPr>
          <a:xfrm>
            <a:off x="838200" y="2577471"/>
            <a:ext cx="10154194" cy="1070403"/>
          </a:xfrm>
          <a:prstGeom prst="rect">
            <a:avLst/>
          </a:prstGeom>
          <a:noFill/>
          <a:ln>
            <a:noFill/>
          </a:ln>
        </p:spPr>
        <p:txBody>
          <a:bodyPr anchorCtr="0" anchor="t" bIns="45700" lIns="91425" spcFirstLastPara="1" rIns="91425" wrap="square" tIns="45700">
            <a:normAutofit/>
          </a:bodyPr>
          <a:lstStyle>
            <a:lvl1pPr lvl="0" algn="l">
              <a:lnSpc>
                <a:spcPct val="90000"/>
              </a:lnSpc>
              <a:spcBef>
                <a:spcPts val="0"/>
              </a:spcBef>
              <a:spcAft>
                <a:spcPts val="0"/>
              </a:spcAft>
              <a:buClr>
                <a:schemeClr val="dk1"/>
              </a:buClr>
              <a:buSzPts val="4000"/>
              <a:buFont typeface="Malgun Gothic"/>
              <a:buNone/>
              <a:defRPr b="1"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15"/>
          <p:cNvSpPr txBox="1"/>
          <p:nvPr>
            <p:ph idx="1" type="subTitle"/>
          </p:nvPr>
        </p:nvSpPr>
        <p:spPr>
          <a:xfrm>
            <a:off x="838200" y="3717538"/>
            <a:ext cx="9144000" cy="518437"/>
          </a:xfrm>
          <a:prstGeom prst="rect">
            <a:avLst/>
          </a:prstGeom>
          <a:noFill/>
          <a:ln>
            <a:noFill/>
          </a:ln>
        </p:spPr>
        <p:txBody>
          <a:bodyPr anchorCtr="0" anchor="t" bIns="45700" lIns="91425" spcFirstLastPara="1" rIns="91425" wrap="square" tIns="45700">
            <a:normAutofit/>
          </a:bodyPr>
          <a:lstStyle>
            <a:lvl1pPr lvl="0" algn="l">
              <a:lnSpc>
                <a:spcPct val="90000"/>
              </a:lnSpc>
              <a:spcBef>
                <a:spcPts val="1000"/>
              </a:spcBef>
              <a:spcAft>
                <a:spcPts val="0"/>
              </a:spcAft>
              <a:buClr>
                <a:srgbClr val="747474"/>
              </a:buClr>
              <a:buSzPts val="1800"/>
              <a:buNone/>
              <a:defRPr b="0" sz="1800">
                <a:solidFill>
                  <a:srgbClr val="747474"/>
                </a:solidFill>
              </a:defRPr>
            </a:lvl1pPr>
            <a:lvl2pPr lvl="1" algn="ctr">
              <a:lnSpc>
                <a:spcPct val="90000"/>
              </a:lnSpc>
              <a:spcBef>
                <a:spcPts val="500"/>
              </a:spcBef>
              <a:spcAft>
                <a:spcPts val="0"/>
              </a:spcAft>
              <a:buClr>
                <a:schemeClr val="dk1"/>
              </a:buClr>
              <a:buSzPts val="2000"/>
              <a:buNone/>
              <a:defRPr sz="2000"/>
            </a:lvl2pPr>
            <a:lvl3pPr lvl="2" algn="ctr">
              <a:lnSpc>
                <a:spcPct val="90000"/>
              </a:lnSpc>
              <a:spcBef>
                <a:spcPts val="500"/>
              </a:spcBef>
              <a:spcAft>
                <a:spcPts val="0"/>
              </a:spcAft>
              <a:buClr>
                <a:schemeClr val="dk1"/>
              </a:buClr>
              <a:buSzPts val="1800"/>
              <a:buNone/>
              <a:defRPr sz="1800"/>
            </a:lvl3pPr>
            <a:lvl4pPr lvl="3" algn="ctr">
              <a:lnSpc>
                <a:spcPct val="90000"/>
              </a:lnSpc>
              <a:spcBef>
                <a:spcPts val="500"/>
              </a:spcBef>
              <a:spcAft>
                <a:spcPts val="0"/>
              </a:spcAft>
              <a:buClr>
                <a:schemeClr val="dk1"/>
              </a:buClr>
              <a:buSzPts val="1600"/>
              <a:buNone/>
              <a:defRPr sz="1600"/>
            </a:lvl4pPr>
            <a:lvl5pPr lvl="4" algn="ctr">
              <a:lnSpc>
                <a:spcPct val="90000"/>
              </a:lnSpc>
              <a:spcBef>
                <a:spcPts val="500"/>
              </a:spcBef>
              <a:spcAft>
                <a:spcPts val="0"/>
              </a:spcAft>
              <a:buClr>
                <a:schemeClr val="dk1"/>
              </a:buClr>
              <a:buSzPts val="1600"/>
              <a:buNone/>
              <a:defRPr sz="1600"/>
            </a:lvl5pPr>
            <a:lvl6pPr lvl="5" algn="ctr">
              <a:lnSpc>
                <a:spcPct val="90000"/>
              </a:lnSpc>
              <a:spcBef>
                <a:spcPts val="500"/>
              </a:spcBef>
              <a:spcAft>
                <a:spcPts val="0"/>
              </a:spcAft>
              <a:buClr>
                <a:schemeClr val="dk1"/>
              </a:buClr>
              <a:buSzPts val="1600"/>
              <a:buNone/>
              <a:defRPr sz="1600"/>
            </a:lvl6pPr>
            <a:lvl7pPr lvl="6" algn="ctr">
              <a:lnSpc>
                <a:spcPct val="90000"/>
              </a:lnSpc>
              <a:spcBef>
                <a:spcPts val="500"/>
              </a:spcBef>
              <a:spcAft>
                <a:spcPts val="0"/>
              </a:spcAft>
              <a:buClr>
                <a:schemeClr val="dk1"/>
              </a:buClr>
              <a:buSzPts val="1600"/>
              <a:buNone/>
              <a:defRPr sz="1600"/>
            </a:lvl7pPr>
            <a:lvl8pPr lvl="7" algn="ctr">
              <a:lnSpc>
                <a:spcPct val="90000"/>
              </a:lnSpc>
              <a:spcBef>
                <a:spcPts val="500"/>
              </a:spcBef>
              <a:spcAft>
                <a:spcPts val="0"/>
              </a:spcAft>
              <a:buClr>
                <a:schemeClr val="dk1"/>
              </a:buClr>
              <a:buSzPts val="1600"/>
              <a:buNone/>
              <a:defRPr sz="1600"/>
            </a:lvl8pPr>
            <a:lvl9pPr lvl="8" algn="ctr">
              <a:lnSpc>
                <a:spcPct val="90000"/>
              </a:lnSpc>
              <a:spcBef>
                <a:spcPts val="500"/>
              </a:spcBef>
              <a:spcAft>
                <a:spcPts val="0"/>
              </a:spcAft>
              <a:buClr>
                <a:schemeClr val="dk1"/>
              </a:buClr>
              <a:buSzPts val="1600"/>
              <a:buNone/>
              <a:defRPr sz="1600"/>
            </a:lvl9pPr>
          </a:lstStyle>
          <a:p/>
        </p:txBody>
      </p:sp>
      <p:sp>
        <p:nvSpPr>
          <p:cNvPr id="19" name="Google Shape;19;p15"/>
          <p:cNvSpPr txBox="1"/>
          <p:nvPr>
            <p:ph idx="10" type="dt"/>
          </p:nvPr>
        </p:nvSpPr>
        <p:spPr>
          <a:xfrm>
            <a:off x="408829" y="6592184"/>
            <a:ext cx="2743200"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sz="1100">
                <a:solidFill>
                  <a:schemeClr val="lt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15"/>
          <p:cNvSpPr txBox="1"/>
          <p:nvPr>
            <p:ph idx="11" type="ftr"/>
          </p:nvPr>
        </p:nvSpPr>
        <p:spPr>
          <a:xfrm>
            <a:off x="4038600" y="6592184"/>
            <a:ext cx="4114800" cy="274320"/>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sz="1100">
                <a:solidFill>
                  <a:schemeClr val="lt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15"/>
          <p:cNvSpPr txBox="1"/>
          <p:nvPr>
            <p:ph idx="12" type="sldNum"/>
          </p:nvPr>
        </p:nvSpPr>
        <p:spPr>
          <a:xfrm>
            <a:off x="9039971" y="6592184"/>
            <a:ext cx="2743200" cy="257312"/>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b="0" i="0" sz="1100" u="none" cap="none" strike="noStrike">
                <a:solidFill>
                  <a:schemeClr val="lt1"/>
                </a:solidFill>
                <a:latin typeface="Malgun Gothic"/>
                <a:ea typeface="Malgun Gothic"/>
                <a:cs typeface="Malgun Gothic"/>
                <a:sym typeface="Malgun Gothic"/>
              </a:defRPr>
            </a:lvl1pPr>
            <a:lvl2pPr indent="0" lvl="1" marL="0" algn="r">
              <a:spcBef>
                <a:spcPts val="0"/>
              </a:spcBef>
              <a:buNone/>
              <a:defRPr b="0" i="0" sz="1100" u="none" cap="none" strike="noStrike">
                <a:solidFill>
                  <a:schemeClr val="lt1"/>
                </a:solidFill>
                <a:latin typeface="Malgun Gothic"/>
                <a:ea typeface="Malgun Gothic"/>
                <a:cs typeface="Malgun Gothic"/>
                <a:sym typeface="Malgun Gothic"/>
              </a:defRPr>
            </a:lvl2pPr>
            <a:lvl3pPr indent="0" lvl="2" marL="0" algn="r">
              <a:spcBef>
                <a:spcPts val="0"/>
              </a:spcBef>
              <a:buNone/>
              <a:defRPr b="0" i="0" sz="1100" u="none" cap="none" strike="noStrike">
                <a:solidFill>
                  <a:schemeClr val="lt1"/>
                </a:solidFill>
                <a:latin typeface="Malgun Gothic"/>
                <a:ea typeface="Malgun Gothic"/>
                <a:cs typeface="Malgun Gothic"/>
                <a:sym typeface="Malgun Gothic"/>
              </a:defRPr>
            </a:lvl3pPr>
            <a:lvl4pPr indent="0" lvl="3" marL="0" algn="r">
              <a:spcBef>
                <a:spcPts val="0"/>
              </a:spcBef>
              <a:buNone/>
              <a:defRPr b="0" i="0" sz="1100" u="none" cap="none" strike="noStrike">
                <a:solidFill>
                  <a:schemeClr val="lt1"/>
                </a:solidFill>
                <a:latin typeface="Malgun Gothic"/>
                <a:ea typeface="Malgun Gothic"/>
                <a:cs typeface="Malgun Gothic"/>
                <a:sym typeface="Malgun Gothic"/>
              </a:defRPr>
            </a:lvl4pPr>
            <a:lvl5pPr indent="0" lvl="4" marL="0" algn="r">
              <a:spcBef>
                <a:spcPts val="0"/>
              </a:spcBef>
              <a:buNone/>
              <a:defRPr b="0" i="0" sz="1100" u="none" cap="none" strike="noStrike">
                <a:solidFill>
                  <a:schemeClr val="lt1"/>
                </a:solidFill>
                <a:latin typeface="Malgun Gothic"/>
                <a:ea typeface="Malgun Gothic"/>
                <a:cs typeface="Malgun Gothic"/>
                <a:sym typeface="Malgun Gothic"/>
              </a:defRPr>
            </a:lvl5pPr>
            <a:lvl6pPr indent="0" lvl="5" marL="0" algn="r">
              <a:spcBef>
                <a:spcPts val="0"/>
              </a:spcBef>
              <a:buNone/>
              <a:defRPr b="0" i="0" sz="1100" u="none" cap="none" strike="noStrike">
                <a:solidFill>
                  <a:schemeClr val="lt1"/>
                </a:solidFill>
                <a:latin typeface="Malgun Gothic"/>
                <a:ea typeface="Malgun Gothic"/>
                <a:cs typeface="Malgun Gothic"/>
                <a:sym typeface="Malgun Gothic"/>
              </a:defRPr>
            </a:lvl6pPr>
            <a:lvl7pPr indent="0" lvl="6" marL="0" algn="r">
              <a:spcBef>
                <a:spcPts val="0"/>
              </a:spcBef>
              <a:buNone/>
              <a:defRPr b="0" i="0" sz="1100" u="none" cap="none" strike="noStrike">
                <a:solidFill>
                  <a:schemeClr val="lt1"/>
                </a:solidFill>
                <a:latin typeface="Malgun Gothic"/>
                <a:ea typeface="Malgun Gothic"/>
                <a:cs typeface="Malgun Gothic"/>
                <a:sym typeface="Malgun Gothic"/>
              </a:defRPr>
            </a:lvl7pPr>
            <a:lvl8pPr indent="0" lvl="7" marL="0" algn="r">
              <a:spcBef>
                <a:spcPts val="0"/>
              </a:spcBef>
              <a:buNone/>
              <a:defRPr b="0" i="0" sz="1100" u="none" cap="none" strike="noStrike">
                <a:solidFill>
                  <a:schemeClr val="lt1"/>
                </a:solidFill>
                <a:latin typeface="Malgun Gothic"/>
                <a:ea typeface="Malgun Gothic"/>
                <a:cs typeface="Malgun Gothic"/>
                <a:sym typeface="Malgun Gothic"/>
              </a:defRPr>
            </a:lvl8pPr>
            <a:lvl9pPr indent="0" lvl="8" marL="0" algn="r">
              <a:spcBef>
                <a:spcPts val="0"/>
              </a:spcBef>
              <a:buNone/>
              <a:defRPr b="0" i="0" sz="1100" u="none" cap="none" strike="noStrike">
                <a:solidFill>
                  <a:schemeClr val="lt1"/>
                </a:solidFill>
                <a:latin typeface="Malgun Gothic"/>
                <a:ea typeface="Malgun Gothic"/>
                <a:cs typeface="Malgun Gothic"/>
                <a:sym typeface="Malgun Gothic"/>
              </a:defRPr>
            </a:lvl9pPr>
          </a:lstStyle>
          <a:p>
            <a:pPr indent="0" lvl="0" marL="0" rtl="0" algn="r">
              <a:spcBef>
                <a:spcPts val="0"/>
              </a:spcBef>
              <a:spcAft>
                <a:spcPts val="0"/>
              </a:spcAft>
              <a:buNone/>
            </a:pPr>
            <a:fld id="{00000000-1234-1234-1234-123412341234}" type="slidenum">
              <a:rPr lang="ko-KR"/>
              <a:t>‹#›</a:t>
            </a:fld>
            <a:endParaRPr/>
          </a:p>
        </p:txBody>
      </p:sp>
      <p:sp>
        <p:nvSpPr>
          <p:cNvPr id="22" name="Google Shape;22;p15"/>
          <p:cNvSpPr/>
          <p:nvPr/>
        </p:nvSpPr>
        <p:spPr>
          <a:xfrm>
            <a:off x="838200" y="4244479"/>
            <a:ext cx="1371600" cy="54864"/>
          </a:xfrm>
          <a:prstGeom prst="rect">
            <a:avLst/>
          </a:prstGeom>
          <a:solidFill>
            <a:srgbClr val="40CDDC"/>
          </a:solidFill>
          <a:ln>
            <a:noFill/>
          </a:ln>
          <a:effectLst>
            <a:outerShdw blurRad="50800" rotWithShape="0" algn="tr" dir="8100000" dist="38100">
              <a:srgbClr val="000000">
                <a:alpha val="200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rgbClr val="009C77"/>
              </a:solidFill>
              <a:latin typeface="Malgun Gothic"/>
              <a:ea typeface="Malgun Gothic"/>
              <a:cs typeface="Malgun Gothic"/>
              <a:sym typeface="Malgun Gothic"/>
            </a:endParaRPr>
          </a:p>
        </p:txBody>
      </p:sp>
      <p:grpSp>
        <p:nvGrpSpPr>
          <p:cNvPr id="23" name="Google Shape;23;p15"/>
          <p:cNvGrpSpPr/>
          <p:nvPr/>
        </p:nvGrpSpPr>
        <p:grpSpPr>
          <a:xfrm>
            <a:off x="10335437" y="213966"/>
            <a:ext cx="1447734" cy="764601"/>
            <a:chOff x="10077284" y="548830"/>
            <a:chExt cx="1150654" cy="607702"/>
          </a:xfrm>
        </p:grpSpPr>
        <p:pic>
          <p:nvPicPr>
            <p:cNvPr descr="The image depicts a stylized, colorful, winged creature with a spiral pattern, surrounded by a minimalistic, abstract molecular structure.&#10;&#10;AI 생성 콘텐츠는 정확하지 않을 수 있습니다." id="24" name="Google Shape;24;p15"/>
            <p:cNvPicPr preferRelativeResize="0"/>
            <p:nvPr/>
          </p:nvPicPr>
          <p:blipFill rotWithShape="1">
            <a:blip r:embed="rId2">
              <a:alphaModFix/>
            </a:blip>
            <a:srcRect b="0" l="0" r="0" t="0"/>
            <a:stretch/>
          </p:blipFill>
          <p:spPr>
            <a:xfrm>
              <a:off x="10499387" y="548830"/>
              <a:ext cx="592152" cy="346774"/>
            </a:xfrm>
            <a:prstGeom prst="rect">
              <a:avLst/>
            </a:prstGeom>
            <a:noFill/>
            <a:ln>
              <a:noFill/>
            </a:ln>
          </p:spPr>
        </p:pic>
        <p:pic>
          <p:nvPicPr>
            <p:cNvPr descr="INNOWL&#10;&#10;AI 생성 콘텐츠는 정확하지 않을 수 있습니다." id="25" name="Google Shape;25;p15"/>
            <p:cNvPicPr preferRelativeResize="0"/>
            <p:nvPr/>
          </p:nvPicPr>
          <p:blipFill rotWithShape="1">
            <a:blip r:embed="rId3">
              <a:alphaModFix/>
            </a:blip>
            <a:srcRect b="0" l="0" r="0" t="0"/>
            <a:stretch/>
          </p:blipFill>
          <p:spPr>
            <a:xfrm>
              <a:off x="10077284" y="895603"/>
              <a:ext cx="1150654" cy="260929"/>
            </a:xfrm>
            <a:prstGeom prst="rect">
              <a:avLst/>
            </a:prstGeom>
            <a:noFill/>
            <a:ln>
              <a:noFill/>
            </a:ln>
          </p:spPr>
        </p:pic>
      </p:gr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제목 및 내용" type="obj">
  <p:cSld name="OBJECT">
    <p:spTree>
      <p:nvGrpSpPr>
        <p:cNvPr id="26" name="Shape 26"/>
        <p:cNvGrpSpPr/>
        <p:nvPr/>
      </p:nvGrpSpPr>
      <p:grpSpPr>
        <a:xfrm>
          <a:off x="0" y="0"/>
          <a:ext cx="0" cy="0"/>
          <a:chOff x="0" y="0"/>
          <a:chExt cx="0" cy="0"/>
        </a:xfrm>
      </p:grpSpPr>
      <p:sp>
        <p:nvSpPr>
          <p:cNvPr id="27" name="Google Shape;27;p16"/>
          <p:cNvSpPr/>
          <p:nvPr/>
        </p:nvSpPr>
        <p:spPr>
          <a:xfrm>
            <a:off x="0" y="0"/>
            <a:ext cx="12192000" cy="681037"/>
          </a:xfrm>
          <a:prstGeom prst="rect">
            <a:avLst/>
          </a:prstGeom>
          <a:solidFill>
            <a:srgbClr val="002632"/>
          </a:solidFill>
          <a:ln cap="flat" cmpd="sng" w="19050">
            <a:solidFill>
              <a:srgbClr val="003E3B"/>
            </a:solidFill>
            <a:prstDash val="solid"/>
            <a:miter lim="8000"/>
            <a:headEnd len="sm" w="sm" type="none"/>
            <a:tailEnd len="sm" w="sm" type="none"/>
          </a:ln>
          <a:effectLst>
            <a:outerShdw blurRad="50800" rotWithShape="0" algn="t" dir="5400000" dist="25400">
              <a:srgbClr val="000000">
                <a:alpha val="70196"/>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Malgun Gothic"/>
              <a:ea typeface="Malgun Gothic"/>
              <a:cs typeface="Malgun Gothic"/>
              <a:sym typeface="Malgun Gothic"/>
            </a:endParaRPr>
          </a:p>
        </p:txBody>
      </p:sp>
      <p:sp>
        <p:nvSpPr>
          <p:cNvPr id="28" name="Google Shape;28;p16"/>
          <p:cNvSpPr txBox="1"/>
          <p:nvPr>
            <p:ph type="title"/>
          </p:nvPr>
        </p:nvSpPr>
        <p:spPr>
          <a:xfrm>
            <a:off x="345219" y="0"/>
            <a:ext cx="10515600" cy="681038"/>
          </a:xfrm>
          <a:prstGeom prst="rect">
            <a:avLst/>
          </a:prstGeom>
          <a:noFill/>
          <a:ln>
            <a:noFill/>
          </a:ln>
        </p:spPr>
        <p:txBody>
          <a:bodyPr anchorCtr="0" anchor="ctr" bIns="45700" lIns="91425" spcFirstLastPara="1" rIns="91425" wrap="square" tIns="45700">
            <a:noAutofit/>
          </a:bodyPr>
          <a:lstStyle>
            <a:lvl1pPr lvl="0" algn="l">
              <a:lnSpc>
                <a:spcPct val="90000"/>
              </a:lnSpc>
              <a:spcBef>
                <a:spcPts val="0"/>
              </a:spcBef>
              <a:spcAft>
                <a:spcPts val="0"/>
              </a:spcAft>
              <a:buClr>
                <a:schemeClr val="lt1"/>
              </a:buClr>
              <a:buSzPts val="2800"/>
              <a:buFont typeface="Malgun Gothic"/>
              <a:buNone/>
              <a:defRPr sz="2800">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9" name="Google Shape;29;p16"/>
          <p:cNvSpPr txBox="1"/>
          <p:nvPr>
            <p:ph idx="1" type="body"/>
          </p:nvPr>
        </p:nvSpPr>
        <p:spPr>
          <a:xfrm>
            <a:off x="838200" y="1066800"/>
            <a:ext cx="10515600" cy="5110163"/>
          </a:xfrm>
          <a:prstGeom prst="rect">
            <a:avLst/>
          </a:prstGeom>
          <a:noFill/>
          <a:ln>
            <a:noFill/>
          </a:ln>
        </p:spPr>
        <p:txBody>
          <a:bodyPr anchorCtr="0" anchor="t" bIns="45700" lIns="91425" spcFirstLastPara="1" rIns="91425" wrap="square" tIns="45700">
            <a:normAutofit/>
          </a:bodyPr>
          <a:lstStyle>
            <a:lvl1pPr indent="-355600" lvl="0" marL="457200" algn="l">
              <a:lnSpc>
                <a:spcPct val="90000"/>
              </a:lnSpc>
              <a:spcBef>
                <a:spcPts val="1000"/>
              </a:spcBef>
              <a:spcAft>
                <a:spcPts val="0"/>
              </a:spcAft>
              <a:buClr>
                <a:schemeClr val="dk1"/>
              </a:buClr>
              <a:buSzPts val="2000"/>
              <a:buChar char="•"/>
              <a:defRPr sz="2000"/>
            </a:lvl1pPr>
            <a:lvl2pPr indent="-342900" lvl="1" marL="914400" algn="l">
              <a:lnSpc>
                <a:spcPct val="90000"/>
              </a:lnSpc>
              <a:spcBef>
                <a:spcPts val="500"/>
              </a:spcBef>
              <a:spcAft>
                <a:spcPts val="0"/>
              </a:spcAft>
              <a:buClr>
                <a:schemeClr val="dk1"/>
              </a:buClr>
              <a:buSzPts val="1800"/>
              <a:buChar char="•"/>
              <a:defRPr sz="1800"/>
            </a:lvl2pPr>
            <a:lvl3pPr indent="-330200" lvl="2" marL="1371600" algn="l">
              <a:lnSpc>
                <a:spcPct val="90000"/>
              </a:lnSpc>
              <a:spcBef>
                <a:spcPts val="500"/>
              </a:spcBef>
              <a:spcAft>
                <a:spcPts val="0"/>
              </a:spcAft>
              <a:buClr>
                <a:schemeClr val="dk1"/>
              </a:buClr>
              <a:buSzPts val="1600"/>
              <a:buChar char="•"/>
              <a:defRPr sz="1600"/>
            </a:lvl3pPr>
            <a:lvl4pPr indent="-317500" lvl="3" marL="1828800" algn="l">
              <a:lnSpc>
                <a:spcPct val="90000"/>
              </a:lnSpc>
              <a:spcBef>
                <a:spcPts val="500"/>
              </a:spcBef>
              <a:spcAft>
                <a:spcPts val="0"/>
              </a:spcAft>
              <a:buClr>
                <a:schemeClr val="dk1"/>
              </a:buClr>
              <a:buSzPts val="1400"/>
              <a:buChar char="•"/>
              <a:defRPr sz="1400"/>
            </a:lvl4pPr>
            <a:lvl5pPr indent="-317500" lvl="4" marL="2286000" algn="l">
              <a:lnSpc>
                <a:spcPct val="90000"/>
              </a:lnSpc>
              <a:spcBef>
                <a:spcPts val="500"/>
              </a:spcBef>
              <a:spcAft>
                <a:spcPts val="0"/>
              </a:spcAft>
              <a:buClr>
                <a:schemeClr val="dk1"/>
              </a:buClr>
              <a:buSzPts val="1400"/>
              <a:buChar char="•"/>
              <a:defRPr sz="1400"/>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30" name="Google Shape;30;p16"/>
          <p:cNvSpPr/>
          <p:nvPr/>
        </p:nvSpPr>
        <p:spPr>
          <a:xfrm>
            <a:off x="0" y="6583680"/>
            <a:ext cx="12192000" cy="274320"/>
          </a:xfrm>
          <a:prstGeom prst="rect">
            <a:avLst/>
          </a:prstGeom>
          <a:solidFill>
            <a:srgbClr val="002632"/>
          </a:solidFill>
          <a:ln cap="flat" cmpd="sng" w="19050">
            <a:solidFill>
              <a:srgbClr val="003E3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Malgun Gothic"/>
              <a:ea typeface="Malgun Gothic"/>
              <a:cs typeface="Malgun Gothic"/>
              <a:sym typeface="Malgun Gothic"/>
            </a:endParaRPr>
          </a:p>
        </p:txBody>
      </p:sp>
      <p:sp>
        <p:nvSpPr>
          <p:cNvPr id="31" name="Google Shape;31;p16"/>
          <p:cNvSpPr txBox="1"/>
          <p:nvPr>
            <p:ph idx="10" type="dt"/>
          </p:nvPr>
        </p:nvSpPr>
        <p:spPr>
          <a:xfrm>
            <a:off x="408829" y="6592184"/>
            <a:ext cx="2743200"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sz="1100">
                <a:solidFill>
                  <a:schemeClr val="lt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2" name="Google Shape;32;p16"/>
          <p:cNvSpPr txBox="1"/>
          <p:nvPr>
            <p:ph idx="11" type="ftr"/>
          </p:nvPr>
        </p:nvSpPr>
        <p:spPr>
          <a:xfrm>
            <a:off x="4038600" y="6592184"/>
            <a:ext cx="4114800" cy="274320"/>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sz="1100">
                <a:solidFill>
                  <a:schemeClr val="lt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3" name="Google Shape;33;p16"/>
          <p:cNvSpPr txBox="1"/>
          <p:nvPr>
            <p:ph idx="12" type="sldNum"/>
          </p:nvPr>
        </p:nvSpPr>
        <p:spPr>
          <a:xfrm>
            <a:off x="9039971" y="6592184"/>
            <a:ext cx="2743200" cy="257312"/>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b="0" i="0" sz="1100" u="none" cap="none" strike="noStrike">
                <a:solidFill>
                  <a:schemeClr val="lt1"/>
                </a:solidFill>
                <a:latin typeface="Malgun Gothic"/>
                <a:ea typeface="Malgun Gothic"/>
                <a:cs typeface="Malgun Gothic"/>
                <a:sym typeface="Malgun Gothic"/>
              </a:defRPr>
            </a:lvl1pPr>
            <a:lvl2pPr indent="0" lvl="1" marL="0" algn="r">
              <a:spcBef>
                <a:spcPts val="0"/>
              </a:spcBef>
              <a:buNone/>
              <a:defRPr b="0" i="0" sz="1100" u="none" cap="none" strike="noStrike">
                <a:solidFill>
                  <a:schemeClr val="lt1"/>
                </a:solidFill>
                <a:latin typeface="Malgun Gothic"/>
                <a:ea typeface="Malgun Gothic"/>
                <a:cs typeface="Malgun Gothic"/>
                <a:sym typeface="Malgun Gothic"/>
              </a:defRPr>
            </a:lvl2pPr>
            <a:lvl3pPr indent="0" lvl="2" marL="0" algn="r">
              <a:spcBef>
                <a:spcPts val="0"/>
              </a:spcBef>
              <a:buNone/>
              <a:defRPr b="0" i="0" sz="1100" u="none" cap="none" strike="noStrike">
                <a:solidFill>
                  <a:schemeClr val="lt1"/>
                </a:solidFill>
                <a:latin typeface="Malgun Gothic"/>
                <a:ea typeface="Malgun Gothic"/>
                <a:cs typeface="Malgun Gothic"/>
                <a:sym typeface="Malgun Gothic"/>
              </a:defRPr>
            </a:lvl3pPr>
            <a:lvl4pPr indent="0" lvl="3" marL="0" algn="r">
              <a:spcBef>
                <a:spcPts val="0"/>
              </a:spcBef>
              <a:buNone/>
              <a:defRPr b="0" i="0" sz="1100" u="none" cap="none" strike="noStrike">
                <a:solidFill>
                  <a:schemeClr val="lt1"/>
                </a:solidFill>
                <a:latin typeface="Malgun Gothic"/>
                <a:ea typeface="Malgun Gothic"/>
                <a:cs typeface="Malgun Gothic"/>
                <a:sym typeface="Malgun Gothic"/>
              </a:defRPr>
            </a:lvl4pPr>
            <a:lvl5pPr indent="0" lvl="4" marL="0" algn="r">
              <a:spcBef>
                <a:spcPts val="0"/>
              </a:spcBef>
              <a:buNone/>
              <a:defRPr b="0" i="0" sz="1100" u="none" cap="none" strike="noStrike">
                <a:solidFill>
                  <a:schemeClr val="lt1"/>
                </a:solidFill>
                <a:latin typeface="Malgun Gothic"/>
                <a:ea typeface="Malgun Gothic"/>
                <a:cs typeface="Malgun Gothic"/>
                <a:sym typeface="Malgun Gothic"/>
              </a:defRPr>
            </a:lvl5pPr>
            <a:lvl6pPr indent="0" lvl="5" marL="0" algn="r">
              <a:spcBef>
                <a:spcPts val="0"/>
              </a:spcBef>
              <a:buNone/>
              <a:defRPr b="0" i="0" sz="1100" u="none" cap="none" strike="noStrike">
                <a:solidFill>
                  <a:schemeClr val="lt1"/>
                </a:solidFill>
                <a:latin typeface="Malgun Gothic"/>
                <a:ea typeface="Malgun Gothic"/>
                <a:cs typeface="Malgun Gothic"/>
                <a:sym typeface="Malgun Gothic"/>
              </a:defRPr>
            </a:lvl6pPr>
            <a:lvl7pPr indent="0" lvl="6" marL="0" algn="r">
              <a:spcBef>
                <a:spcPts val="0"/>
              </a:spcBef>
              <a:buNone/>
              <a:defRPr b="0" i="0" sz="1100" u="none" cap="none" strike="noStrike">
                <a:solidFill>
                  <a:schemeClr val="lt1"/>
                </a:solidFill>
                <a:latin typeface="Malgun Gothic"/>
                <a:ea typeface="Malgun Gothic"/>
                <a:cs typeface="Malgun Gothic"/>
                <a:sym typeface="Malgun Gothic"/>
              </a:defRPr>
            </a:lvl7pPr>
            <a:lvl8pPr indent="0" lvl="7" marL="0" algn="r">
              <a:spcBef>
                <a:spcPts val="0"/>
              </a:spcBef>
              <a:buNone/>
              <a:defRPr b="0" i="0" sz="1100" u="none" cap="none" strike="noStrike">
                <a:solidFill>
                  <a:schemeClr val="lt1"/>
                </a:solidFill>
                <a:latin typeface="Malgun Gothic"/>
                <a:ea typeface="Malgun Gothic"/>
                <a:cs typeface="Malgun Gothic"/>
                <a:sym typeface="Malgun Gothic"/>
              </a:defRPr>
            </a:lvl8pPr>
            <a:lvl9pPr indent="0" lvl="8" marL="0" algn="r">
              <a:spcBef>
                <a:spcPts val="0"/>
              </a:spcBef>
              <a:buNone/>
              <a:defRPr b="0" i="0" sz="1100" u="none" cap="none" strike="noStrike">
                <a:solidFill>
                  <a:schemeClr val="lt1"/>
                </a:solidFill>
                <a:latin typeface="Malgun Gothic"/>
                <a:ea typeface="Malgun Gothic"/>
                <a:cs typeface="Malgun Gothic"/>
                <a:sym typeface="Malgun Gothic"/>
              </a:defRPr>
            </a:lvl9pPr>
          </a:lstStyle>
          <a:p>
            <a:pPr indent="0" lvl="0" marL="0" rtl="0" algn="r">
              <a:spcBef>
                <a:spcPts val="0"/>
              </a:spcBef>
              <a:spcAft>
                <a:spcPts val="0"/>
              </a:spcAft>
              <a:buNone/>
            </a:pPr>
            <a:fld id="{00000000-1234-1234-1234-123412341234}" type="slidenum">
              <a:rPr lang="ko-KR"/>
              <a:t>‹#›</a:t>
            </a:fld>
            <a:endParaRPr/>
          </a:p>
        </p:txBody>
      </p:sp>
      <p:pic>
        <p:nvPicPr>
          <p:cNvPr descr="The image depicts a stylized, colorful, winged creature with a spiral pattern, surrounded by a minimalistic, abstract molecular structure.&#10;&#10;AI 생성 콘텐츠는 정확하지 않을 수 있습니다." id="34" name="Google Shape;34;p16"/>
          <p:cNvPicPr preferRelativeResize="0"/>
          <p:nvPr/>
        </p:nvPicPr>
        <p:blipFill rotWithShape="1">
          <a:blip r:embed="rId2">
            <a:alphaModFix/>
          </a:blip>
          <a:srcRect b="0" l="0" r="0" t="0"/>
          <a:stretch/>
        </p:blipFill>
        <p:spPr>
          <a:xfrm>
            <a:off x="11290190" y="160421"/>
            <a:ext cx="600999" cy="351955"/>
          </a:xfrm>
          <a:prstGeom prst="rect">
            <a:avLst/>
          </a:prstGeom>
          <a:noFill/>
          <a:ln>
            <a:noFill/>
          </a:ln>
        </p:spPr>
      </p:pic>
      <p:pic>
        <p:nvPicPr>
          <p:cNvPr descr="INNOWL&#10;&#10;AI 생성 콘텐츠는 정확하지 않을 수 있습니다." id="35" name="Google Shape;35;p16"/>
          <p:cNvPicPr preferRelativeResize="0"/>
          <p:nvPr/>
        </p:nvPicPr>
        <p:blipFill rotWithShape="1">
          <a:blip r:embed="rId3">
            <a:alphaModFix/>
          </a:blip>
          <a:srcRect b="0" l="0" r="0" t="0"/>
          <a:stretch/>
        </p:blipFill>
        <p:spPr>
          <a:xfrm>
            <a:off x="10017334" y="228394"/>
            <a:ext cx="1252314" cy="283982"/>
          </a:xfrm>
          <a:prstGeom prst="rect">
            <a:avLst/>
          </a:prstGeom>
          <a:noFill/>
          <a:ln>
            <a:noFill/>
          </a:ln>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구역 머리글" type="secHead">
  <p:cSld name="SECTION_HEADER">
    <p:bg>
      <p:bgPr>
        <a:solidFill>
          <a:srgbClr val="002632"/>
        </a:solidFill>
      </p:bgPr>
    </p:bg>
    <p:spTree>
      <p:nvGrpSpPr>
        <p:cNvPr id="36" name="Shape 36"/>
        <p:cNvGrpSpPr/>
        <p:nvPr/>
      </p:nvGrpSpPr>
      <p:grpSpPr>
        <a:xfrm>
          <a:off x="0" y="0"/>
          <a:ext cx="0" cy="0"/>
          <a:chOff x="0" y="0"/>
          <a:chExt cx="0" cy="0"/>
        </a:xfrm>
      </p:grpSpPr>
      <p:sp>
        <p:nvSpPr>
          <p:cNvPr id="37" name="Google Shape;37;p17"/>
          <p:cNvSpPr txBox="1"/>
          <p:nvPr>
            <p:ph type="title"/>
          </p:nvPr>
        </p:nvSpPr>
        <p:spPr>
          <a:xfrm>
            <a:off x="1379095" y="1709739"/>
            <a:ext cx="9676524" cy="1719262"/>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lt1"/>
              </a:buClr>
              <a:buSzPts val="4800"/>
              <a:buFont typeface="Malgun Gothic"/>
              <a:buNone/>
              <a:defRPr sz="4800">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8" name="Google Shape;38;p17"/>
          <p:cNvSpPr txBox="1"/>
          <p:nvPr>
            <p:ph idx="1" type="body"/>
          </p:nvPr>
        </p:nvSpPr>
        <p:spPr>
          <a:xfrm>
            <a:off x="1379094" y="3648074"/>
            <a:ext cx="9676525" cy="1500187"/>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1000"/>
              </a:spcBef>
              <a:spcAft>
                <a:spcPts val="0"/>
              </a:spcAft>
              <a:buClr>
                <a:srgbClr val="F2F2F2"/>
              </a:buClr>
              <a:buSzPts val="1800"/>
              <a:buNone/>
              <a:defRPr sz="1800">
                <a:solidFill>
                  <a:srgbClr val="F2F2F2"/>
                </a:solidFill>
              </a:defRPr>
            </a:lvl1pPr>
            <a:lvl2pPr indent="-228600" lvl="1" marL="914400" algn="l">
              <a:lnSpc>
                <a:spcPct val="90000"/>
              </a:lnSpc>
              <a:spcBef>
                <a:spcPts val="500"/>
              </a:spcBef>
              <a:spcAft>
                <a:spcPts val="0"/>
              </a:spcAft>
              <a:buClr>
                <a:srgbClr val="757575"/>
              </a:buClr>
              <a:buSzPts val="2000"/>
              <a:buNone/>
              <a:defRPr sz="2000">
                <a:solidFill>
                  <a:srgbClr val="757575"/>
                </a:solidFill>
              </a:defRPr>
            </a:lvl2pPr>
            <a:lvl3pPr indent="-228600" lvl="2" marL="1371600" algn="l">
              <a:lnSpc>
                <a:spcPct val="90000"/>
              </a:lnSpc>
              <a:spcBef>
                <a:spcPts val="500"/>
              </a:spcBef>
              <a:spcAft>
                <a:spcPts val="0"/>
              </a:spcAft>
              <a:buClr>
                <a:srgbClr val="757575"/>
              </a:buClr>
              <a:buSzPts val="1800"/>
              <a:buNone/>
              <a:defRPr sz="1800">
                <a:solidFill>
                  <a:srgbClr val="757575"/>
                </a:solidFill>
              </a:defRPr>
            </a:lvl3pPr>
            <a:lvl4pPr indent="-228600" lvl="3" marL="1828800" algn="l">
              <a:lnSpc>
                <a:spcPct val="90000"/>
              </a:lnSpc>
              <a:spcBef>
                <a:spcPts val="500"/>
              </a:spcBef>
              <a:spcAft>
                <a:spcPts val="0"/>
              </a:spcAft>
              <a:buClr>
                <a:srgbClr val="757575"/>
              </a:buClr>
              <a:buSzPts val="1600"/>
              <a:buNone/>
              <a:defRPr sz="1600">
                <a:solidFill>
                  <a:srgbClr val="757575"/>
                </a:solidFill>
              </a:defRPr>
            </a:lvl4pPr>
            <a:lvl5pPr indent="-228600" lvl="4" marL="2286000" algn="l">
              <a:lnSpc>
                <a:spcPct val="90000"/>
              </a:lnSpc>
              <a:spcBef>
                <a:spcPts val="500"/>
              </a:spcBef>
              <a:spcAft>
                <a:spcPts val="0"/>
              </a:spcAft>
              <a:buClr>
                <a:srgbClr val="757575"/>
              </a:buClr>
              <a:buSzPts val="1600"/>
              <a:buNone/>
              <a:defRPr sz="1600">
                <a:solidFill>
                  <a:srgbClr val="757575"/>
                </a:solidFill>
              </a:defRPr>
            </a:lvl5pPr>
            <a:lvl6pPr indent="-228600" lvl="5" marL="2743200" algn="l">
              <a:lnSpc>
                <a:spcPct val="90000"/>
              </a:lnSpc>
              <a:spcBef>
                <a:spcPts val="500"/>
              </a:spcBef>
              <a:spcAft>
                <a:spcPts val="0"/>
              </a:spcAft>
              <a:buClr>
                <a:srgbClr val="757575"/>
              </a:buClr>
              <a:buSzPts val="1600"/>
              <a:buNone/>
              <a:defRPr sz="1600">
                <a:solidFill>
                  <a:srgbClr val="757575"/>
                </a:solidFill>
              </a:defRPr>
            </a:lvl6pPr>
            <a:lvl7pPr indent="-228600" lvl="6" marL="3200400" algn="l">
              <a:lnSpc>
                <a:spcPct val="90000"/>
              </a:lnSpc>
              <a:spcBef>
                <a:spcPts val="500"/>
              </a:spcBef>
              <a:spcAft>
                <a:spcPts val="0"/>
              </a:spcAft>
              <a:buClr>
                <a:srgbClr val="757575"/>
              </a:buClr>
              <a:buSzPts val="1600"/>
              <a:buNone/>
              <a:defRPr sz="1600">
                <a:solidFill>
                  <a:srgbClr val="757575"/>
                </a:solidFill>
              </a:defRPr>
            </a:lvl7pPr>
            <a:lvl8pPr indent="-228600" lvl="7" marL="3657600" algn="l">
              <a:lnSpc>
                <a:spcPct val="90000"/>
              </a:lnSpc>
              <a:spcBef>
                <a:spcPts val="500"/>
              </a:spcBef>
              <a:spcAft>
                <a:spcPts val="0"/>
              </a:spcAft>
              <a:buClr>
                <a:srgbClr val="757575"/>
              </a:buClr>
              <a:buSzPts val="1600"/>
              <a:buNone/>
              <a:defRPr sz="1600">
                <a:solidFill>
                  <a:srgbClr val="757575"/>
                </a:solidFill>
              </a:defRPr>
            </a:lvl8pPr>
            <a:lvl9pPr indent="-228600" lvl="8" marL="4114800" algn="l">
              <a:lnSpc>
                <a:spcPct val="90000"/>
              </a:lnSpc>
              <a:spcBef>
                <a:spcPts val="500"/>
              </a:spcBef>
              <a:spcAft>
                <a:spcPts val="0"/>
              </a:spcAft>
              <a:buClr>
                <a:srgbClr val="757575"/>
              </a:buClr>
              <a:buSzPts val="1600"/>
              <a:buNone/>
              <a:defRPr sz="1600">
                <a:solidFill>
                  <a:srgbClr val="757575"/>
                </a:solidFill>
              </a:defRPr>
            </a:lvl9pPr>
          </a:lstStyle>
          <a:p/>
        </p:txBody>
      </p:sp>
      <p:sp>
        <p:nvSpPr>
          <p:cNvPr id="39" name="Google Shape;39;p17"/>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b="0" i="0" sz="1200" u="none" cap="none" strike="noStrike">
                <a:solidFill>
                  <a:srgbClr val="F2F2F2"/>
                </a:solidFill>
                <a:latin typeface="Malgun Gothic"/>
                <a:ea typeface="Malgun Gothic"/>
                <a:cs typeface="Malgun Gothic"/>
                <a:sym typeface="Malgun Gothic"/>
              </a:defRPr>
            </a:lvl1pPr>
            <a:lvl2pPr indent="0" lvl="1" marL="0" algn="r">
              <a:spcBef>
                <a:spcPts val="0"/>
              </a:spcBef>
              <a:buNone/>
              <a:defRPr b="0" i="0" sz="1200" u="none" cap="none" strike="noStrike">
                <a:solidFill>
                  <a:srgbClr val="F2F2F2"/>
                </a:solidFill>
                <a:latin typeface="Malgun Gothic"/>
                <a:ea typeface="Malgun Gothic"/>
                <a:cs typeface="Malgun Gothic"/>
                <a:sym typeface="Malgun Gothic"/>
              </a:defRPr>
            </a:lvl2pPr>
            <a:lvl3pPr indent="0" lvl="2" marL="0" algn="r">
              <a:spcBef>
                <a:spcPts val="0"/>
              </a:spcBef>
              <a:buNone/>
              <a:defRPr b="0" i="0" sz="1200" u="none" cap="none" strike="noStrike">
                <a:solidFill>
                  <a:srgbClr val="F2F2F2"/>
                </a:solidFill>
                <a:latin typeface="Malgun Gothic"/>
                <a:ea typeface="Malgun Gothic"/>
                <a:cs typeface="Malgun Gothic"/>
                <a:sym typeface="Malgun Gothic"/>
              </a:defRPr>
            </a:lvl3pPr>
            <a:lvl4pPr indent="0" lvl="3" marL="0" algn="r">
              <a:spcBef>
                <a:spcPts val="0"/>
              </a:spcBef>
              <a:buNone/>
              <a:defRPr b="0" i="0" sz="1200" u="none" cap="none" strike="noStrike">
                <a:solidFill>
                  <a:srgbClr val="F2F2F2"/>
                </a:solidFill>
                <a:latin typeface="Malgun Gothic"/>
                <a:ea typeface="Malgun Gothic"/>
                <a:cs typeface="Malgun Gothic"/>
                <a:sym typeface="Malgun Gothic"/>
              </a:defRPr>
            </a:lvl4pPr>
            <a:lvl5pPr indent="0" lvl="4" marL="0" algn="r">
              <a:spcBef>
                <a:spcPts val="0"/>
              </a:spcBef>
              <a:buNone/>
              <a:defRPr b="0" i="0" sz="1200" u="none" cap="none" strike="noStrike">
                <a:solidFill>
                  <a:srgbClr val="F2F2F2"/>
                </a:solidFill>
                <a:latin typeface="Malgun Gothic"/>
                <a:ea typeface="Malgun Gothic"/>
                <a:cs typeface="Malgun Gothic"/>
                <a:sym typeface="Malgun Gothic"/>
              </a:defRPr>
            </a:lvl5pPr>
            <a:lvl6pPr indent="0" lvl="5" marL="0" algn="r">
              <a:spcBef>
                <a:spcPts val="0"/>
              </a:spcBef>
              <a:buNone/>
              <a:defRPr b="0" i="0" sz="1200" u="none" cap="none" strike="noStrike">
                <a:solidFill>
                  <a:srgbClr val="F2F2F2"/>
                </a:solidFill>
                <a:latin typeface="Malgun Gothic"/>
                <a:ea typeface="Malgun Gothic"/>
                <a:cs typeface="Malgun Gothic"/>
                <a:sym typeface="Malgun Gothic"/>
              </a:defRPr>
            </a:lvl6pPr>
            <a:lvl7pPr indent="0" lvl="6" marL="0" algn="r">
              <a:spcBef>
                <a:spcPts val="0"/>
              </a:spcBef>
              <a:buNone/>
              <a:defRPr b="0" i="0" sz="1200" u="none" cap="none" strike="noStrike">
                <a:solidFill>
                  <a:srgbClr val="F2F2F2"/>
                </a:solidFill>
                <a:latin typeface="Malgun Gothic"/>
                <a:ea typeface="Malgun Gothic"/>
                <a:cs typeface="Malgun Gothic"/>
                <a:sym typeface="Malgun Gothic"/>
              </a:defRPr>
            </a:lvl7pPr>
            <a:lvl8pPr indent="0" lvl="7" marL="0" algn="r">
              <a:spcBef>
                <a:spcPts val="0"/>
              </a:spcBef>
              <a:buNone/>
              <a:defRPr b="0" i="0" sz="1200" u="none" cap="none" strike="noStrike">
                <a:solidFill>
                  <a:srgbClr val="F2F2F2"/>
                </a:solidFill>
                <a:latin typeface="Malgun Gothic"/>
                <a:ea typeface="Malgun Gothic"/>
                <a:cs typeface="Malgun Gothic"/>
                <a:sym typeface="Malgun Gothic"/>
              </a:defRPr>
            </a:lvl8pPr>
            <a:lvl9pPr indent="0" lvl="8" marL="0" algn="r">
              <a:spcBef>
                <a:spcPts val="0"/>
              </a:spcBef>
              <a:buNone/>
              <a:defRPr b="0" i="0" sz="1200" u="none" cap="none" strike="noStrike">
                <a:solidFill>
                  <a:srgbClr val="F2F2F2"/>
                </a:solidFill>
                <a:latin typeface="Malgun Gothic"/>
                <a:ea typeface="Malgun Gothic"/>
                <a:cs typeface="Malgun Gothic"/>
                <a:sym typeface="Malgun Gothic"/>
              </a:defRPr>
            </a:lvl9pPr>
          </a:lstStyle>
          <a:p>
            <a:pPr indent="0" lvl="0" marL="0" rtl="0" algn="r">
              <a:spcBef>
                <a:spcPts val="0"/>
              </a:spcBef>
              <a:spcAft>
                <a:spcPts val="0"/>
              </a:spcAft>
              <a:buNone/>
            </a:pPr>
            <a:fld id="{00000000-1234-1234-1234-123412341234}" type="slidenum">
              <a:rPr lang="ko-KR"/>
              <a:t>‹#›</a:t>
            </a:fld>
            <a:endParaRPr/>
          </a:p>
        </p:txBody>
      </p:sp>
      <p:pic>
        <p:nvPicPr>
          <p:cNvPr descr="The image depicts a stylized, colorful, winged creature with a spiral pattern, surrounded by a minimalistic, abstract molecular structure.&#10;&#10;AI 생성 콘텐츠는 정확하지 않을 수 있습니다." id="40" name="Google Shape;40;p17"/>
          <p:cNvPicPr preferRelativeResize="0"/>
          <p:nvPr/>
        </p:nvPicPr>
        <p:blipFill rotWithShape="1">
          <a:blip r:embed="rId2">
            <a:alphaModFix amt="20000"/>
          </a:blip>
          <a:srcRect b="0" l="0" r="0" t="0"/>
          <a:stretch/>
        </p:blipFill>
        <p:spPr>
          <a:xfrm>
            <a:off x="6787688" y="3209926"/>
            <a:ext cx="5261054" cy="3080961"/>
          </a:xfrm>
          <a:prstGeom prst="rect">
            <a:avLst/>
          </a:prstGeom>
          <a:noFill/>
          <a:ln>
            <a:noFill/>
          </a:ln>
        </p:spPr>
      </p:pic>
      <p:pic>
        <p:nvPicPr>
          <p:cNvPr descr="INNOWL&#10;&#10;AI 생성 콘텐츠는 정확하지 않을 수 있습니다." id="41" name="Google Shape;41;p17"/>
          <p:cNvPicPr preferRelativeResize="0"/>
          <p:nvPr/>
        </p:nvPicPr>
        <p:blipFill rotWithShape="1">
          <a:blip r:embed="rId3">
            <a:alphaModFix/>
          </a:blip>
          <a:srcRect b="0" l="0" r="0" t="0"/>
          <a:stretch/>
        </p:blipFill>
        <p:spPr>
          <a:xfrm>
            <a:off x="10549090" y="354334"/>
            <a:ext cx="1252314" cy="283982"/>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콘텐츠 2개">
  <p:cSld name="콘텐츠 2개">
    <p:spTree>
      <p:nvGrpSpPr>
        <p:cNvPr id="42" name="Shape 42"/>
        <p:cNvGrpSpPr/>
        <p:nvPr/>
      </p:nvGrpSpPr>
      <p:grpSpPr>
        <a:xfrm>
          <a:off x="0" y="0"/>
          <a:ext cx="0" cy="0"/>
          <a:chOff x="0" y="0"/>
          <a:chExt cx="0" cy="0"/>
        </a:xfrm>
      </p:grpSpPr>
      <p:sp>
        <p:nvSpPr>
          <p:cNvPr id="43" name="Google Shape;43;p18"/>
          <p:cNvSpPr txBox="1"/>
          <p:nvPr>
            <p:ph idx="1" type="body"/>
          </p:nvPr>
        </p:nvSpPr>
        <p:spPr>
          <a:xfrm>
            <a:off x="497305" y="1009097"/>
            <a:ext cx="5522495" cy="5246521"/>
          </a:xfrm>
          <a:prstGeom prst="rect">
            <a:avLst/>
          </a:prstGeom>
          <a:noFill/>
          <a:ln>
            <a:noFill/>
          </a:ln>
        </p:spPr>
        <p:txBody>
          <a:bodyPr anchorCtr="0" anchor="t" bIns="45700" lIns="91425" spcFirstLastPara="1" rIns="91425" wrap="square" tIns="45700">
            <a:normAutofit/>
          </a:bodyPr>
          <a:lstStyle>
            <a:lvl1pPr indent="-355600" lvl="0" marL="457200" algn="l">
              <a:lnSpc>
                <a:spcPct val="90000"/>
              </a:lnSpc>
              <a:spcBef>
                <a:spcPts val="1000"/>
              </a:spcBef>
              <a:spcAft>
                <a:spcPts val="0"/>
              </a:spcAft>
              <a:buClr>
                <a:schemeClr val="dk1"/>
              </a:buClr>
              <a:buSzPts val="2000"/>
              <a:buChar char="•"/>
              <a:defRPr sz="2000"/>
            </a:lvl1pPr>
            <a:lvl2pPr indent="-342900" lvl="1" marL="914400" algn="l">
              <a:lnSpc>
                <a:spcPct val="90000"/>
              </a:lnSpc>
              <a:spcBef>
                <a:spcPts val="500"/>
              </a:spcBef>
              <a:spcAft>
                <a:spcPts val="0"/>
              </a:spcAft>
              <a:buClr>
                <a:schemeClr val="dk1"/>
              </a:buClr>
              <a:buSzPts val="1800"/>
              <a:buChar char="•"/>
              <a:defRPr sz="1800"/>
            </a:lvl2pPr>
            <a:lvl3pPr indent="-330200" lvl="2" marL="1371600" algn="l">
              <a:lnSpc>
                <a:spcPct val="90000"/>
              </a:lnSpc>
              <a:spcBef>
                <a:spcPts val="500"/>
              </a:spcBef>
              <a:spcAft>
                <a:spcPts val="0"/>
              </a:spcAft>
              <a:buClr>
                <a:schemeClr val="dk1"/>
              </a:buClr>
              <a:buSzPts val="1600"/>
              <a:buChar char="•"/>
              <a:defRPr sz="1600"/>
            </a:lvl3pPr>
            <a:lvl4pPr indent="-317500" lvl="3" marL="1828800" algn="l">
              <a:lnSpc>
                <a:spcPct val="90000"/>
              </a:lnSpc>
              <a:spcBef>
                <a:spcPts val="500"/>
              </a:spcBef>
              <a:spcAft>
                <a:spcPts val="0"/>
              </a:spcAft>
              <a:buClr>
                <a:schemeClr val="dk1"/>
              </a:buClr>
              <a:buSzPts val="1400"/>
              <a:buChar char="•"/>
              <a:defRPr sz="1400"/>
            </a:lvl4pPr>
            <a:lvl5pPr indent="-317500" lvl="4" marL="2286000" algn="l">
              <a:lnSpc>
                <a:spcPct val="90000"/>
              </a:lnSpc>
              <a:spcBef>
                <a:spcPts val="500"/>
              </a:spcBef>
              <a:spcAft>
                <a:spcPts val="0"/>
              </a:spcAft>
              <a:buClr>
                <a:schemeClr val="dk1"/>
              </a:buClr>
              <a:buSzPts val="1400"/>
              <a:buChar char="•"/>
              <a:defRPr sz="1400"/>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44" name="Google Shape;44;p18"/>
          <p:cNvSpPr/>
          <p:nvPr/>
        </p:nvSpPr>
        <p:spPr>
          <a:xfrm>
            <a:off x="0" y="0"/>
            <a:ext cx="12192000" cy="681037"/>
          </a:xfrm>
          <a:prstGeom prst="rect">
            <a:avLst/>
          </a:prstGeom>
          <a:solidFill>
            <a:srgbClr val="002632"/>
          </a:solidFill>
          <a:ln cap="flat" cmpd="sng" w="19050">
            <a:solidFill>
              <a:srgbClr val="003E3B"/>
            </a:solidFill>
            <a:prstDash val="solid"/>
            <a:miter lim="8000"/>
            <a:headEnd len="sm" w="sm" type="none"/>
            <a:tailEnd len="sm" w="sm" type="none"/>
          </a:ln>
          <a:effectLst>
            <a:outerShdw blurRad="50800" rotWithShape="0" algn="t" dir="5400000" dist="25400">
              <a:srgbClr val="000000">
                <a:alpha val="70196"/>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Malgun Gothic"/>
              <a:ea typeface="Malgun Gothic"/>
              <a:cs typeface="Malgun Gothic"/>
              <a:sym typeface="Malgun Gothic"/>
            </a:endParaRPr>
          </a:p>
        </p:txBody>
      </p:sp>
      <p:sp>
        <p:nvSpPr>
          <p:cNvPr id="45" name="Google Shape;45;p18"/>
          <p:cNvSpPr/>
          <p:nvPr/>
        </p:nvSpPr>
        <p:spPr>
          <a:xfrm>
            <a:off x="0" y="6583680"/>
            <a:ext cx="12192000" cy="274320"/>
          </a:xfrm>
          <a:prstGeom prst="rect">
            <a:avLst/>
          </a:prstGeom>
          <a:solidFill>
            <a:srgbClr val="002632"/>
          </a:solidFill>
          <a:ln cap="flat" cmpd="sng" w="19050">
            <a:solidFill>
              <a:srgbClr val="003E3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Malgun Gothic"/>
              <a:ea typeface="Malgun Gothic"/>
              <a:cs typeface="Malgun Gothic"/>
              <a:sym typeface="Malgun Gothic"/>
            </a:endParaRPr>
          </a:p>
        </p:txBody>
      </p:sp>
      <p:sp>
        <p:nvSpPr>
          <p:cNvPr id="46" name="Google Shape;46;p18"/>
          <p:cNvSpPr txBox="1"/>
          <p:nvPr>
            <p:ph idx="10" type="dt"/>
          </p:nvPr>
        </p:nvSpPr>
        <p:spPr>
          <a:xfrm>
            <a:off x="408829" y="6592184"/>
            <a:ext cx="2743200"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sz="1100">
                <a:solidFill>
                  <a:schemeClr val="lt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7" name="Google Shape;47;p18"/>
          <p:cNvSpPr txBox="1"/>
          <p:nvPr>
            <p:ph idx="11" type="ftr"/>
          </p:nvPr>
        </p:nvSpPr>
        <p:spPr>
          <a:xfrm>
            <a:off x="4038600" y="6592184"/>
            <a:ext cx="4114800" cy="274320"/>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sz="1100">
                <a:solidFill>
                  <a:schemeClr val="lt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8" name="Google Shape;48;p18"/>
          <p:cNvSpPr txBox="1"/>
          <p:nvPr>
            <p:ph idx="12" type="sldNum"/>
          </p:nvPr>
        </p:nvSpPr>
        <p:spPr>
          <a:xfrm>
            <a:off x="9039971" y="6592184"/>
            <a:ext cx="2743200" cy="257312"/>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b="0" i="0" sz="1100" u="none" cap="none" strike="noStrike">
                <a:solidFill>
                  <a:schemeClr val="lt1"/>
                </a:solidFill>
                <a:latin typeface="Malgun Gothic"/>
                <a:ea typeface="Malgun Gothic"/>
                <a:cs typeface="Malgun Gothic"/>
                <a:sym typeface="Malgun Gothic"/>
              </a:defRPr>
            </a:lvl1pPr>
            <a:lvl2pPr indent="0" lvl="1" marL="0" algn="r">
              <a:spcBef>
                <a:spcPts val="0"/>
              </a:spcBef>
              <a:buNone/>
              <a:defRPr b="0" i="0" sz="1100" u="none" cap="none" strike="noStrike">
                <a:solidFill>
                  <a:schemeClr val="lt1"/>
                </a:solidFill>
                <a:latin typeface="Malgun Gothic"/>
                <a:ea typeface="Malgun Gothic"/>
                <a:cs typeface="Malgun Gothic"/>
                <a:sym typeface="Malgun Gothic"/>
              </a:defRPr>
            </a:lvl2pPr>
            <a:lvl3pPr indent="0" lvl="2" marL="0" algn="r">
              <a:spcBef>
                <a:spcPts val="0"/>
              </a:spcBef>
              <a:buNone/>
              <a:defRPr b="0" i="0" sz="1100" u="none" cap="none" strike="noStrike">
                <a:solidFill>
                  <a:schemeClr val="lt1"/>
                </a:solidFill>
                <a:latin typeface="Malgun Gothic"/>
                <a:ea typeface="Malgun Gothic"/>
                <a:cs typeface="Malgun Gothic"/>
                <a:sym typeface="Malgun Gothic"/>
              </a:defRPr>
            </a:lvl3pPr>
            <a:lvl4pPr indent="0" lvl="3" marL="0" algn="r">
              <a:spcBef>
                <a:spcPts val="0"/>
              </a:spcBef>
              <a:buNone/>
              <a:defRPr b="0" i="0" sz="1100" u="none" cap="none" strike="noStrike">
                <a:solidFill>
                  <a:schemeClr val="lt1"/>
                </a:solidFill>
                <a:latin typeface="Malgun Gothic"/>
                <a:ea typeface="Malgun Gothic"/>
                <a:cs typeface="Malgun Gothic"/>
                <a:sym typeface="Malgun Gothic"/>
              </a:defRPr>
            </a:lvl4pPr>
            <a:lvl5pPr indent="0" lvl="4" marL="0" algn="r">
              <a:spcBef>
                <a:spcPts val="0"/>
              </a:spcBef>
              <a:buNone/>
              <a:defRPr b="0" i="0" sz="1100" u="none" cap="none" strike="noStrike">
                <a:solidFill>
                  <a:schemeClr val="lt1"/>
                </a:solidFill>
                <a:latin typeface="Malgun Gothic"/>
                <a:ea typeface="Malgun Gothic"/>
                <a:cs typeface="Malgun Gothic"/>
                <a:sym typeface="Malgun Gothic"/>
              </a:defRPr>
            </a:lvl5pPr>
            <a:lvl6pPr indent="0" lvl="5" marL="0" algn="r">
              <a:spcBef>
                <a:spcPts val="0"/>
              </a:spcBef>
              <a:buNone/>
              <a:defRPr b="0" i="0" sz="1100" u="none" cap="none" strike="noStrike">
                <a:solidFill>
                  <a:schemeClr val="lt1"/>
                </a:solidFill>
                <a:latin typeface="Malgun Gothic"/>
                <a:ea typeface="Malgun Gothic"/>
                <a:cs typeface="Malgun Gothic"/>
                <a:sym typeface="Malgun Gothic"/>
              </a:defRPr>
            </a:lvl6pPr>
            <a:lvl7pPr indent="0" lvl="6" marL="0" algn="r">
              <a:spcBef>
                <a:spcPts val="0"/>
              </a:spcBef>
              <a:buNone/>
              <a:defRPr b="0" i="0" sz="1100" u="none" cap="none" strike="noStrike">
                <a:solidFill>
                  <a:schemeClr val="lt1"/>
                </a:solidFill>
                <a:latin typeface="Malgun Gothic"/>
                <a:ea typeface="Malgun Gothic"/>
                <a:cs typeface="Malgun Gothic"/>
                <a:sym typeface="Malgun Gothic"/>
              </a:defRPr>
            </a:lvl7pPr>
            <a:lvl8pPr indent="0" lvl="7" marL="0" algn="r">
              <a:spcBef>
                <a:spcPts val="0"/>
              </a:spcBef>
              <a:buNone/>
              <a:defRPr b="0" i="0" sz="1100" u="none" cap="none" strike="noStrike">
                <a:solidFill>
                  <a:schemeClr val="lt1"/>
                </a:solidFill>
                <a:latin typeface="Malgun Gothic"/>
                <a:ea typeface="Malgun Gothic"/>
                <a:cs typeface="Malgun Gothic"/>
                <a:sym typeface="Malgun Gothic"/>
              </a:defRPr>
            </a:lvl8pPr>
            <a:lvl9pPr indent="0" lvl="8" marL="0" algn="r">
              <a:spcBef>
                <a:spcPts val="0"/>
              </a:spcBef>
              <a:buNone/>
              <a:defRPr b="0" i="0" sz="1100" u="none" cap="none" strike="noStrike">
                <a:solidFill>
                  <a:schemeClr val="lt1"/>
                </a:solidFill>
                <a:latin typeface="Malgun Gothic"/>
                <a:ea typeface="Malgun Gothic"/>
                <a:cs typeface="Malgun Gothic"/>
                <a:sym typeface="Malgun Gothic"/>
              </a:defRPr>
            </a:lvl9pPr>
          </a:lstStyle>
          <a:p>
            <a:pPr indent="0" lvl="0" marL="0" rtl="0" algn="r">
              <a:spcBef>
                <a:spcPts val="0"/>
              </a:spcBef>
              <a:spcAft>
                <a:spcPts val="0"/>
              </a:spcAft>
              <a:buNone/>
            </a:pPr>
            <a:fld id="{00000000-1234-1234-1234-123412341234}" type="slidenum">
              <a:rPr lang="ko-KR"/>
              <a:t>‹#›</a:t>
            </a:fld>
            <a:endParaRPr/>
          </a:p>
        </p:txBody>
      </p:sp>
      <p:sp>
        <p:nvSpPr>
          <p:cNvPr id="49" name="Google Shape;49;p18"/>
          <p:cNvSpPr txBox="1"/>
          <p:nvPr>
            <p:ph idx="2" type="body"/>
          </p:nvPr>
        </p:nvSpPr>
        <p:spPr>
          <a:xfrm>
            <a:off x="6172202" y="1009097"/>
            <a:ext cx="5522495" cy="5246521"/>
          </a:xfrm>
          <a:prstGeom prst="rect">
            <a:avLst/>
          </a:prstGeom>
          <a:noFill/>
          <a:ln>
            <a:noFill/>
          </a:ln>
        </p:spPr>
        <p:txBody>
          <a:bodyPr anchorCtr="0" anchor="t" bIns="45700" lIns="91425" spcFirstLastPara="1" rIns="91425" wrap="square" tIns="45700">
            <a:normAutofit/>
          </a:bodyPr>
          <a:lstStyle>
            <a:lvl1pPr indent="-355600" lvl="0" marL="457200" algn="l">
              <a:lnSpc>
                <a:spcPct val="90000"/>
              </a:lnSpc>
              <a:spcBef>
                <a:spcPts val="1000"/>
              </a:spcBef>
              <a:spcAft>
                <a:spcPts val="0"/>
              </a:spcAft>
              <a:buClr>
                <a:schemeClr val="dk1"/>
              </a:buClr>
              <a:buSzPts val="2000"/>
              <a:buChar char="•"/>
              <a:defRPr sz="2000"/>
            </a:lvl1pPr>
            <a:lvl2pPr indent="-342900" lvl="1" marL="914400" algn="l">
              <a:lnSpc>
                <a:spcPct val="90000"/>
              </a:lnSpc>
              <a:spcBef>
                <a:spcPts val="500"/>
              </a:spcBef>
              <a:spcAft>
                <a:spcPts val="0"/>
              </a:spcAft>
              <a:buClr>
                <a:schemeClr val="dk1"/>
              </a:buClr>
              <a:buSzPts val="1800"/>
              <a:buChar char="•"/>
              <a:defRPr sz="1800"/>
            </a:lvl2pPr>
            <a:lvl3pPr indent="-330200" lvl="2" marL="1371600" algn="l">
              <a:lnSpc>
                <a:spcPct val="90000"/>
              </a:lnSpc>
              <a:spcBef>
                <a:spcPts val="500"/>
              </a:spcBef>
              <a:spcAft>
                <a:spcPts val="0"/>
              </a:spcAft>
              <a:buClr>
                <a:schemeClr val="dk1"/>
              </a:buClr>
              <a:buSzPts val="1600"/>
              <a:buChar char="•"/>
              <a:defRPr sz="1600"/>
            </a:lvl3pPr>
            <a:lvl4pPr indent="-317500" lvl="3" marL="1828800" algn="l">
              <a:lnSpc>
                <a:spcPct val="90000"/>
              </a:lnSpc>
              <a:spcBef>
                <a:spcPts val="500"/>
              </a:spcBef>
              <a:spcAft>
                <a:spcPts val="0"/>
              </a:spcAft>
              <a:buClr>
                <a:schemeClr val="dk1"/>
              </a:buClr>
              <a:buSzPts val="1400"/>
              <a:buChar char="•"/>
              <a:defRPr sz="1400"/>
            </a:lvl4pPr>
            <a:lvl5pPr indent="-317500" lvl="4" marL="2286000" algn="l">
              <a:lnSpc>
                <a:spcPct val="90000"/>
              </a:lnSpc>
              <a:spcBef>
                <a:spcPts val="500"/>
              </a:spcBef>
              <a:spcAft>
                <a:spcPts val="0"/>
              </a:spcAft>
              <a:buClr>
                <a:schemeClr val="dk1"/>
              </a:buClr>
              <a:buSzPts val="1400"/>
              <a:buChar char="•"/>
              <a:defRPr sz="1400"/>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pic>
        <p:nvPicPr>
          <p:cNvPr descr="The image depicts a stylized, colorful, winged creature with a spiral pattern, surrounded by a minimalistic, abstract molecular structure.&#10;&#10;AI 생성 콘텐츠는 정확하지 않을 수 있습니다." id="50" name="Google Shape;50;p18"/>
          <p:cNvPicPr preferRelativeResize="0"/>
          <p:nvPr/>
        </p:nvPicPr>
        <p:blipFill rotWithShape="1">
          <a:blip r:embed="rId2">
            <a:alphaModFix/>
          </a:blip>
          <a:srcRect b="0" l="0" r="0" t="0"/>
          <a:stretch/>
        </p:blipFill>
        <p:spPr>
          <a:xfrm>
            <a:off x="11290190" y="160421"/>
            <a:ext cx="600999" cy="351955"/>
          </a:xfrm>
          <a:prstGeom prst="rect">
            <a:avLst/>
          </a:prstGeom>
          <a:noFill/>
          <a:ln>
            <a:noFill/>
          </a:ln>
        </p:spPr>
      </p:pic>
      <p:pic>
        <p:nvPicPr>
          <p:cNvPr descr="INNOWL&#10;&#10;AI 생성 콘텐츠는 정확하지 않을 수 있습니다." id="51" name="Google Shape;51;p18"/>
          <p:cNvPicPr preferRelativeResize="0"/>
          <p:nvPr/>
        </p:nvPicPr>
        <p:blipFill rotWithShape="1">
          <a:blip r:embed="rId3">
            <a:alphaModFix/>
          </a:blip>
          <a:srcRect b="0" l="0" r="0" t="0"/>
          <a:stretch/>
        </p:blipFill>
        <p:spPr>
          <a:xfrm>
            <a:off x="10017334" y="228394"/>
            <a:ext cx="1252314" cy="283982"/>
          </a:xfrm>
          <a:prstGeom prst="rect">
            <a:avLst/>
          </a:prstGeom>
          <a:noFill/>
          <a:ln>
            <a:noFill/>
          </a:ln>
        </p:spPr>
      </p:pic>
      <p:sp>
        <p:nvSpPr>
          <p:cNvPr id="52" name="Google Shape;52;p18"/>
          <p:cNvSpPr txBox="1"/>
          <p:nvPr>
            <p:ph type="title"/>
          </p:nvPr>
        </p:nvSpPr>
        <p:spPr>
          <a:xfrm>
            <a:off x="345219" y="106680"/>
            <a:ext cx="10515600" cy="574358"/>
          </a:xfrm>
          <a:prstGeom prst="rect">
            <a:avLst/>
          </a:prstGeom>
          <a:noFill/>
          <a:ln>
            <a:noFill/>
          </a:ln>
        </p:spPr>
        <p:txBody>
          <a:bodyPr anchorCtr="0" anchor="ctr" bIns="45700" lIns="91425" spcFirstLastPara="1" rIns="91425" wrap="square" tIns="45700">
            <a:noAutofit/>
          </a:bodyPr>
          <a:lstStyle>
            <a:lvl1pPr lvl="0" algn="l">
              <a:lnSpc>
                <a:spcPct val="90000"/>
              </a:lnSpc>
              <a:spcBef>
                <a:spcPts val="0"/>
              </a:spcBef>
              <a:spcAft>
                <a:spcPts val="0"/>
              </a:spcAft>
              <a:buClr>
                <a:schemeClr val="lt1"/>
              </a:buClr>
              <a:buSzPts val="2800"/>
              <a:buFont typeface="Malgun Gothic"/>
              <a:buNone/>
              <a:defRPr sz="2800">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제목만">
  <p:cSld name="제목만">
    <p:spTree>
      <p:nvGrpSpPr>
        <p:cNvPr id="53" name="Shape 53"/>
        <p:cNvGrpSpPr/>
        <p:nvPr/>
      </p:nvGrpSpPr>
      <p:grpSpPr>
        <a:xfrm>
          <a:off x="0" y="0"/>
          <a:ext cx="0" cy="0"/>
          <a:chOff x="0" y="0"/>
          <a:chExt cx="0" cy="0"/>
        </a:xfrm>
      </p:grpSpPr>
      <p:sp>
        <p:nvSpPr>
          <p:cNvPr id="54" name="Google Shape;54;p19"/>
          <p:cNvSpPr/>
          <p:nvPr/>
        </p:nvSpPr>
        <p:spPr>
          <a:xfrm>
            <a:off x="0" y="0"/>
            <a:ext cx="12192000" cy="681037"/>
          </a:xfrm>
          <a:prstGeom prst="rect">
            <a:avLst/>
          </a:prstGeom>
          <a:solidFill>
            <a:srgbClr val="002632"/>
          </a:solidFill>
          <a:ln cap="flat" cmpd="sng" w="19050">
            <a:solidFill>
              <a:srgbClr val="003E3B"/>
            </a:solidFill>
            <a:prstDash val="solid"/>
            <a:miter lim="8000"/>
            <a:headEnd len="sm" w="sm" type="none"/>
            <a:tailEnd len="sm" w="sm" type="none"/>
          </a:ln>
          <a:effectLst>
            <a:outerShdw blurRad="50800" rotWithShape="0" algn="t" dir="5400000" dist="25400">
              <a:srgbClr val="000000">
                <a:alpha val="70196"/>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Malgun Gothic"/>
              <a:ea typeface="Malgun Gothic"/>
              <a:cs typeface="Malgun Gothic"/>
              <a:sym typeface="Malgun Gothic"/>
            </a:endParaRPr>
          </a:p>
        </p:txBody>
      </p:sp>
      <p:sp>
        <p:nvSpPr>
          <p:cNvPr id="55" name="Google Shape;55;p19"/>
          <p:cNvSpPr txBox="1"/>
          <p:nvPr>
            <p:ph type="title"/>
          </p:nvPr>
        </p:nvSpPr>
        <p:spPr>
          <a:xfrm>
            <a:off x="345219" y="106680"/>
            <a:ext cx="10515600" cy="574358"/>
          </a:xfrm>
          <a:prstGeom prst="rect">
            <a:avLst/>
          </a:prstGeom>
          <a:noFill/>
          <a:ln>
            <a:noFill/>
          </a:ln>
        </p:spPr>
        <p:txBody>
          <a:bodyPr anchorCtr="0" anchor="ctr" bIns="45700" lIns="91425" spcFirstLastPara="1" rIns="91425" wrap="square" tIns="45700">
            <a:noAutofit/>
          </a:bodyPr>
          <a:lstStyle>
            <a:lvl1pPr lvl="0" algn="l">
              <a:lnSpc>
                <a:spcPct val="90000"/>
              </a:lnSpc>
              <a:spcBef>
                <a:spcPts val="0"/>
              </a:spcBef>
              <a:spcAft>
                <a:spcPts val="0"/>
              </a:spcAft>
              <a:buClr>
                <a:schemeClr val="lt1"/>
              </a:buClr>
              <a:buSzPts val="2800"/>
              <a:buFont typeface="Malgun Gothic"/>
              <a:buNone/>
              <a:defRPr sz="2800">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19"/>
          <p:cNvSpPr/>
          <p:nvPr/>
        </p:nvSpPr>
        <p:spPr>
          <a:xfrm>
            <a:off x="0" y="6583680"/>
            <a:ext cx="12192000" cy="274320"/>
          </a:xfrm>
          <a:prstGeom prst="rect">
            <a:avLst/>
          </a:prstGeom>
          <a:solidFill>
            <a:srgbClr val="002632"/>
          </a:solidFill>
          <a:ln cap="flat" cmpd="sng" w="19050">
            <a:solidFill>
              <a:srgbClr val="003E3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Malgun Gothic"/>
              <a:ea typeface="Malgun Gothic"/>
              <a:cs typeface="Malgun Gothic"/>
              <a:sym typeface="Malgun Gothic"/>
            </a:endParaRPr>
          </a:p>
        </p:txBody>
      </p:sp>
      <p:sp>
        <p:nvSpPr>
          <p:cNvPr id="57" name="Google Shape;57;p19"/>
          <p:cNvSpPr txBox="1"/>
          <p:nvPr>
            <p:ph idx="10" type="dt"/>
          </p:nvPr>
        </p:nvSpPr>
        <p:spPr>
          <a:xfrm>
            <a:off x="408829" y="6592184"/>
            <a:ext cx="2743200"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sz="1100">
                <a:solidFill>
                  <a:schemeClr val="lt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19"/>
          <p:cNvSpPr txBox="1"/>
          <p:nvPr>
            <p:ph idx="11" type="ftr"/>
          </p:nvPr>
        </p:nvSpPr>
        <p:spPr>
          <a:xfrm>
            <a:off x="4038600" y="6592184"/>
            <a:ext cx="4114800" cy="274320"/>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sz="1100">
                <a:solidFill>
                  <a:schemeClr val="lt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9" name="Google Shape;59;p19"/>
          <p:cNvSpPr txBox="1"/>
          <p:nvPr>
            <p:ph idx="12" type="sldNum"/>
          </p:nvPr>
        </p:nvSpPr>
        <p:spPr>
          <a:xfrm>
            <a:off x="9039971" y="6592184"/>
            <a:ext cx="2743200" cy="257312"/>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b="0" i="0" sz="1100" u="none" cap="none" strike="noStrike">
                <a:solidFill>
                  <a:schemeClr val="lt1"/>
                </a:solidFill>
                <a:latin typeface="Malgun Gothic"/>
                <a:ea typeface="Malgun Gothic"/>
                <a:cs typeface="Malgun Gothic"/>
                <a:sym typeface="Malgun Gothic"/>
              </a:defRPr>
            </a:lvl1pPr>
            <a:lvl2pPr indent="0" lvl="1" marL="0" algn="r">
              <a:spcBef>
                <a:spcPts val="0"/>
              </a:spcBef>
              <a:buNone/>
              <a:defRPr b="0" i="0" sz="1100" u="none" cap="none" strike="noStrike">
                <a:solidFill>
                  <a:schemeClr val="lt1"/>
                </a:solidFill>
                <a:latin typeface="Malgun Gothic"/>
                <a:ea typeface="Malgun Gothic"/>
                <a:cs typeface="Malgun Gothic"/>
                <a:sym typeface="Malgun Gothic"/>
              </a:defRPr>
            </a:lvl2pPr>
            <a:lvl3pPr indent="0" lvl="2" marL="0" algn="r">
              <a:spcBef>
                <a:spcPts val="0"/>
              </a:spcBef>
              <a:buNone/>
              <a:defRPr b="0" i="0" sz="1100" u="none" cap="none" strike="noStrike">
                <a:solidFill>
                  <a:schemeClr val="lt1"/>
                </a:solidFill>
                <a:latin typeface="Malgun Gothic"/>
                <a:ea typeface="Malgun Gothic"/>
                <a:cs typeface="Malgun Gothic"/>
                <a:sym typeface="Malgun Gothic"/>
              </a:defRPr>
            </a:lvl3pPr>
            <a:lvl4pPr indent="0" lvl="3" marL="0" algn="r">
              <a:spcBef>
                <a:spcPts val="0"/>
              </a:spcBef>
              <a:buNone/>
              <a:defRPr b="0" i="0" sz="1100" u="none" cap="none" strike="noStrike">
                <a:solidFill>
                  <a:schemeClr val="lt1"/>
                </a:solidFill>
                <a:latin typeface="Malgun Gothic"/>
                <a:ea typeface="Malgun Gothic"/>
                <a:cs typeface="Malgun Gothic"/>
                <a:sym typeface="Malgun Gothic"/>
              </a:defRPr>
            </a:lvl4pPr>
            <a:lvl5pPr indent="0" lvl="4" marL="0" algn="r">
              <a:spcBef>
                <a:spcPts val="0"/>
              </a:spcBef>
              <a:buNone/>
              <a:defRPr b="0" i="0" sz="1100" u="none" cap="none" strike="noStrike">
                <a:solidFill>
                  <a:schemeClr val="lt1"/>
                </a:solidFill>
                <a:latin typeface="Malgun Gothic"/>
                <a:ea typeface="Malgun Gothic"/>
                <a:cs typeface="Malgun Gothic"/>
                <a:sym typeface="Malgun Gothic"/>
              </a:defRPr>
            </a:lvl5pPr>
            <a:lvl6pPr indent="0" lvl="5" marL="0" algn="r">
              <a:spcBef>
                <a:spcPts val="0"/>
              </a:spcBef>
              <a:buNone/>
              <a:defRPr b="0" i="0" sz="1100" u="none" cap="none" strike="noStrike">
                <a:solidFill>
                  <a:schemeClr val="lt1"/>
                </a:solidFill>
                <a:latin typeface="Malgun Gothic"/>
                <a:ea typeface="Malgun Gothic"/>
                <a:cs typeface="Malgun Gothic"/>
                <a:sym typeface="Malgun Gothic"/>
              </a:defRPr>
            </a:lvl6pPr>
            <a:lvl7pPr indent="0" lvl="6" marL="0" algn="r">
              <a:spcBef>
                <a:spcPts val="0"/>
              </a:spcBef>
              <a:buNone/>
              <a:defRPr b="0" i="0" sz="1100" u="none" cap="none" strike="noStrike">
                <a:solidFill>
                  <a:schemeClr val="lt1"/>
                </a:solidFill>
                <a:latin typeface="Malgun Gothic"/>
                <a:ea typeface="Malgun Gothic"/>
                <a:cs typeface="Malgun Gothic"/>
                <a:sym typeface="Malgun Gothic"/>
              </a:defRPr>
            </a:lvl7pPr>
            <a:lvl8pPr indent="0" lvl="7" marL="0" algn="r">
              <a:spcBef>
                <a:spcPts val="0"/>
              </a:spcBef>
              <a:buNone/>
              <a:defRPr b="0" i="0" sz="1100" u="none" cap="none" strike="noStrike">
                <a:solidFill>
                  <a:schemeClr val="lt1"/>
                </a:solidFill>
                <a:latin typeface="Malgun Gothic"/>
                <a:ea typeface="Malgun Gothic"/>
                <a:cs typeface="Malgun Gothic"/>
                <a:sym typeface="Malgun Gothic"/>
              </a:defRPr>
            </a:lvl8pPr>
            <a:lvl9pPr indent="0" lvl="8" marL="0" algn="r">
              <a:spcBef>
                <a:spcPts val="0"/>
              </a:spcBef>
              <a:buNone/>
              <a:defRPr b="0" i="0" sz="1100" u="none" cap="none" strike="noStrike">
                <a:solidFill>
                  <a:schemeClr val="lt1"/>
                </a:solidFill>
                <a:latin typeface="Malgun Gothic"/>
                <a:ea typeface="Malgun Gothic"/>
                <a:cs typeface="Malgun Gothic"/>
                <a:sym typeface="Malgun Gothic"/>
              </a:defRPr>
            </a:lvl9pPr>
          </a:lstStyle>
          <a:p>
            <a:pPr indent="0" lvl="0" marL="0" rtl="0" algn="r">
              <a:spcBef>
                <a:spcPts val="0"/>
              </a:spcBef>
              <a:spcAft>
                <a:spcPts val="0"/>
              </a:spcAft>
              <a:buNone/>
            </a:pPr>
            <a:fld id="{00000000-1234-1234-1234-123412341234}" type="slidenum">
              <a:rPr lang="ko-KR"/>
              <a:t>‹#›</a:t>
            </a:fld>
            <a:endParaRPr/>
          </a:p>
        </p:txBody>
      </p:sp>
      <p:pic>
        <p:nvPicPr>
          <p:cNvPr descr="The image depicts a stylized, colorful, winged creature with a spiral pattern, surrounded by a minimalistic, abstract molecular structure.&#10;&#10;AI 생성 콘텐츠는 정확하지 않을 수 있습니다." id="60" name="Google Shape;60;p19"/>
          <p:cNvPicPr preferRelativeResize="0"/>
          <p:nvPr/>
        </p:nvPicPr>
        <p:blipFill rotWithShape="1">
          <a:blip r:embed="rId2">
            <a:alphaModFix/>
          </a:blip>
          <a:srcRect b="0" l="0" r="0" t="0"/>
          <a:stretch/>
        </p:blipFill>
        <p:spPr>
          <a:xfrm>
            <a:off x="11290190" y="160421"/>
            <a:ext cx="600999" cy="351955"/>
          </a:xfrm>
          <a:prstGeom prst="rect">
            <a:avLst/>
          </a:prstGeom>
          <a:noFill/>
          <a:ln>
            <a:noFill/>
          </a:ln>
        </p:spPr>
      </p:pic>
      <p:pic>
        <p:nvPicPr>
          <p:cNvPr descr="INNOWL&#10;&#10;AI 생성 콘텐츠는 정확하지 않을 수 있습니다." id="61" name="Google Shape;61;p19"/>
          <p:cNvPicPr preferRelativeResize="0"/>
          <p:nvPr/>
        </p:nvPicPr>
        <p:blipFill rotWithShape="1">
          <a:blip r:embed="rId3">
            <a:alphaModFix/>
          </a:blip>
          <a:srcRect b="0" l="0" r="0" t="0"/>
          <a:stretch/>
        </p:blipFill>
        <p:spPr>
          <a:xfrm>
            <a:off x="10017334" y="228394"/>
            <a:ext cx="1252314" cy="283982"/>
          </a:xfrm>
          <a:prstGeom prst="rect">
            <a:avLst/>
          </a:prstGeom>
          <a:noFill/>
          <a:ln>
            <a:noFill/>
          </a:ln>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빈 화면" type="blank">
  <p:cSld name="BLANK">
    <p:spTree>
      <p:nvGrpSpPr>
        <p:cNvPr id="62" name="Shape 62"/>
        <p:cNvGrpSpPr/>
        <p:nvPr/>
      </p:nvGrpSpPr>
      <p:grpSpPr>
        <a:xfrm>
          <a:off x="0" y="0"/>
          <a:ext cx="0" cy="0"/>
          <a:chOff x="0" y="0"/>
          <a:chExt cx="0" cy="0"/>
        </a:xfrm>
      </p:grpSpPr>
      <p:sp>
        <p:nvSpPr>
          <p:cNvPr id="63" name="Google Shape;63;p20"/>
          <p:cNvSpPr/>
          <p:nvPr/>
        </p:nvSpPr>
        <p:spPr>
          <a:xfrm>
            <a:off x="0" y="6583680"/>
            <a:ext cx="12192000" cy="274320"/>
          </a:xfrm>
          <a:prstGeom prst="rect">
            <a:avLst/>
          </a:prstGeom>
          <a:solidFill>
            <a:srgbClr val="002632"/>
          </a:solidFill>
          <a:ln cap="flat" cmpd="sng" w="19050">
            <a:solidFill>
              <a:srgbClr val="003E3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Malgun Gothic"/>
              <a:ea typeface="Malgun Gothic"/>
              <a:cs typeface="Malgun Gothic"/>
              <a:sym typeface="Malgun Gothic"/>
            </a:endParaRPr>
          </a:p>
        </p:txBody>
      </p:sp>
      <p:sp>
        <p:nvSpPr>
          <p:cNvPr id="64" name="Google Shape;64;p20"/>
          <p:cNvSpPr txBox="1"/>
          <p:nvPr>
            <p:ph idx="10" type="dt"/>
          </p:nvPr>
        </p:nvSpPr>
        <p:spPr>
          <a:xfrm>
            <a:off x="408829" y="6592184"/>
            <a:ext cx="2743200"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sz="1100">
                <a:solidFill>
                  <a:schemeClr val="lt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5" name="Google Shape;65;p20"/>
          <p:cNvSpPr txBox="1"/>
          <p:nvPr>
            <p:ph idx="11" type="ftr"/>
          </p:nvPr>
        </p:nvSpPr>
        <p:spPr>
          <a:xfrm>
            <a:off x="4038600" y="6592184"/>
            <a:ext cx="4114800" cy="274320"/>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sz="1100">
                <a:solidFill>
                  <a:schemeClr val="lt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6" name="Google Shape;66;p20"/>
          <p:cNvSpPr txBox="1"/>
          <p:nvPr>
            <p:ph idx="12" type="sldNum"/>
          </p:nvPr>
        </p:nvSpPr>
        <p:spPr>
          <a:xfrm>
            <a:off x="9039971" y="6592184"/>
            <a:ext cx="2743200" cy="257312"/>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b="0" i="0" sz="1100" u="none" cap="none" strike="noStrike">
                <a:solidFill>
                  <a:schemeClr val="lt1"/>
                </a:solidFill>
                <a:latin typeface="Malgun Gothic"/>
                <a:ea typeface="Malgun Gothic"/>
                <a:cs typeface="Malgun Gothic"/>
                <a:sym typeface="Malgun Gothic"/>
              </a:defRPr>
            </a:lvl1pPr>
            <a:lvl2pPr indent="0" lvl="1" marL="0" algn="r">
              <a:spcBef>
                <a:spcPts val="0"/>
              </a:spcBef>
              <a:buNone/>
              <a:defRPr b="0" i="0" sz="1100" u="none" cap="none" strike="noStrike">
                <a:solidFill>
                  <a:schemeClr val="lt1"/>
                </a:solidFill>
                <a:latin typeface="Malgun Gothic"/>
                <a:ea typeface="Malgun Gothic"/>
                <a:cs typeface="Malgun Gothic"/>
                <a:sym typeface="Malgun Gothic"/>
              </a:defRPr>
            </a:lvl2pPr>
            <a:lvl3pPr indent="0" lvl="2" marL="0" algn="r">
              <a:spcBef>
                <a:spcPts val="0"/>
              </a:spcBef>
              <a:buNone/>
              <a:defRPr b="0" i="0" sz="1100" u="none" cap="none" strike="noStrike">
                <a:solidFill>
                  <a:schemeClr val="lt1"/>
                </a:solidFill>
                <a:latin typeface="Malgun Gothic"/>
                <a:ea typeface="Malgun Gothic"/>
                <a:cs typeface="Malgun Gothic"/>
                <a:sym typeface="Malgun Gothic"/>
              </a:defRPr>
            </a:lvl3pPr>
            <a:lvl4pPr indent="0" lvl="3" marL="0" algn="r">
              <a:spcBef>
                <a:spcPts val="0"/>
              </a:spcBef>
              <a:buNone/>
              <a:defRPr b="0" i="0" sz="1100" u="none" cap="none" strike="noStrike">
                <a:solidFill>
                  <a:schemeClr val="lt1"/>
                </a:solidFill>
                <a:latin typeface="Malgun Gothic"/>
                <a:ea typeface="Malgun Gothic"/>
                <a:cs typeface="Malgun Gothic"/>
                <a:sym typeface="Malgun Gothic"/>
              </a:defRPr>
            </a:lvl4pPr>
            <a:lvl5pPr indent="0" lvl="4" marL="0" algn="r">
              <a:spcBef>
                <a:spcPts val="0"/>
              </a:spcBef>
              <a:buNone/>
              <a:defRPr b="0" i="0" sz="1100" u="none" cap="none" strike="noStrike">
                <a:solidFill>
                  <a:schemeClr val="lt1"/>
                </a:solidFill>
                <a:latin typeface="Malgun Gothic"/>
                <a:ea typeface="Malgun Gothic"/>
                <a:cs typeface="Malgun Gothic"/>
                <a:sym typeface="Malgun Gothic"/>
              </a:defRPr>
            </a:lvl5pPr>
            <a:lvl6pPr indent="0" lvl="5" marL="0" algn="r">
              <a:spcBef>
                <a:spcPts val="0"/>
              </a:spcBef>
              <a:buNone/>
              <a:defRPr b="0" i="0" sz="1100" u="none" cap="none" strike="noStrike">
                <a:solidFill>
                  <a:schemeClr val="lt1"/>
                </a:solidFill>
                <a:latin typeface="Malgun Gothic"/>
                <a:ea typeface="Malgun Gothic"/>
                <a:cs typeface="Malgun Gothic"/>
                <a:sym typeface="Malgun Gothic"/>
              </a:defRPr>
            </a:lvl6pPr>
            <a:lvl7pPr indent="0" lvl="6" marL="0" algn="r">
              <a:spcBef>
                <a:spcPts val="0"/>
              </a:spcBef>
              <a:buNone/>
              <a:defRPr b="0" i="0" sz="1100" u="none" cap="none" strike="noStrike">
                <a:solidFill>
                  <a:schemeClr val="lt1"/>
                </a:solidFill>
                <a:latin typeface="Malgun Gothic"/>
                <a:ea typeface="Malgun Gothic"/>
                <a:cs typeface="Malgun Gothic"/>
                <a:sym typeface="Malgun Gothic"/>
              </a:defRPr>
            </a:lvl7pPr>
            <a:lvl8pPr indent="0" lvl="7" marL="0" algn="r">
              <a:spcBef>
                <a:spcPts val="0"/>
              </a:spcBef>
              <a:buNone/>
              <a:defRPr b="0" i="0" sz="1100" u="none" cap="none" strike="noStrike">
                <a:solidFill>
                  <a:schemeClr val="lt1"/>
                </a:solidFill>
                <a:latin typeface="Malgun Gothic"/>
                <a:ea typeface="Malgun Gothic"/>
                <a:cs typeface="Malgun Gothic"/>
                <a:sym typeface="Malgun Gothic"/>
              </a:defRPr>
            </a:lvl8pPr>
            <a:lvl9pPr indent="0" lvl="8" marL="0" algn="r">
              <a:spcBef>
                <a:spcPts val="0"/>
              </a:spcBef>
              <a:buNone/>
              <a:defRPr b="0" i="0" sz="1100" u="none" cap="none" strike="noStrike">
                <a:solidFill>
                  <a:schemeClr val="lt1"/>
                </a:solidFill>
                <a:latin typeface="Malgun Gothic"/>
                <a:ea typeface="Malgun Gothic"/>
                <a:cs typeface="Malgun Gothic"/>
                <a:sym typeface="Malgun Gothic"/>
              </a:defRPr>
            </a:lvl9pPr>
          </a:lstStyle>
          <a:p>
            <a:pPr indent="0" lvl="0" marL="0" rtl="0" algn="r">
              <a:spcBef>
                <a:spcPts val="0"/>
              </a:spcBef>
              <a:spcAft>
                <a:spcPts val="0"/>
              </a:spcAft>
              <a:buNone/>
            </a:pPr>
            <a:fld id="{00000000-1234-1234-1234-123412341234}" type="slidenum">
              <a:rPr lang="ko-KR"/>
              <a:t>‹#›</a:t>
            </a:fld>
            <a:endParaRPr/>
          </a:p>
        </p:txBody>
      </p:sp>
      <p:pic>
        <p:nvPicPr>
          <p:cNvPr descr="The image depicts a stylized, colorful, winged creature with a spiral pattern, surrounded by a minimalistic, abstract molecular structure.&#10;&#10;AI 생성 콘텐츠는 정확하지 않을 수 있습니다." id="67" name="Google Shape;67;p20"/>
          <p:cNvPicPr preferRelativeResize="0"/>
          <p:nvPr/>
        </p:nvPicPr>
        <p:blipFill rotWithShape="1">
          <a:blip r:embed="rId2">
            <a:alphaModFix/>
          </a:blip>
          <a:srcRect b="0" l="0" r="0" t="0"/>
          <a:stretch/>
        </p:blipFill>
        <p:spPr>
          <a:xfrm>
            <a:off x="11290190" y="160421"/>
            <a:ext cx="600999" cy="351955"/>
          </a:xfrm>
          <a:prstGeom prst="rect">
            <a:avLst/>
          </a:prstGeom>
          <a:noFill/>
          <a:ln>
            <a:noFill/>
          </a:ln>
        </p:spPr>
      </p:pic>
      <p:pic>
        <p:nvPicPr>
          <p:cNvPr descr="INNOWL&#10;&#10;AI 생성 콘텐츠는 정확하지 않을 수 있습니다." id="68" name="Google Shape;68;p20"/>
          <p:cNvPicPr preferRelativeResize="0"/>
          <p:nvPr/>
        </p:nvPicPr>
        <p:blipFill rotWithShape="1">
          <a:blip r:embed="rId3">
            <a:alphaModFix/>
          </a:blip>
          <a:srcRect b="0" l="0" r="0" t="0"/>
          <a:stretch/>
        </p:blipFill>
        <p:spPr>
          <a:xfrm>
            <a:off x="10017334" y="228394"/>
            <a:ext cx="1252314" cy="283982"/>
          </a:xfrm>
          <a:prstGeom prst="rect">
            <a:avLst/>
          </a:prstGeom>
          <a:noFill/>
          <a:ln>
            <a:noFill/>
          </a:ln>
        </p:spPr>
      </p:pic>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
        <p:nvSpPr>
          <p:cNvPr id="10" name="Google Shape;10;p14"/>
          <p:cNvSpPr txBox="1"/>
          <p:nvPr>
            <p:ph type="title"/>
          </p:nvPr>
        </p:nvSpPr>
        <p:spPr>
          <a:xfrm>
            <a:off x="838200" y="365125"/>
            <a:ext cx="10515600" cy="1325563"/>
          </a:xfrm>
          <a:prstGeom prst="rect">
            <a:avLst/>
          </a:prstGeom>
          <a:noFill/>
          <a:ln>
            <a:noFill/>
          </a:ln>
        </p:spPr>
        <p:txBody>
          <a:bodyPr anchorCtr="0" anchor="ctr" bIns="45700" lIns="91425" spcFirstLastPara="1" rIns="91425" wrap="square" tIns="45700">
            <a:normAutofit/>
          </a:bodyPr>
          <a:lstStyle>
            <a:lvl1pPr lvl="0" marR="0" rtl="0" algn="l">
              <a:lnSpc>
                <a:spcPct val="90000"/>
              </a:lnSpc>
              <a:spcBef>
                <a:spcPts val="0"/>
              </a:spcBef>
              <a:spcAft>
                <a:spcPts val="0"/>
              </a:spcAft>
              <a:buClr>
                <a:schemeClr val="dk1"/>
              </a:buClr>
              <a:buSzPts val="4400"/>
              <a:buFont typeface="Malgun Gothic"/>
              <a:buNone/>
              <a:defRPr b="1" i="0" sz="4400" u="none" cap="none" strike="noStrike">
                <a:solidFill>
                  <a:schemeClr val="dk1"/>
                </a:solidFill>
                <a:latin typeface="Malgun Gothic"/>
                <a:ea typeface="Malgun Gothic"/>
                <a:cs typeface="Malgun Gothic"/>
                <a:sym typeface="Malgun Gothic"/>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4"/>
          <p:cNvSpPr txBox="1"/>
          <p:nvPr>
            <p:ph idx="1" type="body"/>
          </p:nvPr>
        </p:nvSpPr>
        <p:spPr>
          <a:xfrm>
            <a:off x="838200" y="1825625"/>
            <a:ext cx="10515600" cy="4351338"/>
          </a:xfrm>
          <a:prstGeom prst="rect">
            <a:avLst/>
          </a:prstGeom>
          <a:noFill/>
          <a:ln>
            <a:noFill/>
          </a:ln>
        </p:spPr>
        <p:txBody>
          <a:bodyPr anchorCtr="0" anchor="t" bIns="45700" lIns="91425" spcFirstLastPara="1" rIns="91425" wrap="square" tIns="45700">
            <a:normAutofit/>
          </a:bodyPr>
          <a:lstStyle>
            <a:lvl1pPr indent="-355600" lvl="0" marL="457200" marR="0" rtl="0" algn="l">
              <a:lnSpc>
                <a:spcPct val="90000"/>
              </a:lnSpc>
              <a:spcBef>
                <a:spcPts val="1000"/>
              </a:spcBef>
              <a:spcAft>
                <a:spcPts val="0"/>
              </a:spcAft>
              <a:buClr>
                <a:schemeClr val="dk1"/>
              </a:buClr>
              <a:buSzPts val="2000"/>
              <a:buFont typeface="Arial"/>
              <a:buChar char="•"/>
              <a:defRPr b="0" i="0" sz="2000" u="none" cap="none" strike="noStrike">
                <a:solidFill>
                  <a:schemeClr val="dk1"/>
                </a:solidFill>
                <a:latin typeface="Malgun Gothic"/>
                <a:ea typeface="Malgun Gothic"/>
                <a:cs typeface="Malgun Gothic"/>
                <a:sym typeface="Malgun Gothic"/>
              </a:defRPr>
            </a:lvl1pPr>
            <a:lvl2pPr indent="-342900" lvl="1" marL="914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Malgun Gothic"/>
                <a:ea typeface="Malgun Gothic"/>
                <a:cs typeface="Malgun Gothic"/>
                <a:sym typeface="Malgun Gothic"/>
              </a:defRPr>
            </a:lvl2pPr>
            <a:lvl3pPr indent="-330200" lvl="2" marL="1371600" marR="0" rtl="0" algn="l">
              <a:lnSpc>
                <a:spcPct val="90000"/>
              </a:lnSpc>
              <a:spcBef>
                <a:spcPts val="500"/>
              </a:spcBef>
              <a:spcAft>
                <a:spcPts val="0"/>
              </a:spcAft>
              <a:buClr>
                <a:schemeClr val="dk1"/>
              </a:buClr>
              <a:buSzPts val="1600"/>
              <a:buFont typeface="Arial"/>
              <a:buChar char="•"/>
              <a:defRPr b="0" i="0" sz="1600" u="none" cap="none" strike="noStrike">
                <a:solidFill>
                  <a:schemeClr val="dk1"/>
                </a:solidFill>
                <a:latin typeface="Malgun Gothic"/>
                <a:ea typeface="Malgun Gothic"/>
                <a:cs typeface="Malgun Gothic"/>
                <a:sym typeface="Malgun Gothic"/>
              </a:defRPr>
            </a:lvl3pPr>
            <a:lvl4pPr indent="-317500" lvl="3" marL="1828800" marR="0" rtl="0" algn="l">
              <a:lnSpc>
                <a:spcPct val="90000"/>
              </a:lnSpc>
              <a:spcBef>
                <a:spcPts val="500"/>
              </a:spcBef>
              <a:spcAft>
                <a:spcPts val="0"/>
              </a:spcAft>
              <a:buClr>
                <a:schemeClr val="dk1"/>
              </a:buClr>
              <a:buSzPts val="1400"/>
              <a:buFont typeface="Arial"/>
              <a:buChar char="•"/>
              <a:defRPr b="0" i="0" sz="1400" u="none" cap="none" strike="noStrike">
                <a:solidFill>
                  <a:schemeClr val="dk1"/>
                </a:solidFill>
                <a:latin typeface="Malgun Gothic"/>
                <a:ea typeface="Malgun Gothic"/>
                <a:cs typeface="Malgun Gothic"/>
                <a:sym typeface="Malgun Gothic"/>
              </a:defRPr>
            </a:lvl4pPr>
            <a:lvl5pPr indent="-317500" lvl="4" marL="2286000" marR="0" rtl="0" algn="l">
              <a:lnSpc>
                <a:spcPct val="90000"/>
              </a:lnSpc>
              <a:spcBef>
                <a:spcPts val="500"/>
              </a:spcBef>
              <a:spcAft>
                <a:spcPts val="0"/>
              </a:spcAft>
              <a:buClr>
                <a:schemeClr val="dk1"/>
              </a:buClr>
              <a:buSzPts val="1400"/>
              <a:buFont typeface="Arial"/>
              <a:buChar char="•"/>
              <a:defRPr b="0" i="0" sz="1400" u="none" cap="none" strike="noStrike">
                <a:solidFill>
                  <a:schemeClr val="dk1"/>
                </a:solidFill>
                <a:latin typeface="Malgun Gothic"/>
                <a:ea typeface="Malgun Gothic"/>
                <a:cs typeface="Malgun Gothic"/>
                <a:sym typeface="Malgun Gothic"/>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Malgun Gothic"/>
                <a:ea typeface="Malgun Gothic"/>
                <a:cs typeface="Malgun Gothic"/>
                <a:sym typeface="Malgun Gothic"/>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Malgun Gothic"/>
                <a:ea typeface="Malgun Gothic"/>
                <a:cs typeface="Malgun Gothic"/>
                <a:sym typeface="Malgun Gothic"/>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Malgun Gothic"/>
                <a:ea typeface="Malgun Gothic"/>
                <a:cs typeface="Malgun Gothic"/>
                <a:sym typeface="Malgun Gothic"/>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Malgun Gothic"/>
                <a:ea typeface="Malgun Gothic"/>
                <a:cs typeface="Malgun Gothic"/>
                <a:sym typeface="Malgun Gothic"/>
              </a:defRPr>
            </a:lvl9pPr>
          </a:lstStyle>
          <a:p/>
        </p:txBody>
      </p:sp>
      <p:sp>
        <p:nvSpPr>
          <p:cNvPr id="12" name="Google Shape;12;p14"/>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200" u="none" cap="none" strike="noStrike">
                <a:solidFill>
                  <a:srgbClr val="757575"/>
                </a:solidFill>
                <a:latin typeface="Malgun Gothic"/>
                <a:ea typeface="Malgun Gothic"/>
                <a:cs typeface="Malgun Gothic"/>
                <a:sym typeface="Malgun Gothic"/>
              </a:defRPr>
            </a:lvl1pPr>
            <a:lvl2pPr lvl="1"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2pPr>
            <a:lvl3pPr lvl="2"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3pPr>
            <a:lvl4pPr lvl="3"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4pPr>
            <a:lvl5pPr lvl="4"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5pPr>
            <a:lvl6pPr lvl="5"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6pPr>
            <a:lvl7pPr lvl="6"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7pPr>
            <a:lvl8pPr lvl="7"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8pPr>
            <a:lvl9pPr lvl="8"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9pPr>
          </a:lstStyle>
          <a:p/>
        </p:txBody>
      </p:sp>
      <p:sp>
        <p:nvSpPr>
          <p:cNvPr id="13" name="Google Shape;13;p14"/>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marR="0" rtl="0" algn="ctr">
              <a:spcBef>
                <a:spcPts val="0"/>
              </a:spcBef>
              <a:spcAft>
                <a:spcPts val="0"/>
              </a:spcAft>
              <a:buSzPts val="1400"/>
              <a:buNone/>
              <a:defRPr b="0" i="0" sz="1200" u="none" cap="none" strike="noStrike">
                <a:solidFill>
                  <a:srgbClr val="757575"/>
                </a:solidFill>
                <a:latin typeface="Malgun Gothic"/>
                <a:ea typeface="Malgun Gothic"/>
                <a:cs typeface="Malgun Gothic"/>
                <a:sym typeface="Malgun Gothic"/>
              </a:defRPr>
            </a:lvl1pPr>
            <a:lvl2pPr lvl="1"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2pPr>
            <a:lvl3pPr lvl="2"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3pPr>
            <a:lvl4pPr lvl="3"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4pPr>
            <a:lvl5pPr lvl="4"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5pPr>
            <a:lvl6pPr lvl="5"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6pPr>
            <a:lvl7pPr lvl="6"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7pPr>
            <a:lvl8pPr lvl="7"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8pPr>
            <a:lvl9pPr lvl="8"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9pPr>
          </a:lstStyle>
          <a:p/>
        </p:txBody>
      </p:sp>
      <p:sp>
        <p:nvSpPr>
          <p:cNvPr id="14" name="Google Shape;14;p14"/>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marR="0" rtl="0" algn="r">
              <a:spcBef>
                <a:spcPts val="0"/>
              </a:spcBef>
              <a:buNone/>
              <a:defRPr b="0" i="0" sz="1200" u="none" cap="none" strike="noStrike">
                <a:solidFill>
                  <a:srgbClr val="757575"/>
                </a:solidFill>
                <a:latin typeface="Malgun Gothic"/>
                <a:ea typeface="Malgun Gothic"/>
                <a:cs typeface="Malgun Gothic"/>
                <a:sym typeface="Malgun Gothic"/>
              </a:defRPr>
            </a:lvl1pPr>
            <a:lvl2pPr indent="0" lvl="1" marL="0" marR="0" rtl="0" algn="r">
              <a:spcBef>
                <a:spcPts val="0"/>
              </a:spcBef>
              <a:buNone/>
              <a:defRPr b="0" i="0" sz="1200" u="none" cap="none" strike="noStrike">
                <a:solidFill>
                  <a:srgbClr val="757575"/>
                </a:solidFill>
                <a:latin typeface="Malgun Gothic"/>
                <a:ea typeface="Malgun Gothic"/>
                <a:cs typeface="Malgun Gothic"/>
                <a:sym typeface="Malgun Gothic"/>
              </a:defRPr>
            </a:lvl2pPr>
            <a:lvl3pPr indent="0" lvl="2" marL="0" marR="0" rtl="0" algn="r">
              <a:spcBef>
                <a:spcPts val="0"/>
              </a:spcBef>
              <a:buNone/>
              <a:defRPr b="0" i="0" sz="1200" u="none" cap="none" strike="noStrike">
                <a:solidFill>
                  <a:srgbClr val="757575"/>
                </a:solidFill>
                <a:latin typeface="Malgun Gothic"/>
                <a:ea typeface="Malgun Gothic"/>
                <a:cs typeface="Malgun Gothic"/>
                <a:sym typeface="Malgun Gothic"/>
              </a:defRPr>
            </a:lvl3pPr>
            <a:lvl4pPr indent="0" lvl="3" marL="0" marR="0" rtl="0" algn="r">
              <a:spcBef>
                <a:spcPts val="0"/>
              </a:spcBef>
              <a:buNone/>
              <a:defRPr b="0" i="0" sz="1200" u="none" cap="none" strike="noStrike">
                <a:solidFill>
                  <a:srgbClr val="757575"/>
                </a:solidFill>
                <a:latin typeface="Malgun Gothic"/>
                <a:ea typeface="Malgun Gothic"/>
                <a:cs typeface="Malgun Gothic"/>
                <a:sym typeface="Malgun Gothic"/>
              </a:defRPr>
            </a:lvl4pPr>
            <a:lvl5pPr indent="0" lvl="4" marL="0" marR="0" rtl="0" algn="r">
              <a:spcBef>
                <a:spcPts val="0"/>
              </a:spcBef>
              <a:buNone/>
              <a:defRPr b="0" i="0" sz="1200" u="none" cap="none" strike="noStrike">
                <a:solidFill>
                  <a:srgbClr val="757575"/>
                </a:solidFill>
                <a:latin typeface="Malgun Gothic"/>
                <a:ea typeface="Malgun Gothic"/>
                <a:cs typeface="Malgun Gothic"/>
                <a:sym typeface="Malgun Gothic"/>
              </a:defRPr>
            </a:lvl5pPr>
            <a:lvl6pPr indent="0" lvl="5" marL="0" marR="0" rtl="0" algn="r">
              <a:spcBef>
                <a:spcPts val="0"/>
              </a:spcBef>
              <a:buNone/>
              <a:defRPr b="0" i="0" sz="1200" u="none" cap="none" strike="noStrike">
                <a:solidFill>
                  <a:srgbClr val="757575"/>
                </a:solidFill>
                <a:latin typeface="Malgun Gothic"/>
                <a:ea typeface="Malgun Gothic"/>
                <a:cs typeface="Malgun Gothic"/>
                <a:sym typeface="Malgun Gothic"/>
              </a:defRPr>
            </a:lvl6pPr>
            <a:lvl7pPr indent="0" lvl="6" marL="0" marR="0" rtl="0" algn="r">
              <a:spcBef>
                <a:spcPts val="0"/>
              </a:spcBef>
              <a:buNone/>
              <a:defRPr b="0" i="0" sz="1200" u="none" cap="none" strike="noStrike">
                <a:solidFill>
                  <a:srgbClr val="757575"/>
                </a:solidFill>
                <a:latin typeface="Malgun Gothic"/>
                <a:ea typeface="Malgun Gothic"/>
                <a:cs typeface="Malgun Gothic"/>
                <a:sym typeface="Malgun Gothic"/>
              </a:defRPr>
            </a:lvl7pPr>
            <a:lvl8pPr indent="0" lvl="7" marL="0" marR="0" rtl="0" algn="r">
              <a:spcBef>
                <a:spcPts val="0"/>
              </a:spcBef>
              <a:buNone/>
              <a:defRPr b="0" i="0" sz="1200" u="none" cap="none" strike="noStrike">
                <a:solidFill>
                  <a:srgbClr val="757575"/>
                </a:solidFill>
                <a:latin typeface="Malgun Gothic"/>
                <a:ea typeface="Malgun Gothic"/>
                <a:cs typeface="Malgun Gothic"/>
                <a:sym typeface="Malgun Gothic"/>
              </a:defRPr>
            </a:lvl8pPr>
            <a:lvl9pPr indent="0" lvl="8" marL="0" marR="0" rtl="0" algn="r">
              <a:spcBef>
                <a:spcPts val="0"/>
              </a:spcBef>
              <a:buNone/>
              <a:defRPr b="0" i="0" sz="1200" u="none" cap="none" strike="noStrike">
                <a:solidFill>
                  <a:srgbClr val="757575"/>
                </a:solidFill>
                <a:latin typeface="Malgun Gothic"/>
                <a:ea typeface="Malgun Gothic"/>
                <a:cs typeface="Malgun Gothic"/>
                <a:sym typeface="Malgun Gothic"/>
              </a:defRPr>
            </a:lvl9pPr>
          </a:lstStyle>
          <a:p>
            <a:pPr indent="0" lvl="0" marL="0" rtl="0" algn="r">
              <a:spcBef>
                <a:spcPts val="0"/>
              </a:spcBef>
              <a:spcAft>
                <a:spcPts val="0"/>
              </a:spcAft>
              <a:buNone/>
            </a:pPr>
            <a:fld id="{00000000-1234-1234-1234-123412341234}" type="slidenum">
              <a:rPr lang="ko-KR"/>
              <a:t>‹#›</a:t>
            </a:fld>
            <a:endParaRPr/>
          </a:p>
        </p:txBody>
      </p:sp>
    </p:spTree>
  </p:cSld>
  <p:clrMap accent1="accent1" accent2="accent2" accent3="accent3" accent4="accent4" accent5="accent5" accent6="accent6" bg1="lt1" bg2="dk2" tx1="dk1" tx2="lt2" folHlink="folHlink" hlink="hlink"/>
  <p:sldLayoutIdLst>
    <p:sldLayoutId id="2147483649" r:id="rId1"/>
    <p:sldLayoutId id="2147483650" r:id="rId2"/>
    <p:sldLayoutId id="2147483651" r:id="rId3"/>
    <p:sldLayoutId id="2147483652" r:id="rId4"/>
    <p:sldLayoutId id="2147483653" r:id="rId5"/>
    <p:sldLayoutId id="2147483654" r:id="rId6"/>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5.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7.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9.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0.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1.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2.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3.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4.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5.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6.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7.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8.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9.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20.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21.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22.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wrap="square"/>
          <a:lstStyle/>
          <a:p>
            <a:pPr algn="l"/>
            <a:r>
              <a:rPr sz="3200" b="1">
                <a:solidFill>
                  <a:srgbClr val="002632"/>
                </a:solidFill>
                <a:latin typeface="맑은 고딕"/>
              </a:rPr>
              <a:t>Boomingup 매매 실거래가 영향 요인 EDA</a:t>
            </a:r>
          </a:p>
        </p:txBody>
      </p:sp>
      <p:sp>
        <p:nvSpPr>
          <p:cNvPr id="3" name="Subtitle 2"/>
          <p:cNvSpPr>
            <a:spLocks noGrp="1"/>
          </p:cNvSpPr>
          <p:nvPr>
            <p:ph type="subTitle" idx="1"/>
          </p:nvPr>
        </p:nvSpPr>
        <p:spPr/>
        <p:txBody>
          <a:bodyPr wrap="square"/>
          <a:lstStyle/>
          <a:p>
            <a:pPr algn="l"/>
            <a:r>
              <a:rPr sz="1500" b="0">
                <a:solidFill>
                  <a:srgbClr val="5B6B70"/>
                </a:solidFill>
                <a:latin typeface="맑은 고딕"/>
              </a:rPr>
              <a:t>Railway Postgres 원본 데이터로 확인한 10개 축 분석 — 시간·지역·단지·입지·매물·전세·이벤트·인구</a:t>
            </a:r>
          </a:p>
        </p:txBody>
      </p:sp>
      <p:sp>
        <p:nvSpPr>
          <p:cNvPr id="4" name="TextBox 3"/>
          <p:cNvSpPr txBox="1"/>
          <p:nvPr/>
        </p:nvSpPr>
        <p:spPr>
          <a:xfrm>
            <a:off x="640080" y="1874519"/>
            <a:ext cx="9601200" cy="411480"/>
          </a:xfrm>
          <a:prstGeom prst="rect">
            <a:avLst/>
          </a:prstGeom>
          <a:noFill/>
        </p:spPr>
        <p:txBody>
          <a:bodyPr wrap="none">
            <a:spAutoFit/>
          </a:bodyPr>
          <a:lstStyle/>
          <a:p>
            <a:pPr algn="l"/>
            <a:r>
              <a:rPr sz="1500" b="1">
                <a:solidFill>
                  <a:srgbClr val="002632"/>
                </a:solidFill>
                <a:latin typeface="맑은 고딕"/>
              </a:rPr>
              <a:t>TEAM MEETING</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오늘 다룰 내용</a:t>
            </a:r>
          </a:p>
        </p:txBody>
      </p:sp>
      <p:sp>
        <p:nvSpPr>
          <p:cNvPr id="3" name="Rounded Rectangle 2"/>
          <p:cNvSpPr/>
          <p:nvPr/>
        </p:nvSpPr>
        <p:spPr>
          <a:xfrm>
            <a:off x="457200" y="896112"/>
            <a:ext cx="11277295" cy="2523744"/>
          </a:xfrm>
          <a:prstGeom prst="roundRect">
            <a:avLst/>
          </a:prstGeom>
          <a:solidFill>
            <a:srgbClr val="F3F6F6"/>
          </a:solidFill>
          <a:ln w="15875">
            <a:solidFill>
              <a:srgbClr val="40CDD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91440"/>
          <a:lstStyle/>
          <a:p>
            <a:pPr algn="l" marL="109728">
              <a:lnSpc>
                <a:spcPct val="125000"/>
              </a:lnSpc>
              <a:spcAft>
                <a:spcPts val="400"/>
              </a:spcAft>
            </a:pPr>
            <a:r>
              <a:rPr sz="1050" b="1">
                <a:solidFill>
                  <a:srgbClr val="002632"/>
                </a:solidFill>
                <a:latin typeface="맑은 고딕"/>
              </a:rPr>
              <a:t>· 01  </a:t>
            </a:r>
            <a:r>
              <a:rPr sz="1050" b="0">
                <a:solidFill>
                  <a:srgbClr val="5B6B70"/>
                </a:solidFill>
                <a:latin typeface="맑은 고딕"/>
              </a:rPr>
              <a:t>시간 — 거래량·가격이 정책/금리에 어떻게 반응하나</a:t>
            </a:r>
          </a:p>
          <a:p>
            <a:pPr algn="l" marL="109728">
              <a:lnSpc>
                <a:spcPct val="125000"/>
              </a:lnSpc>
              <a:spcAft>
                <a:spcPts val="400"/>
              </a:spcAft>
            </a:pPr>
            <a:r>
              <a:rPr sz="1050" b="1">
                <a:solidFill>
                  <a:srgbClr val="002632"/>
                </a:solidFill>
                <a:latin typeface="맑은 고딕"/>
              </a:rPr>
              <a:t>· 02  </a:t>
            </a:r>
            <a:r>
              <a:rPr sz="1050" b="0">
                <a:solidFill>
                  <a:srgbClr val="5B6B70"/>
                </a:solidFill>
                <a:latin typeface="맑은 고딕"/>
              </a:rPr>
              <a:t>지역 — 자치구·법정동별 가격 격차와 동별 편차</a:t>
            </a:r>
          </a:p>
          <a:p>
            <a:pPr algn="l" marL="109728">
              <a:lnSpc>
                <a:spcPct val="125000"/>
              </a:lnSpc>
              <a:spcAft>
                <a:spcPts val="400"/>
              </a:spcAft>
            </a:pPr>
            <a:r>
              <a:rPr sz="1050" b="1">
                <a:solidFill>
                  <a:srgbClr val="002632"/>
                </a:solidFill>
                <a:latin typeface="맑은 고딕"/>
              </a:rPr>
              <a:t>· 03  </a:t>
            </a:r>
            <a:r>
              <a:rPr sz="1050" b="0">
                <a:solidFill>
                  <a:srgbClr val="5B6B70"/>
                </a:solidFill>
                <a:latin typeface="맑은 고딕"/>
              </a:rPr>
              <a:t>단지 속성 — 준공연차, 정비사업 단계</a:t>
            </a:r>
          </a:p>
          <a:p>
            <a:pPr algn="l" marL="109728">
              <a:lnSpc>
                <a:spcPct val="125000"/>
              </a:lnSpc>
              <a:spcAft>
                <a:spcPts val="400"/>
              </a:spcAft>
            </a:pPr>
            <a:r>
              <a:rPr sz="1050" b="1">
                <a:solidFill>
                  <a:srgbClr val="002632"/>
                </a:solidFill>
                <a:latin typeface="맑은 고딕"/>
              </a:rPr>
              <a:t>· 04  </a:t>
            </a:r>
            <a:r>
              <a:rPr sz="1050" b="0">
                <a:solidFill>
                  <a:srgbClr val="5B6B70"/>
                </a:solidFill>
                <a:latin typeface="맑은 고딕"/>
              </a:rPr>
              <a:t>입지 — 역세권, 한강조망, 학군</a:t>
            </a:r>
          </a:p>
          <a:p>
            <a:pPr algn="l" marL="109728">
              <a:lnSpc>
                <a:spcPct val="125000"/>
              </a:lnSpc>
              <a:spcAft>
                <a:spcPts val="400"/>
              </a:spcAft>
            </a:pPr>
            <a:r>
              <a:rPr sz="1050" b="1">
                <a:solidFill>
                  <a:srgbClr val="002632"/>
                </a:solidFill>
                <a:latin typeface="맑은 고딕"/>
              </a:rPr>
              <a:t>· 05  </a:t>
            </a:r>
            <a:r>
              <a:rPr sz="1050" b="0">
                <a:solidFill>
                  <a:srgbClr val="5B6B70"/>
                </a:solidFill>
                <a:latin typeface="맑은 고딕"/>
              </a:rPr>
              <a:t>매물 속성 — 면적, 층</a:t>
            </a:r>
          </a:p>
          <a:p>
            <a:pPr algn="l" marL="109728">
              <a:lnSpc>
                <a:spcPct val="125000"/>
              </a:lnSpc>
              <a:spcAft>
                <a:spcPts val="400"/>
              </a:spcAft>
            </a:pPr>
            <a:r>
              <a:rPr sz="1050" b="1">
                <a:solidFill>
                  <a:srgbClr val="002632"/>
                </a:solidFill>
                <a:latin typeface="맑은 고딕"/>
              </a:rPr>
              <a:t>· 06  </a:t>
            </a:r>
            <a:r>
              <a:rPr sz="1050" b="0">
                <a:solidFill>
                  <a:srgbClr val="5B6B70"/>
                </a:solidFill>
                <a:latin typeface="맑은 고딕"/>
              </a:rPr>
              <a:t>전세-매매 — 전세가율의 선행성</a:t>
            </a:r>
          </a:p>
          <a:p>
            <a:pPr algn="l" marL="109728">
              <a:lnSpc>
                <a:spcPct val="125000"/>
              </a:lnSpc>
              <a:spcAft>
                <a:spcPts val="400"/>
              </a:spcAft>
            </a:pPr>
            <a:r>
              <a:rPr sz="1050" b="1">
                <a:solidFill>
                  <a:srgbClr val="002632"/>
                </a:solidFill>
                <a:latin typeface="맑은 고딕"/>
              </a:rPr>
              <a:t>· 07  </a:t>
            </a:r>
            <a:r>
              <a:rPr sz="1050" b="0">
                <a:solidFill>
                  <a:srgbClr val="5B6B70"/>
                </a:solidFill>
                <a:latin typeface="맑은 고딕"/>
              </a:rPr>
              <a:t>복합 — 정비사업 강도와 가격 변동성</a:t>
            </a:r>
          </a:p>
          <a:p>
            <a:pPr algn="l" marL="109728">
              <a:lnSpc>
                <a:spcPct val="125000"/>
              </a:lnSpc>
              <a:spcAft>
                <a:spcPts val="400"/>
              </a:spcAft>
            </a:pPr>
            <a:r>
              <a:rPr sz="1050" b="1">
                <a:solidFill>
                  <a:srgbClr val="002632"/>
                </a:solidFill>
                <a:latin typeface="맑은 고딕"/>
              </a:rPr>
              <a:t>· 08~10  </a:t>
            </a:r>
            <a:r>
              <a:rPr sz="1050" b="0">
                <a:solidFill>
                  <a:srgbClr val="5B6B70"/>
                </a:solidFill>
                <a:latin typeface="맑은 고딕"/>
              </a:rPr>
              <a:t>(추가) 이벤트 반대 반응 동, 동 클러스터링 시도, 인구·세대수</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데이터 개요</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1</a:t>
            </a:r>
          </a:p>
        </p:txBody>
      </p:sp>
      <p:graphicFrame>
        <p:nvGraphicFramePr>
          <p:cNvPr id="4" name="Table 3"/>
          <p:cNvGraphicFramePr>
            <a:graphicFrameLocks noGrp="1"/>
          </p:cNvGraphicFramePr>
          <p:nvPr/>
        </p:nvGraphicFramePr>
        <p:xfrm>
          <a:off x="457200" y="969264"/>
          <a:ext cx="11521440" cy="2628900"/>
        </p:xfrm>
        <a:graphic>
          <a:graphicData uri="http://schemas.openxmlformats.org/drawingml/2006/table">
            <a:tbl>
              <a:tblPr firstRow="1" bandRow="1">
                <a:tableStyleId>{5C22544A-7EE6-4342-B048-85BDC9FD1C3A}</a:tableStyleId>
              </a:tblPr>
              <a:tblGrid>
                <a:gridCol w="3291840"/>
                <a:gridCol w="2560320"/>
                <a:gridCol w="5669280"/>
              </a:tblGrid>
              <a:tr h="301244">
                <a:tc>
                  <a:txBody>
                    <a:bodyPr/>
                    <a:lstStyle/>
                    <a:p>
                      <a:pPr algn="l"/>
                      <a:r>
                        <a:rPr sz="1000" b="1">
                          <a:solidFill>
                            <a:srgbClr val="FFFFFF"/>
                          </a:solidFill>
                          <a:latin typeface="맑은 고딕"/>
                        </a:rPr>
                        <a:t>테이블</a:t>
                      </a:r>
                    </a:p>
                  </a:txBody>
                  <a:tcPr anchor="ctr" marL="73152" marR="73152" marT="41148" marB="41148">
                    <a:solidFill>
                      <a:srgbClr val="002632"/>
                    </a:solidFill>
                  </a:tcPr>
                </a:tc>
                <a:tc>
                  <a:txBody>
                    <a:bodyPr/>
                    <a:lstStyle/>
                    <a:p>
                      <a:pPr algn="ctr"/>
                      <a:r>
                        <a:rPr sz="1000" b="1">
                          <a:solidFill>
                            <a:srgbClr val="FFFFFF"/>
                          </a:solidFill>
                          <a:latin typeface="맑은 고딕"/>
                        </a:rPr>
                        <a:t>행 수(active snapshot)</a:t>
                      </a:r>
                    </a:p>
                  </a:txBody>
                  <a:tcPr anchor="ctr" marL="73152" marR="73152" marT="41148" marB="41148">
                    <a:solidFill>
                      <a:srgbClr val="002632"/>
                    </a:solidFill>
                  </a:tcPr>
                </a:tc>
                <a:tc>
                  <a:txBody>
                    <a:bodyPr/>
                    <a:lstStyle/>
                    <a:p>
                      <a:pPr algn="ctr"/>
                      <a:r>
                        <a:rPr sz="1000" b="1">
                          <a:solidFill>
                            <a:srgbClr val="FFFFFF"/>
                          </a:solidFill>
                          <a:latin typeface="맑은 고딕"/>
                        </a:rPr>
                        <a:t>내용</a:t>
                      </a:r>
                    </a:p>
                  </a:txBody>
                  <a:tcPr anchor="ctr" marL="73152" marR="73152" marT="41148" marB="41148">
                    <a:solidFill>
                      <a:srgbClr val="002632"/>
                    </a:solidFill>
                  </a:tcPr>
                </a:tc>
              </a:tr>
              <a:tr h="301244">
                <a:tc>
                  <a:txBody>
                    <a:bodyPr/>
                    <a:lstStyle/>
                    <a:p>
                      <a:pPr algn="l"/>
                      <a:r>
                        <a:rPr sz="1000" b="0">
                          <a:solidFill>
                            <a:srgbClr val="002632"/>
                          </a:solidFill>
                          <a:latin typeface="맑은 고딕"/>
                        </a:rPr>
                        <a:t>trade_sale</a:t>
                      </a:r>
                    </a:p>
                  </a:txBody>
                  <a:tcPr anchor="ctr" marL="73152" marR="73152" marT="41148" marB="41148">
                    <a:solidFill>
                      <a:srgbClr val="F3F6F6"/>
                    </a:solidFill>
                  </a:tcPr>
                </a:tc>
                <a:tc>
                  <a:txBody>
                    <a:bodyPr/>
                    <a:lstStyle/>
                    <a:p>
                      <a:pPr algn="ctr"/>
                      <a:r>
                        <a:rPr sz="1000" b="0">
                          <a:solidFill>
                            <a:srgbClr val="002632"/>
                          </a:solidFill>
                          <a:latin typeface="맑은 고딕"/>
                        </a:rPr>
                        <a:t>1,438,551</a:t>
                      </a:r>
                    </a:p>
                  </a:txBody>
                  <a:tcPr anchor="ctr" marL="73152" marR="73152" marT="41148" marB="41148">
                    <a:solidFill>
                      <a:srgbClr val="F3F6F6"/>
                    </a:solidFill>
                  </a:tcPr>
                </a:tc>
                <a:tc>
                  <a:txBody>
                    <a:bodyPr/>
                    <a:lstStyle/>
                    <a:p>
                      <a:pPr algn="ctr"/>
                      <a:r>
                        <a:rPr sz="1000" b="0">
                          <a:solidFill>
                            <a:srgbClr val="002632"/>
                          </a:solidFill>
                          <a:latin typeface="맑은 고딕"/>
                        </a:rPr>
                        <a:t>매매 실거래 원장 (2006-01~2026-08)</a:t>
                      </a:r>
                    </a:p>
                  </a:txBody>
                  <a:tcPr anchor="ctr" marL="73152" marR="73152" marT="41148" marB="41148">
                    <a:solidFill>
                      <a:srgbClr val="F3F6F6"/>
                    </a:solidFill>
                  </a:tcPr>
                </a:tc>
              </a:tr>
              <a:tr h="301244">
                <a:tc>
                  <a:txBody>
                    <a:bodyPr/>
                    <a:lstStyle/>
                    <a:p>
                      <a:pPr algn="l"/>
                      <a:r>
                        <a:rPr sz="1000" b="0">
                          <a:solidFill>
                            <a:srgbClr val="002632"/>
                          </a:solidFill>
                          <a:latin typeface="맑은 고딕"/>
                        </a:rPr>
                        <a:t>trade_rent</a:t>
                      </a:r>
                    </a:p>
                  </a:txBody>
                  <a:tcPr anchor="ctr" marL="73152" marR="73152" marT="41148" marB="41148">
                    <a:solidFill>
                      <a:srgbClr val="FFFFFF"/>
                    </a:solidFill>
                  </a:tcPr>
                </a:tc>
                <a:tc>
                  <a:txBody>
                    <a:bodyPr/>
                    <a:lstStyle/>
                    <a:p>
                      <a:pPr algn="ctr"/>
                      <a:r>
                        <a:rPr sz="1000" b="0">
                          <a:solidFill>
                            <a:srgbClr val="002632"/>
                          </a:solidFill>
                          <a:latin typeface="맑은 고딕"/>
                        </a:rPr>
                        <a:t>3,083,158</a:t>
                      </a:r>
                    </a:p>
                  </a:txBody>
                  <a:tcPr anchor="ctr" marL="73152" marR="73152" marT="41148" marB="41148">
                    <a:solidFill>
                      <a:srgbClr val="FFFFFF"/>
                    </a:solidFill>
                  </a:tcPr>
                </a:tc>
                <a:tc>
                  <a:txBody>
                    <a:bodyPr/>
                    <a:lstStyle/>
                    <a:p>
                      <a:pPr algn="ctr"/>
                      <a:r>
                        <a:rPr sz="1000" b="0">
                          <a:solidFill>
                            <a:srgbClr val="002632"/>
                          </a:solidFill>
                          <a:latin typeface="맑은 고딕"/>
                        </a:rPr>
                        <a:t>전월세 실거래 원장 (2011-01~2026-08)</a:t>
                      </a:r>
                    </a:p>
                  </a:txBody>
                  <a:tcPr anchor="ctr" marL="73152" marR="73152" marT="41148" marB="41148">
                    <a:solidFill>
                      <a:srgbClr val="FFFFFF"/>
                    </a:solidFill>
                  </a:tcPr>
                </a:tc>
              </a:tr>
              <a:tr h="301244">
                <a:tc>
                  <a:txBody>
                    <a:bodyPr/>
                    <a:lstStyle/>
                    <a:p>
                      <a:pPr algn="l"/>
                      <a:r>
                        <a:rPr sz="1000" b="0">
                          <a:solidFill>
                            <a:srgbClr val="002632"/>
                          </a:solidFill>
                          <a:latin typeface="맑은 고딕"/>
                        </a:rPr>
                        <a:t>complex / complex_metrics</a:t>
                      </a:r>
                    </a:p>
                  </a:txBody>
                  <a:tcPr anchor="ctr" marL="73152" marR="73152" marT="41148" marB="41148">
                    <a:solidFill>
                      <a:srgbClr val="F3F6F6"/>
                    </a:solidFill>
                  </a:tcPr>
                </a:tc>
                <a:tc>
                  <a:txBody>
                    <a:bodyPr/>
                    <a:lstStyle/>
                    <a:p>
                      <a:pPr algn="ctr"/>
                      <a:r>
                        <a:rPr sz="1000" b="0">
                          <a:solidFill>
                            <a:srgbClr val="002632"/>
                          </a:solidFill>
                          <a:latin typeface="맑은 고딕"/>
                        </a:rPr>
                        <a:t>9,160</a:t>
                      </a:r>
                    </a:p>
                  </a:txBody>
                  <a:tcPr anchor="ctr" marL="73152" marR="73152" marT="41148" marB="41148">
                    <a:solidFill>
                      <a:srgbClr val="F3F6F6"/>
                    </a:solidFill>
                  </a:tcPr>
                </a:tc>
                <a:tc>
                  <a:txBody>
                    <a:bodyPr/>
                    <a:lstStyle/>
                    <a:p>
                      <a:pPr algn="ctr"/>
                      <a:r>
                        <a:rPr sz="1000" b="0">
                          <a:solidFill>
                            <a:srgbClr val="002632"/>
                          </a:solidFill>
                          <a:latin typeface="맑은 고딕"/>
                        </a:rPr>
                        <a:t>단지 기본정보 / 입지지표</a:t>
                      </a:r>
                    </a:p>
                  </a:txBody>
                  <a:tcPr anchor="ctr" marL="73152" marR="73152" marT="41148" marB="41148">
                    <a:solidFill>
                      <a:srgbClr val="F3F6F6"/>
                    </a:solidFill>
                  </a:tcPr>
                </a:tc>
              </a:tr>
              <a:tr h="301244">
                <a:tc>
                  <a:txBody>
                    <a:bodyPr/>
                    <a:lstStyle/>
                    <a:p>
                      <a:pPr algn="l"/>
                      <a:r>
                        <a:rPr sz="1000" b="0">
                          <a:solidFill>
                            <a:srgbClr val="002632"/>
                          </a:solidFill>
                          <a:latin typeface="맑은 고딕"/>
                        </a:rPr>
                        <a:t>dong_index</a:t>
                      </a:r>
                    </a:p>
                  </a:txBody>
                  <a:tcPr anchor="ctr" marL="73152" marR="73152" marT="41148" marB="41148">
                    <a:solidFill>
                      <a:srgbClr val="FFFFFF"/>
                    </a:solidFill>
                  </a:tcPr>
                </a:tc>
                <a:tc>
                  <a:txBody>
                    <a:bodyPr/>
                    <a:lstStyle/>
                    <a:p>
                      <a:pPr algn="ctr"/>
                      <a:r>
                        <a:rPr sz="1000" b="0">
                          <a:solidFill>
                            <a:srgbClr val="002632"/>
                          </a:solidFill>
                          <a:latin typeface="맑은 고딕"/>
                        </a:rPr>
                        <a:t>28,372</a:t>
                      </a:r>
                    </a:p>
                  </a:txBody>
                  <a:tcPr anchor="ctr" marL="73152" marR="73152" marT="41148" marB="41148">
                    <a:solidFill>
                      <a:srgbClr val="FFFFFF"/>
                    </a:solidFill>
                  </a:tcPr>
                </a:tc>
                <a:tc>
                  <a:txBody>
                    <a:bodyPr/>
                    <a:lstStyle/>
                    <a:p>
                      <a:pPr algn="ctr"/>
                      <a:r>
                        <a:rPr sz="1000" b="0">
                          <a:solidFill>
                            <a:srgbClr val="002632"/>
                          </a:solidFill>
                          <a:latin typeface="맑은 고딕"/>
                        </a:rPr>
                        <a:t>법정동×분기 hedonic 가격지수</a:t>
                      </a:r>
                    </a:p>
                  </a:txBody>
                  <a:tcPr anchor="ctr" marL="73152" marR="73152" marT="41148" marB="41148">
                    <a:solidFill>
                      <a:srgbClr val="FFFFFF"/>
                    </a:solidFill>
                  </a:tcPr>
                </a:tc>
              </a:tr>
              <a:tr h="301244">
                <a:tc>
                  <a:txBody>
                    <a:bodyPr/>
                    <a:lstStyle/>
                    <a:p>
                      <a:pPr algn="l"/>
                      <a:r>
                        <a:rPr sz="1000" b="0">
                          <a:solidFill>
                            <a:srgbClr val="002632"/>
                          </a:solidFill>
                          <a:latin typeface="맑은 고딕"/>
                        </a:rPr>
                        <a:t>dong_feature</a:t>
                      </a:r>
                    </a:p>
                  </a:txBody>
                  <a:tcPr anchor="ctr" marL="73152" marR="73152" marT="41148" marB="41148">
                    <a:solidFill>
                      <a:srgbClr val="F3F6F6"/>
                    </a:solidFill>
                  </a:tcPr>
                </a:tc>
                <a:tc>
                  <a:txBody>
                    <a:bodyPr/>
                    <a:lstStyle/>
                    <a:p>
                      <a:pPr algn="ctr"/>
                      <a:r>
                        <a:rPr sz="1000" b="0">
                          <a:solidFill>
                            <a:srgbClr val="002632"/>
                          </a:solidFill>
                          <a:latin typeface="맑은 고딕"/>
                        </a:rPr>
                        <a:t>19,761</a:t>
                      </a:r>
                    </a:p>
                  </a:txBody>
                  <a:tcPr anchor="ctr" marL="73152" marR="73152" marT="41148" marB="41148">
                    <a:solidFill>
                      <a:srgbClr val="F3F6F6"/>
                    </a:solidFill>
                  </a:tcPr>
                </a:tc>
                <a:tc>
                  <a:txBody>
                    <a:bodyPr/>
                    <a:lstStyle/>
                    <a:p>
                      <a:pPr algn="ctr"/>
                      <a:r>
                        <a:rPr sz="1000" b="0">
                          <a:solidFill>
                            <a:srgbClr val="002632"/>
                          </a:solidFill>
                          <a:latin typeface="맑은 고딕"/>
                        </a:rPr>
                        <a:t>법정동×기점분기 feature(거래·전세·정비사업 등)</a:t>
                      </a:r>
                    </a:p>
                  </a:txBody>
                  <a:tcPr anchor="ctr" marL="73152" marR="73152" marT="41148" marB="41148">
                    <a:solidFill>
                      <a:srgbClr val="F3F6F6"/>
                    </a:solidFill>
                  </a:tcPr>
                </a:tc>
              </a:tr>
              <a:tr h="520192">
                <a:tc>
                  <a:txBody>
                    <a:bodyPr/>
                    <a:lstStyle/>
                    <a:p>
                      <a:pPr algn="l"/>
                      <a:r>
                        <a:rPr sz="1000" b="0">
                          <a:solidFill>
                            <a:srgbClr val="002632"/>
                          </a:solidFill>
                          <a:latin typeface="맑은 고딕"/>
                        </a:rPr>
                        <a:t>market_event / event_summary / event_dong_path</a:t>
                      </a:r>
                    </a:p>
                  </a:txBody>
                  <a:tcPr anchor="ctr" marL="73152" marR="73152" marT="41148" marB="41148">
                    <a:solidFill>
                      <a:srgbClr val="FFFFFF"/>
                    </a:solidFill>
                  </a:tcPr>
                </a:tc>
                <a:tc>
                  <a:txBody>
                    <a:bodyPr/>
                    <a:lstStyle/>
                    <a:p>
                      <a:pPr algn="ctr"/>
                      <a:r>
                        <a:rPr sz="1000" b="0">
                          <a:solidFill>
                            <a:srgbClr val="002632"/>
                          </a:solidFill>
                          <a:latin typeface="맑은 고딕"/>
                        </a:rPr>
                        <a:t>49 / 49 / 90,936</a:t>
                      </a:r>
                    </a:p>
                  </a:txBody>
                  <a:tcPr anchor="ctr" marL="73152" marR="73152" marT="41148" marB="41148">
                    <a:solidFill>
                      <a:srgbClr val="FFFFFF"/>
                    </a:solidFill>
                  </a:tcPr>
                </a:tc>
                <a:tc>
                  <a:txBody>
                    <a:bodyPr/>
                    <a:lstStyle/>
                    <a:p>
                      <a:pPr algn="ctr"/>
                      <a:r>
                        <a:rPr sz="1000" b="0">
                          <a:solidFill>
                            <a:srgbClr val="002632"/>
                          </a:solidFill>
                          <a:latin typeface="맑은 고딕"/>
                        </a:rPr>
                        <a:t>정책·금리·거시 이벤트, 전후 요약, 동별 경로</a:t>
                      </a:r>
                    </a:p>
                  </a:txBody>
                  <a:tcPr anchor="ctr" marL="73152" marR="73152" marT="41148" marB="41148">
                    <a:solidFill>
                      <a:srgbClr val="FFFFFF"/>
                    </a:solidFill>
                  </a:tcPr>
                </a:tc>
              </a:tr>
              <a:tr h="301244">
                <a:tc>
                  <a:txBody>
                    <a:bodyPr/>
                    <a:lstStyle/>
                    <a:p>
                      <a:pPr algn="l"/>
                      <a:r>
                        <a:rPr sz="1000" b="0">
                          <a:solidFill>
                            <a:srgbClr val="002632"/>
                          </a:solidFill>
                          <a:latin typeface="맑은 고딕"/>
                        </a:rPr>
                        <a:t>(외부) 행정안전부 인구·세대현황</a:t>
                      </a:r>
                    </a:p>
                  </a:txBody>
                  <a:tcPr anchor="ctr" marL="73152" marR="73152" marT="41148" marB="41148">
                    <a:solidFill>
                      <a:srgbClr val="F3F6F6"/>
                    </a:solidFill>
                  </a:tcPr>
                </a:tc>
                <a:tc>
                  <a:txBody>
                    <a:bodyPr/>
                    <a:lstStyle/>
                    <a:p>
                      <a:pPr algn="ctr"/>
                      <a:r>
                        <a:rPr sz="1000" b="0">
                          <a:solidFill>
                            <a:srgbClr val="002632"/>
                          </a:solidFill>
                          <a:latin typeface="맑은 고딕"/>
                        </a:rPr>
                        <a:t>340개 동 × 2개 분기</a:t>
                      </a:r>
                    </a:p>
                  </a:txBody>
                  <a:tcPr anchor="ctr" marL="73152" marR="73152" marT="41148" marB="41148">
                    <a:solidFill>
                      <a:srgbClr val="F3F6F6"/>
                    </a:solidFill>
                  </a:tcPr>
                </a:tc>
                <a:tc>
                  <a:txBody>
                    <a:bodyPr/>
                    <a:lstStyle/>
                    <a:p>
                      <a:pPr algn="ctr"/>
                      <a:r>
                        <a:rPr sz="1000" b="0">
                          <a:solidFill>
                            <a:srgbClr val="002632"/>
                          </a:solidFill>
                          <a:latin typeface="맑은 고딕"/>
                        </a:rPr>
                        <a:t>10번 축용, data.go.kr API로 별도 수집 — eda/docs/data-sources.md</a:t>
                      </a:r>
                    </a:p>
                  </a:txBody>
                  <a:tcPr anchor="ctr" marL="73152" marR="73152" marT="41148" marB="41148">
                    <a:solidFill>
                      <a:srgbClr val="F3F6F6"/>
                    </a:solidFill>
                  </a:tcPr>
                </a:tc>
              </a:tr>
            </a:tbl>
          </a:graphicData>
        </a:graphic>
      </p:graphicFrame>
      <p:sp>
        <p:nvSpPr>
          <p:cNvPr id="5" name="TextBox 4"/>
          <p:cNvSpPr txBox="1"/>
          <p:nvPr/>
        </p:nvSpPr>
        <p:spPr>
          <a:xfrm>
            <a:off x="457200" y="3689604"/>
            <a:ext cx="11277295" cy="237744"/>
          </a:xfrm>
          <a:prstGeom prst="rect">
            <a:avLst/>
          </a:prstGeom>
          <a:noFill/>
        </p:spPr>
        <p:txBody>
          <a:bodyPr wrap="square">
            <a:spAutoFit/>
          </a:bodyPr>
          <a:lstStyle/>
          <a:p>
            <a:pPr algn="l"/>
            <a:r>
              <a:rPr sz="900" b="0">
                <a:solidFill>
                  <a:srgbClr val="5B6B70"/>
                </a:solidFill>
                <a:latin typeface="맑은 고딕"/>
              </a:rPr>
              <a:t>DB는 Railway Postgres, DATABASE_READONLY_URL로 조회(read-only, 팀 데이터 영향 없음). 원본은 국토부 실거래가 API·한국은행·서울 열린데이터광장·행정안전부.</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1. 시간 — 거래량이 가격보다 훨씬 크게 흔들린다</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pic>
        <p:nvPicPr>
          <p:cNvPr id="4" name="Picture 3" descr="01a_quarterly_volume_events.png"/>
          <p:cNvPicPr>
            <a:picLocks noChangeAspect="1"/>
          </p:cNvPicPr>
          <p:nvPr/>
        </p:nvPicPr>
        <p:blipFill>
          <a:blip r:embed="rId2"/>
          <a:stretch>
            <a:fillRect/>
          </a:stretch>
        </p:blipFill>
        <p:spPr>
          <a:xfrm>
            <a:off x="2226106" y="1756014"/>
            <a:ext cx="7739481" cy="3830603"/>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1. 시간 — 거래량 지수 vs 단가 지수</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pic>
        <p:nvPicPr>
          <p:cNvPr id="4" name="Picture 3" descr="01b_volume_vs_price_index.png"/>
          <p:cNvPicPr>
            <a:picLocks noChangeAspect="1"/>
          </p:cNvPicPr>
          <p:nvPr/>
        </p:nvPicPr>
        <p:blipFill>
          <a:blip r:embed="rId2"/>
          <a:stretch>
            <a:fillRect/>
          </a:stretch>
        </p:blipFill>
        <p:spPr>
          <a:xfrm>
            <a:off x="2226106" y="1757224"/>
            <a:ext cx="7739481" cy="3828183"/>
          </a:xfrm>
          <a:prstGeom prst="rect">
            <a:avLst/>
          </a:prstGeom>
        </p:spPr>
      </p:pic>
      <p:sp>
        <p:nvSpPr>
          <p:cNvPr id="5" name="Rounded Rectangle 4"/>
          <p:cNvSpPr/>
          <p:nvPr/>
        </p:nvSpPr>
        <p:spPr>
          <a:xfrm>
            <a:off x="457200" y="5640271"/>
            <a:ext cx="11277295" cy="777240"/>
          </a:xfrm>
          <a:prstGeom prst="roundRect">
            <a:avLst/>
          </a:prstGeom>
          <a:solidFill>
            <a:srgbClr val="F3F6F6"/>
          </a:solidFill>
          <a:ln w="15875">
            <a:solidFill>
              <a:srgbClr val="B1760A"/>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B1760A"/>
                </a:solidFill>
                <a:latin typeface="맑은 고딕"/>
              </a:rPr>
              <a:t>핵심 수치</a:t>
            </a:r>
          </a:p>
          <a:p>
            <a:pPr algn="l">
              <a:lnSpc>
                <a:spcPct val="130000"/>
              </a:lnSpc>
            </a:pPr>
            <a:r>
              <a:rPr sz="1050" b="0">
                <a:solidFill>
                  <a:srgbClr val="002632"/>
                </a:solidFill>
                <a:latin typeface="맑은 고딕"/>
              </a:rPr>
              <a:t>2022년 거래량 -71.3% (전년 대비), 2023년 182.5%. 같은 기간 가격 변화는 -3.3% → 4.3%로 훨씬 완만함.</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2. 지역 — 자치구 간 가격 격차</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pic>
        <p:nvPicPr>
          <p:cNvPr id="4" name="Picture 3" descr="02a_gu_price_2026.png"/>
          <p:cNvPicPr>
            <a:picLocks noChangeAspect="1"/>
          </p:cNvPicPr>
          <p:nvPr/>
        </p:nvPicPr>
        <p:blipFill>
          <a:blip r:embed="rId2"/>
          <a:stretch>
            <a:fillRect/>
          </a:stretch>
        </p:blipFill>
        <p:spPr>
          <a:xfrm>
            <a:off x="3836913" y="1118128"/>
            <a:ext cx="4517868" cy="5106375"/>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2. 지역 — 구 평균과 동별 흐름이 다를 수 있다</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pic>
        <p:nvPicPr>
          <p:cNvPr id="4" name="Picture 3" descr="02b_dong_yoy_top_bottom.png"/>
          <p:cNvPicPr>
            <a:picLocks noChangeAspect="1"/>
          </p:cNvPicPr>
          <p:nvPr/>
        </p:nvPicPr>
        <p:blipFill>
          <a:blip r:embed="rId2"/>
          <a:stretch>
            <a:fillRect/>
          </a:stretch>
        </p:blipFill>
        <p:spPr>
          <a:xfrm>
            <a:off x="3656838" y="1061435"/>
            <a:ext cx="4878018" cy="3802441"/>
          </a:xfrm>
          <a:prstGeom prst="rect">
            <a:avLst/>
          </a:prstGeom>
        </p:spPr>
      </p:pic>
      <p:sp>
        <p:nvSpPr>
          <p:cNvPr id="5" name="Rounded Rectangle 4"/>
          <p:cNvSpPr/>
          <p:nvPr/>
        </p:nvSpPr>
        <p:spPr>
          <a:xfrm>
            <a:off x="457200" y="4918740"/>
            <a:ext cx="11277295" cy="850392"/>
          </a:xfrm>
          <a:prstGeom prst="roundRect">
            <a:avLst/>
          </a:prstGeom>
          <a:solidFill>
            <a:srgbClr val="F3F6F6"/>
          </a:solidFill>
          <a:ln w="15875">
            <a:solidFill>
              <a:srgbClr val="B1760A"/>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B1760A"/>
                </a:solidFill>
                <a:latin typeface="맑은 고딕"/>
              </a:rPr>
              <a:t>같은 기준(hedonic, 25Q2→26Q2)으로 본 강남구</a:t>
            </a:r>
          </a:p>
          <a:p>
            <a:pPr algn="l">
              <a:lnSpc>
                <a:spcPct val="130000"/>
              </a:lnSpc>
            </a:pPr>
            <a:r>
              <a:rPr sz="1050" b="0">
                <a:solidFill>
                  <a:srgbClr val="002632"/>
                </a:solidFill>
                <a:latin typeface="맑은 고딕"/>
              </a:rPr>
              <a:t>강남구 소속 eligible 동 13개의 평균 상승률은 +6.8%인데, 그 안에서 역삼동 -7.1%부터 수서동 +33.3%까지 동별로 크게 갈립니다. 용산구 보광동은 +46.3%로 조사 대상 중 가장 많이 올랐습니다.</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3. 단지 속성 — 준공연차와 가격의 U자 관계</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pic>
        <p:nvPicPr>
          <p:cNvPr id="4" name="Picture 3" descr="03a_age_price.png"/>
          <p:cNvPicPr>
            <a:picLocks noChangeAspect="1"/>
          </p:cNvPicPr>
          <p:nvPr/>
        </p:nvPicPr>
        <p:blipFill>
          <a:blip r:embed="rId2"/>
          <a:stretch>
            <a:fillRect/>
          </a:stretch>
        </p:blipFill>
        <p:spPr>
          <a:xfrm>
            <a:off x="2562606" y="1727164"/>
            <a:ext cx="7066483" cy="3888304"/>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3. 단지 속성 — 정비사업 진행 단계별 프리미엄</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pic>
        <p:nvPicPr>
          <p:cNvPr id="4" name="Picture 3" descr="03b_redevelop_premium.png"/>
          <p:cNvPicPr>
            <a:picLocks noChangeAspect="1"/>
          </p:cNvPicPr>
          <p:nvPr/>
        </p:nvPicPr>
        <p:blipFill>
          <a:blip r:embed="rId2"/>
          <a:stretch>
            <a:fillRect/>
          </a:stretch>
        </p:blipFill>
        <p:spPr>
          <a:xfrm>
            <a:off x="3023162" y="1057777"/>
            <a:ext cx="6145370" cy="3718316"/>
          </a:xfrm>
          <a:prstGeom prst="rect">
            <a:avLst/>
          </a:prstGeom>
        </p:spPr>
      </p:pic>
      <p:sp>
        <p:nvSpPr>
          <p:cNvPr id="5" name="Rounded Rectangle 4"/>
          <p:cNvSpPr/>
          <p:nvPr/>
        </p:nvSpPr>
        <p:spPr>
          <a:xfrm>
            <a:off x="457200" y="4830958"/>
            <a:ext cx="11277295" cy="777240"/>
          </a:xfrm>
          <a:prstGeom prst="roundRect">
            <a:avLst/>
          </a:prstGeom>
          <a:solidFill>
            <a:srgbClr val="F3F6F6"/>
          </a:solidFill>
          <a:ln w="15875">
            <a:solidFill>
              <a:srgbClr val="B1760A"/>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B1760A"/>
                </a:solidFill>
                <a:latin typeface="맑은 고딕"/>
              </a:rPr>
              <a:t>핵심 수치</a:t>
            </a:r>
          </a:p>
          <a:p>
            <a:pPr algn="l">
              <a:lnSpc>
                <a:spcPct val="130000"/>
              </a:lnSpc>
            </a:pPr>
            <a:r>
              <a:rPr sz="1050" b="0">
                <a:solidFill>
                  <a:srgbClr val="002632"/>
                </a:solidFill>
                <a:latin typeface="맑은 고딕"/>
              </a:rPr>
              <a:t>'건축심의' 단계 단지는 정비사업 대상이 아닌 일반 단지보다 ㎡당 단가가 154% 더 높음.</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4. 입지 — 역까지 거리와 가격</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pic>
        <p:nvPicPr>
          <p:cNvPr id="4" name="Picture 3" descr="04a_station_distance_price.png"/>
          <p:cNvPicPr>
            <a:picLocks noChangeAspect="1"/>
          </p:cNvPicPr>
          <p:nvPr/>
        </p:nvPicPr>
        <p:blipFill>
          <a:blip r:embed="rId2"/>
          <a:stretch>
            <a:fillRect/>
          </a:stretch>
        </p:blipFill>
        <p:spPr>
          <a:xfrm>
            <a:off x="2562606" y="1727164"/>
            <a:ext cx="7066483" cy="3888304"/>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4. 입지 — 한강조망이 가장 강한 입지 요인</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pic>
        <p:nvPicPr>
          <p:cNvPr id="4" name="Picture 3" descr="04b_river_view_price.png"/>
          <p:cNvPicPr>
            <a:picLocks noChangeAspect="1"/>
          </p:cNvPicPr>
          <p:nvPr/>
        </p:nvPicPr>
        <p:blipFill>
          <a:blip r:embed="rId2"/>
          <a:stretch>
            <a:fillRect/>
          </a:stretch>
        </p:blipFill>
        <p:spPr>
          <a:xfrm>
            <a:off x="4064345" y="1057777"/>
            <a:ext cx="4063003" cy="3718316"/>
          </a:xfrm>
          <a:prstGeom prst="rect">
            <a:avLst/>
          </a:prstGeom>
        </p:spPr>
      </p:pic>
      <p:sp>
        <p:nvSpPr>
          <p:cNvPr id="5" name="Rounded Rectangle 4"/>
          <p:cNvSpPr/>
          <p:nvPr/>
        </p:nvSpPr>
        <p:spPr>
          <a:xfrm>
            <a:off x="457200" y="4830958"/>
            <a:ext cx="11277295" cy="850392"/>
          </a:xfrm>
          <a:prstGeom prst="roundRect">
            <a:avLst/>
          </a:prstGeom>
          <a:solidFill>
            <a:srgbClr val="F3F6F6"/>
          </a:solidFill>
          <a:ln w="15875">
            <a:solidFill>
              <a:srgbClr val="5B6B70"/>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5B6B70"/>
                </a:solidFill>
                <a:latin typeface="맑은 고딕"/>
              </a:rPr>
              <a:t>참고: 학군 거리는 영향이 약함</a:t>
            </a:r>
          </a:p>
          <a:p>
            <a:pPr algn="l">
              <a:lnSpc>
                <a:spcPct val="130000"/>
              </a:lnSpc>
            </a:pPr>
            <a:r>
              <a:rPr sz="1050" b="0">
                <a:solidFill>
                  <a:srgbClr val="002632"/>
                </a:solidFill>
                <a:latin typeface="맑은 고딕"/>
              </a:rPr>
              <a:t>초등학교(-0.007)·중학교(-0.067)·고등학교(-0.039)까지 거리는 단가와의 상관계수가 -0.07~-0.01 수준으로 거의 무관했습니다. 단순 물리적 거리보다 '어느 학군인지'(동 단위 효과)가 더 중요할 가능성이 있습니다.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5. 매물 속성 — 층수가 오를수록 단가도 오른다</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pic>
        <p:nvPicPr>
          <p:cNvPr id="4" name="Picture 3" descr="05a_floor_price.png"/>
          <p:cNvPicPr>
            <a:picLocks noChangeAspect="1"/>
          </p:cNvPicPr>
          <p:nvPr/>
        </p:nvPicPr>
        <p:blipFill>
          <a:blip r:embed="rId2"/>
          <a:stretch>
            <a:fillRect/>
          </a:stretch>
        </p:blipFill>
        <p:spPr>
          <a:xfrm>
            <a:off x="2562606" y="1727164"/>
            <a:ext cx="7066483" cy="3888304"/>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5. 매물 속성 — 면적은 작거나 커야 비싸다</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pic>
        <p:nvPicPr>
          <p:cNvPr id="4" name="Picture 3" descr="05b_area_price.png"/>
          <p:cNvPicPr>
            <a:picLocks noChangeAspect="1"/>
          </p:cNvPicPr>
          <p:nvPr/>
        </p:nvPicPr>
        <p:blipFill>
          <a:blip r:embed="rId2"/>
          <a:stretch>
            <a:fillRect/>
          </a:stretch>
        </p:blipFill>
        <p:spPr>
          <a:xfrm>
            <a:off x="2478481" y="1683416"/>
            <a:ext cx="7234732" cy="3975798"/>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6. 전세-매매 — 전세가율 상관은 해마다 방향이 바뀐다</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pic>
        <p:nvPicPr>
          <p:cNvPr id="4" name="Picture 3" descr="06_jeonse_ratio_future_change.png"/>
          <p:cNvPicPr>
            <a:picLocks noChangeAspect="1"/>
          </p:cNvPicPr>
          <p:nvPr/>
        </p:nvPicPr>
        <p:blipFill>
          <a:blip r:embed="rId2"/>
          <a:stretch>
            <a:fillRect/>
          </a:stretch>
        </p:blipFill>
        <p:spPr>
          <a:xfrm>
            <a:off x="3377125" y="1057777"/>
            <a:ext cx="5437444" cy="3718316"/>
          </a:xfrm>
          <a:prstGeom prst="rect">
            <a:avLst/>
          </a:prstGeom>
        </p:spPr>
      </p:pic>
      <p:sp>
        <p:nvSpPr>
          <p:cNvPr id="5" name="Rounded Rectangle 4"/>
          <p:cNvSpPr/>
          <p:nvPr/>
        </p:nvSpPr>
        <p:spPr>
          <a:xfrm>
            <a:off x="457200" y="4830958"/>
            <a:ext cx="11277295" cy="850392"/>
          </a:xfrm>
          <a:prstGeom prst="roundRect">
            <a:avLst/>
          </a:prstGeom>
          <a:solidFill>
            <a:srgbClr val="F3F6F6"/>
          </a:solidFill>
          <a:ln w="15875">
            <a:solidFill>
              <a:srgbClr val="B1760A"/>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B1760A"/>
                </a:solidFill>
                <a:latin typeface="맑은 고딕"/>
              </a:rPr>
              <a:t>수정 — 방법론 버그를 고친 뒤의 수치와 한계</a:t>
            </a:r>
          </a:p>
          <a:p>
            <a:pPr algn="l">
              <a:lnSpc>
                <a:spcPct val="130000"/>
              </a:lnSpc>
            </a:pPr>
            <a:r>
              <a:rPr sz="1050" b="0">
                <a:solidFill>
                  <a:srgbClr val="002632"/>
                </a:solidFill>
                <a:latin typeface="맑은 고딕"/>
              </a:rPr>
              <a:t>전세가율 하위 20% 동은 1년 뒤 평균 5.5%, 상위 20%는 10.2% 올라 방향은 그대로지만, 전체 상관계수는 0.150(n=12,440, 미래시점 표본선택 편향을 고친 값)입니다. 연도별로 쪼개면 +0.27~-0.51로 부호가 뒤집혀 (다음 슬라이드), '선행지표'보다는 '약하고 불안정한 동반관계'가 정확한 표현입니다.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6. 전세-매매 — 연도별로 쪼개면 상관관계가 사라진다</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pic>
        <p:nvPicPr>
          <p:cNvPr id="4" name="Picture 3" descr="06b_jeonse_corr_by_year.png"/>
          <p:cNvPicPr>
            <a:picLocks noChangeAspect="1"/>
          </p:cNvPicPr>
          <p:nvPr/>
        </p:nvPicPr>
        <p:blipFill>
          <a:blip r:embed="rId2"/>
          <a:stretch>
            <a:fillRect/>
          </a:stretch>
        </p:blipFill>
        <p:spPr>
          <a:xfrm>
            <a:off x="2730855" y="1634361"/>
            <a:ext cx="6729984" cy="4073909"/>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7. 복합 — 정비사업 강도와 가격 변동성, 유의한 관계 없음</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pic>
        <p:nvPicPr>
          <p:cNvPr id="4" name="Picture 3" descr="07_redevelop_intensity_volatility.png"/>
          <p:cNvPicPr>
            <a:picLocks noChangeAspect="1"/>
          </p:cNvPicPr>
          <p:nvPr/>
        </p:nvPicPr>
        <p:blipFill>
          <a:blip r:embed="rId2"/>
          <a:stretch>
            <a:fillRect/>
          </a:stretch>
        </p:blipFill>
        <p:spPr>
          <a:xfrm>
            <a:off x="3655134" y="1057777"/>
            <a:ext cx="4881425" cy="3718316"/>
          </a:xfrm>
          <a:prstGeom prst="rect">
            <a:avLst/>
          </a:prstGeom>
        </p:spPr>
      </p:pic>
      <p:sp>
        <p:nvSpPr>
          <p:cNvPr id="5" name="Rounded Rectangle 4"/>
          <p:cNvSpPr/>
          <p:nvPr/>
        </p:nvSpPr>
        <p:spPr>
          <a:xfrm>
            <a:off x="457200" y="4830958"/>
            <a:ext cx="11277295" cy="850392"/>
          </a:xfrm>
          <a:prstGeom prst="roundRect">
            <a:avLst/>
          </a:prstGeom>
          <a:solidFill>
            <a:srgbClr val="F3F6F6"/>
          </a:solidFill>
          <a:ln w="15875">
            <a:solidFill>
              <a:srgbClr val="B1760A"/>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B1760A"/>
                </a:solidFill>
                <a:latin typeface="맑은 고딕"/>
              </a:rPr>
              <a:t>정정 — 원래 결론(강도가 유무보다 중요하다)을 철회합니다</a:t>
            </a:r>
          </a:p>
          <a:p>
            <a:pPr algn="l">
              <a:lnSpc>
                <a:spcPct val="130000"/>
              </a:lnSpc>
            </a:pPr>
            <a:r>
              <a:rPr sz="1050" b="0">
                <a:solidFill>
                  <a:srgbClr val="002632"/>
                </a:solidFill>
                <a:latin typeface="맑은 고딕"/>
              </a:rPr>
              <a:t>코드 버그 두 개를 고친 뒤 다시 계산했습니다. 정비사업 강도(재고 대비 진행 세대 비중)가 19개 동에서 100%를 넘었고(최댓값 946%, 보광동 — 분모 데이터 자체의 문제로 보임) 이 이상치들이 상관계수 0.21을 만들었습니다. 정상 범위(강도≤1)만 남기면 r=0.009(p=0.889)로 통계적으로 아무 관계가 없습니다.</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8. (추가) 반응이 갈린 이벤트, 반대로 움직인 동</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pic>
        <p:nvPicPr>
          <p:cNvPr id="4" name="Picture 3" descr="08_low_consensus_events.png"/>
          <p:cNvPicPr>
            <a:picLocks noChangeAspect="1"/>
          </p:cNvPicPr>
          <p:nvPr/>
        </p:nvPicPr>
        <p:blipFill>
          <a:blip r:embed="rId2"/>
          <a:stretch>
            <a:fillRect/>
          </a:stretch>
        </p:blipFill>
        <p:spPr>
          <a:xfrm>
            <a:off x="3066906" y="1057777"/>
            <a:ext cx="6057882" cy="3718316"/>
          </a:xfrm>
          <a:prstGeom prst="rect">
            <a:avLst/>
          </a:prstGeom>
        </p:spPr>
      </p:pic>
      <p:sp>
        <p:nvSpPr>
          <p:cNvPr id="5" name="Rounded Rectangle 4"/>
          <p:cNvSpPr/>
          <p:nvPr/>
        </p:nvSpPr>
        <p:spPr>
          <a:xfrm>
            <a:off x="457200" y="4812670"/>
            <a:ext cx="11277295" cy="850392"/>
          </a:xfrm>
          <a:prstGeom prst="roundRect">
            <a:avLst/>
          </a:prstGeom>
          <a:solidFill>
            <a:srgbClr val="F3F6F6"/>
          </a:solidFill>
          <a:ln w="15875">
            <a:solidFill>
              <a:srgbClr val="B1760A"/>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B1760A"/>
                </a:solidFill>
                <a:latin typeface="맑은 고딕"/>
              </a:rPr>
              <a:t>주의 — 선택된 5개 전부가 다른 이벤트와 겹칩니다</a:t>
            </a:r>
          </a:p>
          <a:p>
            <a:pPr algn="l">
              <a:lnSpc>
                <a:spcPct val="130000"/>
              </a:lnSpc>
            </a:pPr>
            <a:r>
              <a:rPr sz="1050" b="0">
                <a:solidFill>
                  <a:srgbClr val="002632"/>
                </a:solidFill>
                <a:latin typeface="맑은 고딕"/>
              </a:rPr>
              <a:t>김용진 님 EDA 제안 문서(eda_filelist.md)의 관점을 반영했습니다. event_summary의 overlapping_events를 전수 확인한 결과, 이번에 고른 5개 이벤트 전부가 ±4분기 내에 다른 이벤트와 겹쳐서, 5개 중 어느 것도 개별 효과로 분리 해석할 수 없습니다.</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9. (추가, 시도) 함께 움직이는 동 클러스터링</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pic>
        <p:nvPicPr>
          <p:cNvPr id="4" name="Picture 3" descr="09_cluster_size_imbalance.png"/>
          <p:cNvPicPr>
            <a:picLocks noChangeAspect="1"/>
          </p:cNvPicPr>
          <p:nvPr/>
        </p:nvPicPr>
        <p:blipFill>
          <a:blip r:embed="rId2"/>
          <a:stretch>
            <a:fillRect/>
          </a:stretch>
        </p:blipFill>
        <p:spPr>
          <a:xfrm>
            <a:off x="3476880" y="1057777"/>
            <a:ext cx="5237934" cy="3718316"/>
          </a:xfrm>
          <a:prstGeom prst="rect">
            <a:avLst/>
          </a:prstGeom>
        </p:spPr>
      </p:pic>
      <p:sp>
        <p:nvSpPr>
          <p:cNvPr id="5" name="Rounded Rectangle 4"/>
          <p:cNvSpPr/>
          <p:nvPr/>
        </p:nvSpPr>
        <p:spPr>
          <a:xfrm>
            <a:off x="457200" y="4812670"/>
            <a:ext cx="11277295" cy="850392"/>
          </a:xfrm>
          <a:prstGeom prst="roundRect">
            <a:avLst/>
          </a:prstGeom>
          <a:solidFill>
            <a:srgbClr val="F3F6F6"/>
          </a:solidFill>
          <a:ln w="15875">
            <a:solidFill>
              <a:srgbClr val="B1760A"/>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B1760A"/>
                </a:solidFill>
                <a:latin typeface="맑은 고딕"/>
              </a:rPr>
              <a:t>한계 — 이번엔 해석 가능한 결과를 못 얻었습니다</a:t>
            </a:r>
          </a:p>
          <a:p>
            <a:pPr algn="l">
              <a:lnSpc>
                <a:spcPct val="130000"/>
              </a:lnSpc>
            </a:pPr>
            <a:r>
              <a:rPr sz="1050" b="0">
                <a:solidFill>
                  <a:srgbClr val="002632"/>
                </a:solidFill>
                <a:latin typeface="맑은 고딕"/>
              </a:rPr>
              <a:t>결측 분기(표본 부족으로 제외된 동)가 있는 분기를 통째로 제외하는 방식이라 41개 분기 중 24개만 남고 시계열이 끊겼습니다. 그 결과 195개 동 중 167개가 한 클러스터에 몰려 그룹 간 차이를 해석할 수 없었습니다. 결측 보간이나 임계값 조정 후 재시도가 필요합니다.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10. (추가) 인구·세대수 — 새로 가져온 외부 데이터</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69264"/>
            <a:ext cx="11277295" cy="1316736"/>
          </a:xfrm>
          <a:prstGeom prst="roundRect">
            <a:avLst/>
          </a:prstGeom>
          <a:solidFill>
            <a:srgbClr val="F3F6F6"/>
          </a:solidFill>
          <a:ln w="15875">
            <a:solidFill>
              <a:srgbClr val="40CDD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91440"/>
          <a:lstStyle/>
          <a:p>
            <a:pPr algn="l">
              <a:spcAft>
                <a:spcPts val="600"/>
              </a:spcAft>
            </a:pPr>
            <a:r>
              <a:rPr sz="1150" b="1">
                <a:solidFill>
                  <a:srgbClr val="002632"/>
                </a:solidFill>
                <a:latin typeface="맑은 고딕"/>
              </a:rPr>
              <a:t>무엇을 봤나</a:t>
            </a:r>
          </a:p>
          <a:p>
            <a:pPr algn="l" marL="109728">
              <a:lnSpc>
                <a:spcPct val="125000"/>
              </a:lnSpc>
              <a:spcAft>
                <a:spcPts val="400"/>
              </a:spcAft>
            </a:pPr>
            <a:r>
              <a:rPr sz="1050" b="1">
                <a:solidFill>
                  <a:srgbClr val="002632"/>
                </a:solidFill>
                <a:latin typeface="맑은 고딕"/>
              </a:rPr>
              <a:t>· 질문  </a:t>
            </a:r>
            <a:r>
              <a:rPr sz="1050" b="0">
                <a:solidFill>
                  <a:srgbClr val="5B6B70"/>
                </a:solidFill>
                <a:latin typeface="맑은 고딕"/>
              </a:rPr>
              <a:t>2번 축에서 강남구 평균은 오르는데 역삼·대치·압구정동은 내려간 이유가 인구 변화 때문일까?</a:t>
            </a:r>
          </a:p>
          <a:p>
            <a:pPr algn="l" marL="109728">
              <a:lnSpc>
                <a:spcPct val="125000"/>
              </a:lnSpc>
              <a:spcAft>
                <a:spcPts val="400"/>
              </a:spcAft>
            </a:pPr>
            <a:r>
              <a:rPr sz="1050" b="1">
                <a:solidFill>
                  <a:srgbClr val="002632"/>
                </a:solidFill>
                <a:latin typeface="맑은 고딕"/>
              </a:rPr>
              <a:t>· 데이터  </a:t>
            </a:r>
            <a:r>
              <a:rPr sz="1050" b="0">
                <a:solidFill>
                  <a:srgbClr val="5B6B70"/>
                </a:solidFill>
                <a:latin typeface="맑은 고딕"/>
              </a:rPr>
              <a:t>행정안전부 법정동별 주민등록 인구·세대현황 (공공데이터포털, 무료·자동승인)</a:t>
            </a:r>
          </a:p>
          <a:p>
            <a:pPr algn="l" marL="109728">
              <a:lnSpc>
                <a:spcPct val="125000"/>
              </a:lnSpc>
              <a:spcAft>
                <a:spcPts val="400"/>
              </a:spcAft>
            </a:pPr>
            <a:r>
              <a:rPr sz="1050" b="1">
                <a:solidFill>
                  <a:srgbClr val="002632"/>
                </a:solidFill>
                <a:latin typeface="맑은 고딕"/>
              </a:rPr>
              <a:t>· 방법  </a:t>
            </a:r>
            <a:r>
              <a:rPr sz="1050" b="0">
                <a:solidFill>
                  <a:srgbClr val="5B6B70"/>
                </a:solidFill>
                <a:latin typeface="맑은 고딕"/>
              </a:rPr>
              <a:t>법정동 340개의 2025Q2·2026Q2 인구·세대수를 새로 받아, 2번 축의 동별 가격 변화율과 합침</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10. (추가) 인구가 주는 동보다 오히려 줄어드는 동이 더 오른다</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pic>
        <p:nvPicPr>
          <p:cNvPr id="4" name="Picture 3" descr="10_population_vs_price.png"/>
          <p:cNvPicPr>
            <a:picLocks noChangeAspect="1"/>
          </p:cNvPicPr>
          <p:nvPr/>
        </p:nvPicPr>
        <p:blipFill>
          <a:blip r:embed="rId2"/>
          <a:stretch>
            <a:fillRect/>
          </a:stretch>
        </p:blipFill>
        <p:spPr>
          <a:xfrm>
            <a:off x="2899105" y="1236269"/>
            <a:ext cx="6393484" cy="4870092"/>
          </a:xfrm>
          <a:prstGeom prst="rect">
            <a:avLst/>
          </a:prstGeom>
        </p:spPr>
      </p:pic>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10. (추가) 보광동은 인구 급감 + 가격 급등, 강남구 미스터리는 미해결</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graphicFrame>
        <p:nvGraphicFramePr>
          <p:cNvPr id="4" name="Table 3"/>
          <p:cNvGraphicFramePr>
            <a:graphicFrameLocks noGrp="1"/>
          </p:cNvGraphicFramePr>
          <p:nvPr/>
        </p:nvGraphicFramePr>
        <p:xfrm>
          <a:off x="457200" y="1042416"/>
          <a:ext cx="10972800" cy="1807464"/>
        </p:xfrm>
        <a:graphic>
          <a:graphicData uri="http://schemas.openxmlformats.org/drawingml/2006/table">
            <a:tbl>
              <a:tblPr firstRow="1" bandRow="1">
                <a:tableStyleId>{5C22544A-7EE6-4342-B048-85BDC9FD1C3A}</a:tableStyleId>
              </a:tblPr>
              <a:tblGrid>
                <a:gridCol w="2286000"/>
                <a:gridCol w="2286000"/>
                <a:gridCol w="3200400"/>
                <a:gridCol w="3200400"/>
              </a:tblGrid>
              <a:tr h="301244">
                <a:tc>
                  <a:txBody>
                    <a:bodyPr/>
                    <a:lstStyle/>
                    <a:p>
                      <a:pPr algn="l"/>
                      <a:r>
                        <a:rPr sz="1000" b="1">
                          <a:solidFill>
                            <a:srgbClr val="FFFFFF"/>
                          </a:solidFill>
                          <a:latin typeface="맑은 고딕"/>
                        </a:rPr>
                        <a:t>동</a:t>
                      </a:r>
                    </a:p>
                  </a:txBody>
                  <a:tcPr anchor="ctr" marL="73152" marR="73152" marT="41148" marB="41148">
                    <a:solidFill>
                      <a:srgbClr val="002632"/>
                    </a:solidFill>
                  </a:tcPr>
                </a:tc>
                <a:tc>
                  <a:txBody>
                    <a:bodyPr/>
                    <a:lstStyle/>
                    <a:p>
                      <a:pPr algn="ctr"/>
                      <a:r>
                        <a:rPr sz="1000" b="1">
                          <a:solidFill>
                            <a:srgbClr val="FFFFFF"/>
                          </a:solidFill>
                          <a:latin typeface="맑은 고딕"/>
                        </a:rPr>
                        <a:t>구</a:t>
                      </a:r>
                    </a:p>
                  </a:txBody>
                  <a:tcPr anchor="ctr" marL="73152" marR="73152" marT="41148" marB="41148">
                    <a:solidFill>
                      <a:srgbClr val="002632"/>
                    </a:solidFill>
                  </a:tcPr>
                </a:tc>
                <a:tc>
                  <a:txBody>
                    <a:bodyPr/>
                    <a:lstStyle/>
                    <a:p>
                      <a:pPr algn="ctr"/>
                      <a:r>
                        <a:rPr sz="1000" b="1">
                          <a:solidFill>
                            <a:srgbClr val="FFFFFF"/>
                          </a:solidFill>
                          <a:latin typeface="맑은 고딕"/>
                        </a:rPr>
                        <a:t>인구 변화율(1년)</a:t>
                      </a:r>
                    </a:p>
                  </a:txBody>
                  <a:tcPr anchor="ctr" marL="73152" marR="73152" marT="41148" marB="41148">
                    <a:solidFill>
                      <a:srgbClr val="002632"/>
                    </a:solidFill>
                  </a:tcPr>
                </a:tc>
                <a:tc>
                  <a:txBody>
                    <a:bodyPr/>
                    <a:lstStyle/>
                    <a:p>
                      <a:pPr algn="ctr"/>
                      <a:r>
                        <a:rPr sz="1000" b="1">
                          <a:solidFill>
                            <a:srgbClr val="FFFFFF"/>
                          </a:solidFill>
                          <a:latin typeface="맑은 고딕"/>
                        </a:rPr>
                        <a:t>가격 변화율(1년)</a:t>
                      </a:r>
                    </a:p>
                  </a:txBody>
                  <a:tcPr anchor="ctr" marL="73152" marR="73152" marT="41148" marB="41148">
                    <a:solidFill>
                      <a:srgbClr val="002632"/>
                    </a:solidFill>
                  </a:tcPr>
                </a:tc>
              </a:tr>
              <a:tr h="301244">
                <a:tc>
                  <a:txBody>
                    <a:bodyPr/>
                    <a:lstStyle/>
                    <a:p>
                      <a:pPr algn="l"/>
                      <a:r>
                        <a:rPr sz="1000" b="0">
                          <a:solidFill>
                            <a:srgbClr val="002632"/>
                          </a:solidFill>
                          <a:latin typeface="맑은 고딕"/>
                        </a:rPr>
                        <a:t>보광동</a:t>
                      </a:r>
                    </a:p>
                  </a:txBody>
                  <a:tcPr anchor="ctr" marL="73152" marR="73152" marT="41148" marB="41148">
                    <a:solidFill>
                      <a:srgbClr val="F3F6F6"/>
                    </a:solidFill>
                  </a:tcPr>
                </a:tc>
                <a:tc>
                  <a:txBody>
                    <a:bodyPr/>
                    <a:lstStyle/>
                    <a:p>
                      <a:pPr algn="ctr"/>
                      <a:r>
                        <a:rPr sz="1000" b="0">
                          <a:solidFill>
                            <a:srgbClr val="002632"/>
                          </a:solidFill>
                          <a:latin typeface="맑은 고딕"/>
                        </a:rPr>
                        <a:t>용산구</a:t>
                      </a:r>
                    </a:p>
                  </a:txBody>
                  <a:tcPr anchor="ctr" marL="73152" marR="73152" marT="41148" marB="41148">
                    <a:solidFill>
                      <a:srgbClr val="F3F6F6"/>
                    </a:solidFill>
                  </a:tcPr>
                </a:tc>
                <a:tc>
                  <a:txBody>
                    <a:bodyPr/>
                    <a:lstStyle/>
                    <a:p>
                      <a:pPr algn="ctr"/>
                      <a:r>
                        <a:rPr sz="1000" b="0">
                          <a:solidFill>
                            <a:srgbClr val="002632"/>
                          </a:solidFill>
                          <a:latin typeface="맑은 고딕"/>
                        </a:rPr>
                        <a:t>-26.5%</a:t>
                      </a:r>
                    </a:p>
                  </a:txBody>
                  <a:tcPr anchor="ctr" marL="73152" marR="73152" marT="41148" marB="41148">
                    <a:solidFill>
                      <a:srgbClr val="F3F6F6"/>
                    </a:solidFill>
                  </a:tcPr>
                </a:tc>
                <a:tc>
                  <a:txBody>
                    <a:bodyPr/>
                    <a:lstStyle/>
                    <a:p>
                      <a:pPr algn="ctr"/>
                      <a:r>
                        <a:rPr sz="1000" b="0">
                          <a:solidFill>
                            <a:srgbClr val="002632"/>
                          </a:solidFill>
                          <a:latin typeface="맑은 고딕"/>
                        </a:rPr>
                        <a:t>38.0%</a:t>
                      </a:r>
                    </a:p>
                  </a:txBody>
                  <a:tcPr anchor="ctr" marL="73152" marR="73152" marT="41148" marB="41148">
                    <a:solidFill>
                      <a:srgbClr val="F3F6F6"/>
                    </a:solidFill>
                  </a:tcPr>
                </a:tc>
              </a:tr>
              <a:tr h="301244">
                <a:tc>
                  <a:txBody>
                    <a:bodyPr/>
                    <a:lstStyle/>
                    <a:p>
                      <a:pPr algn="l"/>
                      <a:r>
                        <a:rPr sz="1000" b="0">
                          <a:solidFill>
                            <a:srgbClr val="002632"/>
                          </a:solidFill>
                          <a:latin typeface="맑은 고딕"/>
                        </a:rPr>
                        <a:t>대치동</a:t>
                      </a:r>
                    </a:p>
                  </a:txBody>
                  <a:tcPr anchor="ctr" marL="73152" marR="73152" marT="41148" marB="41148">
                    <a:solidFill>
                      <a:srgbClr val="FFFFFF"/>
                    </a:solidFill>
                  </a:tcPr>
                </a:tc>
                <a:tc>
                  <a:txBody>
                    <a:bodyPr/>
                    <a:lstStyle/>
                    <a:p>
                      <a:pPr algn="ctr"/>
                      <a:r>
                        <a:rPr sz="1000" b="0">
                          <a:solidFill>
                            <a:srgbClr val="002632"/>
                          </a:solidFill>
                          <a:latin typeface="맑은 고딕"/>
                        </a:rPr>
                        <a:t>강남구</a:t>
                      </a:r>
                    </a:p>
                  </a:txBody>
                  <a:tcPr anchor="ctr" marL="73152" marR="73152" marT="41148" marB="41148">
                    <a:solidFill>
                      <a:srgbClr val="FFFFFF"/>
                    </a:solidFill>
                  </a:tcPr>
                </a:tc>
                <a:tc>
                  <a:txBody>
                    <a:bodyPr/>
                    <a:lstStyle/>
                    <a:p>
                      <a:pPr algn="ctr"/>
                      <a:r>
                        <a:rPr sz="1000" b="0">
                          <a:solidFill>
                            <a:srgbClr val="002632"/>
                          </a:solidFill>
                          <a:latin typeface="맑은 고딕"/>
                        </a:rPr>
                        <a:t>-0.8%</a:t>
                      </a:r>
                    </a:p>
                  </a:txBody>
                  <a:tcPr anchor="ctr" marL="73152" marR="73152" marT="41148" marB="41148">
                    <a:solidFill>
                      <a:srgbClr val="FFFFFF"/>
                    </a:solidFill>
                  </a:tcPr>
                </a:tc>
                <a:tc>
                  <a:txBody>
                    <a:bodyPr/>
                    <a:lstStyle/>
                    <a:p>
                      <a:pPr algn="ctr"/>
                      <a:r>
                        <a:rPr sz="1000" b="0">
                          <a:solidFill>
                            <a:srgbClr val="002632"/>
                          </a:solidFill>
                          <a:latin typeface="맑은 고딕"/>
                        </a:rPr>
                        <a:t>-5.0%</a:t>
                      </a:r>
                    </a:p>
                  </a:txBody>
                  <a:tcPr anchor="ctr" marL="73152" marR="73152" marT="41148" marB="41148">
                    <a:solidFill>
                      <a:srgbClr val="FFFFFF"/>
                    </a:solidFill>
                  </a:tcPr>
                </a:tc>
              </a:tr>
              <a:tr h="301244">
                <a:tc>
                  <a:txBody>
                    <a:bodyPr/>
                    <a:lstStyle/>
                    <a:p>
                      <a:pPr algn="l"/>
                      <a:r>
                        <a:rPr sz="1000" b="0">
                          <a:solidFill>
                            <a:srgbClr val="002632"/>
                          </a:solidFill>
                          <a:latin typeface="맑은 고딕"/>
                        </a:rPr>
                        <a:t>압구정동</a:t>
                      </a:r>
                    </a:p>
                  </a:txBody>
                  <a:tcPr anchor="ctr" marL="73152" marR="73152" marT="41148" marB="41148">
                    <a:solidFill>
                      <a:srgbClr val="F3F6F6"/>
                    </a:solidFill>
                  </a:tcPr>
                </a:tc>
                <a:tc>
                  <a:txBody>
                    <a:bodyPr/>
                    <a:lstStyle/>
                    <a:p>
                      <a:pPr algn="ctr"/>
                      <a:r>
                        <a:rPr sz="1000" b="0">
                          <a:solidFill>
                            <a:srgbClr val="002632"/>
                          </a:solidFill>
                          <a:latin typeface="맑은 고딕"/>
                        </a:rPr>
                        <a:t>강남구</a:t>
                      </a:r>
                    </a:p>
                  </a:txBody>
                  <a:tcPr anchor="ctr" marL="73152" marR="73152" marT="41148" marB="41148">
                    <a:solidFill>
                      <a:srgbClr val="F3F6F6"/>
                    </a:solidFill>
                  </a:tcPr>
                </a:tc>
                <a:tc>
                  <a:txBody>
                    <a:bodyPr/>
                    <a:lstStyle/>
                    <a:p>
                      <a:pPr algn="ctr"/>
                      <a:r>
                        <a:rPr sz="1000" b="0">
                          <a:solidFill>
                            <a:srgbClr val="002632"/>
                          </a:solidFill>
                          <a:latin typeface="맑은 고딕"/>
                        </a:rPr>
                        <a:t>-0.8%</a:t>
                      </a:r>
                    </a:p>
                  </a:txBody>
                  <a:tcPr anchor="ctr" marL="73152" marR="73152" marT="41148" marB="41148">
                    <a:solidFill>
                      <a:srgbClr val="F3F6F6"/>
                    </a:solidFill>
                  </a:tcPr>
                </a:tc>
                <a:tc>
                  <a:txBody>
                    <a:bodyPr/>
                    <a:lstStyle/>
                    <a:p>
                      <a:pPr algn="ctr"/>
                      <a:r>
                        <a:rPr sz="1000" b="0">
                          <a:solidFill>
                            <a:srgbClr val="002632"/>
                          </a:solidFill>
                          <a:latin typeface="맑은 고딕"/>
                        </a:rPr>
                        <a:t>-1.7%</a:t>
                      </a:r>
                    </a:p>
                  </a:txBody>
                  <a:tcPr anchor="ctr" marL="73152" marR="73152" marT="41148" marB="41148">
                    <a:solidFill>
                      <a:srgbClr val="F3F6F6"/>
                    </a:solidFill>
                  </a:tcPr>
                </a:tc>
              </a:tr>
              <a:tr h="301244">
                <a:tc>
                  <a:txBody>
                    <a:bodyPr/>
                    <a:lstStyle/>
                    <a:p>
                      <a:pPr algn="l"/>
                      <a:r>
                        <a:rPr sz="1000" b="0">
                          <a:solidFill>
                            <a:srgbClr val="002632"/>
                          </a:solidFill>
                          <a:latin typeface="맑은 고딕"/>
                        </a:rPr>
                        <a:t>수서동</a:t>
                      </a:r>
                    </a:p>
                  </a:txBody>
                  <a:tcPr anchor="ctr" marL="73152" marR="73152" marT="41148" marB="41148">
                    <a:solidFill>
                      <a:srgbClr val="FFFFFF"/>
                    </a:solidFill>
                  </a:tcPr>
                </a:tc>
                <a:tc>
                  <a:txBody>
                    <a:bodyPr/>
                    <a:lstStyle/>
                    <a:p>
                      <a:pPr algn="ctr"/>
                      <a:r>
                        <a:rPr sz="1000" b="0">
                          <a:solidFill>
                            <a:srgbClr val="002632"/>
                          </a:solidFill>
                          <a:latin typeface="맑은 고딕"/>
                        </a:rPr>
                        <a:t>강남구</a:t>
                      </a:r>
                    </a:p>
                  </a:txBody>
                  <a:tcPr anchor="ctr" marL="73152" marR="73152" marT="41148" marB="41148">
                    <a:solidFill>
                      <a:srgbClr val="FFFFFF"/>
                    </a:solidFill>
                  </a:tcPr>
                </a:tc>
                <a:tc>
                  <a:txBody>
                    <a:bodyPr/>
                    <a:lstStyle/>
                    <a:p>
                      <a:pPr algn="ctr"/>
                      <a:r>
                        <a:rPr sz="1000" b="0">
                          <a:solidFill>
                            <a:srgbClr val="002632"/>
                          </a:solidFill>
                          <a:latin typeface="맑은 고딕"/>
                        </a:rPr>
                        <a:t>-0.7%</a:t>
                      </a:r>
                    </a:p>
                  </a:txBody>
                  <a:tcPr anchor="ctr" marL="73152" marR="73152" marT="41148" marB="41148">
                    <a:solidFill>
                      <a:srgbClr val="FFFFFF"/>
                    </a:solidFill>
                  </a:tcPr>
                </a:tc>
                <a:tc>
                  <a:txBody>
                    <a:bodyPr/>
                    <a:lstStyle/>
                    <a:p>
                      <a:pPr algn="ctr"/>
                      <a:r>
                        <a:rPr sz="1000" b="0">
                          <a:solidFill>
                            <a:srgbClr val="002632"/>
                          </a:solidFill>
                          <a:latin typeface="맑은 고딕"/>
                        </a:rPr>
                        <a:t>28.7%</a:t>
                      </a:r>
                    </a:p>
                  </a:txBody>
                  <a:tcPr anchor="ctr" marL="73152" marR="73152" marT="41148" marB="41148">
                    <a:solidFill>
                      <a:srgbClr val="FFFFFF"/>
                    </a:solidFill>
                  </a:tcPr>
                </a:tc>
              </a:tr>
              <a:tr h="301244">
                <a:tc>
                  <a:txBody>
                    <a:bodyPr/>
                    <a:lstStyle/>
                    <a:p>
                      <a:pPr algn="l"/>
                      <a:r>
                        <a:rPr sz="1000" b="0">
                          <a:solidFill>
                            <a:srgbClr val="002632"/>
                          </a:solidFill>
                          <a:latin typeface="맑은 고딕"/>
                        </a:rPr>
                        <a:t>역삼동</a:t>
                      </a:r>
                    </a:p>
                  </a:txBody>
                  <a:tcPr anchor="ctr" marL="73152" marR="73152" marT="41148" marB="41148">
                    <a:solidFill>
                      <a:srgbClr val="F3F6F6"/>
                    </a:solidFill>
                  </a:tcPr>
                </a:tc>
                <a:tc>
                  <a:txBody>
                    <a:bodyPr/>
                    <a:lstStyle/>
                    <a:p>
                      <a:pPr algn="ctr"/>
                      <a:r>
                        <a:rPr sz="1000" b="0">
                          <a:solidFill>
                            <a:srgbClr val="002632"/>
                          </a:solidFill>
                          <a:latin typeface="맑은 고딕"/>
                        </a:rPr>
                        <a:t>강남구</a:t>
                      </a:r>
                    </a:p>
                  </a:txBody>
                  <a:tcPr anchor="ctr" marL="73152" marR="73152" marT="41148" marB="41148">
                    <a:solidFill>
                      <a:srgbClr val="F3F6F6"/>
                    </a:solidFill>
                  </a:tcPr>
                </a:tc>
                <a:tc>
                  <a:txBody>
                    <a:bodyPr/>
                    <a:lstStyle/>
                    <a:p>
                      <a:pPr algn="ctr"/>
                      <a:r>
                        <a:rPr sz="1000" b="0">
                          <a:solidFill>
                            <a:srgbClr val="002632"/>
                          </a:solidFill>
                          <a:latin typeface="맑은 고딕"/>
                        </a:rPr>
                        <a:t>-0.2%</a:t>
                      </a:r>
                    </a:p>
                  </a:txBody>
                  <a:tcPr anchor="ctr" marL="73152" marR="73152" marT="41148" marB="41148">
                    <a:solidFill>
                      <a:srgbClr val="F3F6F6"/>
                    </a:solidFill>
                  </a:tcPr>
                </a:tc>
                <a:tc>
                  <a:txBody>
                    <a:bodyPr/>
                    <a:lstStyle/>
                    <a:p>
                      <a:pPr algn="ctr"/>
                      <a:r>
                        <a:rPr sz="1000" b="0">
                          <a:solidFill>
                            <a:srgbClr val="002632"/>
                          </a:solidFill>
                          <a:latin typeface="맑은 고딕"/>
                        </a:rPr>
                        <a:t>-7.4%</a:t>
                      </a:r>
                    </a:p>
                  </a:txBody>
                  <a:tcPr anchor="ctr" marL="73152" marR="73152" marT="41148" marB="41148">
                    <a:solidFill>
                      <a:srgbClr val="F3F6F6"/>
                    </a:solidFill>
                  </a:tcPr>
                </a:tc>
              </a:tr>
            </a:tbl>
          </a:graphicData>
        </a:graphic>
      </p:graphicFrame>
      <p:sp>
        <p:nvSpPr>
          <p:cNvPr id="5" name="TextBox 4"/>
          <p:cNvSpPr txBox="1"/>
          <p:nvPr/>
        </p:nvSpPr>
        <p:spPr>
          <a:xfrm>
            <a:off x="457200" y="2941320"/>
            <a:ext cx="11277295" cy="237744"/>
          </a:xfrm>
          <a:prstGeom prst="rect">
            <a:avLst/>
          </a:prstGeom>
          <a:noFill/>
        </p:spPr>
        <p:txBody>
          <a:bodyPr wrap="square">
            <a:spAutoFit/>
          </a:bodyPr>
          <a:lstStyle/>
          <a:p>
            <a:pPr algn="l"/>
            <a:r>
              <a:rPr sz="900" b="0">
                <a:solidFill>
                  <a:srgbClr val="5B6B70"/>
                </a:solidFill>
                <a:latin typeface="맑은 고딕"/>
              </a:rPr>
              <a:t>2번 축에서 다룬 동 5개만 뽑음. 전체 231개 동 결과는 eda/output/12_population_vs_price.csv</a:t>
            </a:r>
          </a:p>
        </p:txBody>
      </p:sp>
      <p:sp>
        <p:nvSpPr>
          <p:cNvPr id="6" name="Rounded Rectangle 5"/>
          <p:cNvSpPr/>
          <p:nvPr/>
        </p:nvSpPr>
        <p:spPr>
          <a:xfrm>
            <a:off x="457200" y="3270504"/>
            <a:ext cx="11277295" cy="850392"/>
          </a:xfrm>
          <a:prstGeom prst="roundRect">
            <a:avLst/>
          </a:prstGeom>
          <a:solidFill>
            <a:srgbClr val="F3F6F6"/>
          </a:solidFill>
          <a:ln w="15875">
            <a:solidFill>
              <a:srgbClr val="B1760A"/>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B1760A"/>
                </a:solidFill>
                <a:latin typeface="맑은 고딕"/>
              </a:rPr>
              <a:t>핵심 결론</a:t>
            </a:r>
          </a:p>
          <a:p>
            <a:pPr algn="l">
              <a:lnSpc>
                <a:spcPct val="130000"/>
              </a:lnSpc>
            </a:pPr>
            <a:r>
              <a:rPr sz="1050" b="0">
                <a:solidFill>
                  <a:srgbClr val="002632"/>
                </a:solidFill>
                <a:latin typeface="맑은 고딕"/>
              </a:rPr>
              <a:t>① 인구 변화와 가격 변화는 약한 음의 상관(-0.114) — 늘어난 동네가 아니라 줄어든 동네가 더 오르는 경향. ② 보광동처럼 극단적 인구 감소는 정비사업 이주로 추정되며, 3·7번 축의 '정비사업 프리미엄' 결과와 같은 방향. ③ 다만 강남구 내부 미스터리(역삼·대치·압구정 하락)는 인구로 설명되지 않음 — 인구 변화가 다들 -1% 안팎으로 비슷했음</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핵심 결론</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3</a:t>
            </a:r>
          </a:p>
        </p:txBody>
      </p:sp>
      <p:sp>
        <p:nvSpPr>
          <p:cNvPr id="4" name="Rounded Rectangle 3"/>
          <p:cNvSpPr/>
          <p:nvPr/>
        </p:nvSpPr>
        <p:spPr>
          <a:xfrm>
            <a:off x="457200" y="987552"/>
            <a:ext cx="11277295" cy="1645920"/>
          </a:xfrm>
          <a:prstGeom prst="roundRect">
            <a:avLst/>
          </a:prstGeom>
          <a:solidFill>
            <a:srgbClr val="F3F6F6"/>
          </a:solidFill>
          <a:ln w="15875">
            <a:solidFill>
              <a:srgbClr val="40CDD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91440"/>
          <a:lstStyle/>
          <a:p>
            <a:pPr algn="l" marL="109728">
              <a:lnSpc>
                <a:spcPct val="125000"/>
              </a:lnSpc>
              <a:spcAft>
                <a:spcPts val="400"/>
              </a:spcAft>
            </a:pPr>
            <a:r>
              <a:rPr sz="1050" b="1">
                <a:solidFill>
                  <a:srgbClr val="002632"/>
                </a:solidFill>
                <a:latin typeface="맑은 고딕"/>
              </a:rPr>
              <a:t>· 거래량 변동폭 &gt; 가격 변동폭  </a:t>
            </a:r>
            <a:r>
              <a:rPr sz="1050" b="0">
                <a:solidFill>
                  <a:srgbClr val="5B6B70"/>
                </a:solidFill>
                <a:latin typeface="맑은 고딕"/>
              </a:rPr>
              <a:t>정책·금리 변화 시점과 거래량 급변 시점이 겹친다(인과는 미검증)</a:t>
            </a:r>
          </a:p>
          <a:p>
            <a:pPr algn="l" marL="109728">
              <a:lnSpc>
                <a:spcPct val="125000"/>
              </a:lnSpc>
              <a:spcAft>
                <a:spcPts val="400"/>
              </a:spcAft>
            </a:pPr>
            <a:r>
              <a:rPr sz="1050" b="1">
                <a:solidFill>
                  <a:srgbClr val="002632"/>
                </a:solidFill>
                <a:latin typeface="맑은 고딕"/>
              </a:rPr>
              <a:t>· 구 평균 ≠ 동 흐름  </a:t>
            </a:r>
            <a:r>
              <a:rPr sz="1050" b="0">
                <a:solidFill>
                  <a:srgbClr val="5B6B70"/>
                </a:solidFill>
                <a:latin typeface="맑은 고딕"/>
              </a:rPr>
              <a:t>강남구 hedonic 평균은 +6.8%지만 역삼(-7.1%)~수서(+33.3%)까지 동별 편차 큼</a:t>
            </a:r>
          </a:p>
          <a:p>
            <a:pPr algn="l" marL="109728">
              <a:lnSpc>
                <a:spcPct val="125000"/>
              </a:lnSpc>
              <a:spcAft>
                <a:spcPts val="400"/>
              </a:spcAft>
            </a:pPr>
            <a:r>
              <a:rPr sz="1050" b="1">
                <a:solidFill>
                  <a:srgbClr val="002632"/>
                </a:solidFill>
                <a:latin typeface="맑은 고딕"/>
              </a:rPr>
              <a:t>· 입지 요인 중 상관 최강은 한강조망  </a:t>
            </a:r>
            <a:r>
              <a:rPr sz="1050" b="0">
                <a:solidFill>
                  <a:srgbClr val="5B6B70"/>
                </a:solidFill>
                <a:latin typeface="맑은 고딕"/>
              </a:rPr>
              <a:t>역세권(-0.17)보다 한강조망(0.29) 상관이 더 강함(둘 다 원시거래 상관)</a:t>
            </a:r>
          </a:p>
          <a:p>
            <a:pPr algn="l" marL="109728">
              <a:lnSpc>
                <a:spcPct val="125000"/>
              </a:lnSpc>
              <a:spcAft>
                <a:spcPts val="400"/>
              </a:spcAft>
            </a:pPr>
            <a:r>
              <a:rPr sz="1050" b="1">
                <a:solidFill>
                  <a:srgbClr val="002632"/>
                </a:solidFill>
                <a:latin typeface="맑은 고딕"/>
              </a:rPr>
              <a:t>· 정비사업 강도-변동성은 유의하지 않음  </a:t>
            </a:r>
            <a:r>
              <a:rPr sz="1050" b="0">
                <a:solidFill>
                  <a:srgbClr val="5B6B70"/>
                </a:solidFill>
                <a:latin typeface="맑은 고딕"/>
              </a:rPr>
              <a:t>버그 수정 후 r=0.009, p=0.889 — 원래 결론 철회</a:t>
            </a:r>
          </a:p>
          <a:p>
            <a:pPr algn="l" marL="109728">
              <a:lnSpc>
                <a:spcPct val="125000"/>
              </a:lnSpc>
              <a:spcAft>
                <a:spcPts val="400"/>
              </a:spcAft>
            </a:pPr>
            <a:r>
              <a:rPr sz="1050" b="1">
                <a:solidFill>
                  <a:srgbClr val="002632"/>
                </a:solidFill>
                <a:latin typeface="맑은 고딕"/>
              </a:rPr>
              <a:t>· 전세가율은 불안정한 약한 동반관계  </a:t>
            </a:r>
            <a:r>
              <a:rPr sz="1050" b="0">
                <a:solidFill>
                  <a:srgbClr val="5B6B70"/>
                </a:solidFill>
                <a:latin typeface="맑은 고딕"/>
              </a:rPr>
              <a:t>전체 상관 0.150이지만 연도별로 +0.27~-0.51로 부호가 뒤집힘</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한계 및 다음 단계</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3</a:t>
            </a:r>
          </a:p>
        </p:txBody>
      </p:sp>
      <p:sp>
        <p:nvSpPr>
          <p:cNvPr id="4" name="Rounded Rectangle 3"/>
          <p:cNvSpPr/>
          <p:nvPr/>
        </p:nvSpPr>
        <p:spPr>
          <a:xfrm>
            <a:off x="457200" y="987552"/>
            <a:ext cx="11277295" cy="1037844"/>
          </a:xfrm>
          <a:prstGeom prst="roundRect">
            <a:avLst/>
          </a:prstGeom>
          <a:solidFill>
            <a:srgbClr val="F3F6F6"/>
          </a:solidFill>
          <a:ln w="15875">
            <a:solidFill>
              <a:srgbClr val="B1760A"/>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B1760A"/>
                </a:solidFill>
                <a:latin typeface="맑은 고딕"/>
              </a:rPr>
              <a:t>검증 과정에서 고친 것들 (2026-09-16, codex 독립 검증 2건)</a:t>
            </a:r>
          </a:p>
          <a:p>
            <a:pPr algn="l">
              <a:lnSpc>
                <a:spcPct val="130000"/>
              </a:lnSpc>
            </a:pPr>
            <a:r>
              <a:rPr sz="1050" b="0">
                <a:solidFill>
                  <a:srgbClr val="002632"/>
                </a:solidFill>
                <a:latin typeface="맑은 고딕"/>
              </a:rPr>
              <a:t>이 발표자료는 codex 세션 두 개로 독립 검증을 받았고, 지적된 문제를 코드까지 고쳤습니다: ① 인구 데이터 페이지네이션 버그로 대치동 등 큰 동이 잘려있던 것 재수집, ② log 지수 차이를 실제 %로 잘못 표기하던 것 수정, ③ 6·7번 축의 표본선택·계산 버그 수정 후 정비사업 강도 결론은 철회, ④ 이벤트 선택 기준·겹침 경고를 실제 정의에 맞게 재정비.</a:t>
            </a:r>
          </a:p>
        </p:txBody>
      </p:sp>
      <p:sp>
        <p:nvSpPr>
          <p:cNvPr id="5" name="Rounded Rectangle 4"/>
          <p:cNvSpPr/>
          <p:nvPr/>
        </p:nvSpPr>
        <p:spPr>
          <a:xfrm>
            <a:off x="457200" y="2153412"/>
            <a:ext cx="11277295" cy="850392"/>
          </a:xfrm>
          <a:prstGeom prst="roundRect">
            <a:avLst/>
          </a:prstGeom>
          <a:solidFill>
            <a:srgbClr val="F3F6F6"/>
          </a:solidFill>
          <a:ln w="15875">
            <a:solidFill>
              <a:srgbClr val="B1760A"/>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B1760A"/>
                </a:solidFill>
                <a:latin typeface="맑은 고딕"/>
              </a:rPr>
              <a:t>현재 결과의 한계 (provisional)</a:t>
            </a:r>
          </a:p>
          <a:p>
            <a:pPr algn="l">
              <a:lnSpc>
                <a:spcPct val="130000"/>
              </a:lnSpc>
            </a:pPr>
            <a:r>
              <a:rPr sz="1050" b="0">
                <a:solidFill>
                  <a:srgbClr val="002632"/>
                </a:solidFill>
                <a:latin typeface="맑은 고딕"/>
              </a:rPr>
              <a:t>이벤트-가격, 정책-거래량 관계는 상관·시점일치일 뿐 인과가 아님. 3·4번 축은 현재 시점 단지 정보를 과거 거래에 소급 적용한 시점 불일치가 있음. 9번 축(클러스터링)은 방법론 재설계가 필요함. 6번 축(전세가율)은 pooled 상관이라 국면 공통효과를 완전히 분리하지 못함.</a:t>
            </a:r>
          </a:p>
        </p:txBody>
      </p:sp>
      <p:sp>
        <p:nvSpPr>
          <p:cNvPr id="6" name="Rounded Rectangle 5"/>
          <p:cNvSpPr/>
          <p:nvPr/>
        </p:nvSpPr>
        <p:spPr>
          <a:xfrm>
            <a:off x="457200" y="3131820"/>
            <a:ext cx="11277295" cy="1316736"/>
          </a:xfrm>
          <a:prstGeom prst="roundRect">
            <a:avLst/>
          </a:prstGeom>
          <a:solidFill>
            <a:srgbClr val="F3F6F6"/>
          </a:solidFill>
          <a:ln w="15875">
            <a:solidFill>
              <a:srgbClr val="40CDD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91440"/>
          <a:lstStyle/>
          <a:p>
            <a:pPr algn="l">
              <a:spcAft>
                <a:spcPts val="600"/>
              </a:spcAft>
            </a:pPr>
            <a:r>
              <a:rPr sz="1150" b="1">
                <a:solidFill>
                  <a:srgbClr val="002632"/>
                </a:solidFill>
                <a:latin typeface="맑은 고딕"/>
              </a:rPr>
              <a:t>계획된 후속 작업</a:t>
            </a:r>
          </a:p>
          <a:p>
            <a:pPr algn="l" marL="109728">
              <a:lnSpc>
                <a:spcPct val="125000"/>
              </a:lnSpc>
              <a:spcAft>
                <a:spcPts val="400"/>
              </a:spcAft>
            </a:pPr>
            <a:r>
              <a:rPr sz="1050" b="1">
                <a:solidFill>
                  <a:srgbClr val="002632"/>
                </a:solidFill>
                <a:latin typeface="맑은 고딕"/>
              </a:rPr>
              <a:t>· 동 클러스터링 재시도  </a:t>
            </a:r>
            <a:r>
              <a:rPr sz="1050" b="0">
                <a:solidFill>
                  <a:srgbClr val="5B6B70"/>
                </a:solidFill>
                <a:latin typeface="맑은 고딕"/>
              </a:rPr>
              <a:t>결측 보간 또는 결측 허용 임계값 조정 후 다시 수행</a:t>
            </a:r>
          </a:p>
          <a:p>
            <a:pPr algn="l" marL="109728">
              <a:lnSpc>
                <a:spcPct val="125000"/>
              </a:lnSpc>
              <a:spcAft>
                <a:spcPts val="400"/>
              </a:spcAft>
            </a:pPr>
            <a:r>
              <a:rPr sz="1050" b="1">
                <a:solidFill>
                  <a:srgbClr val="002632"/>
                </a:solidFill>
                <a:latin typeface="맑은 고딕"/>
              </a:rPr>
              <a:t>· hedonic 회귀로 재설계  </a:t>
            </a:r>
            <a:r>
              <a:rPr sz="1050" b="0">
                <a:solidFill>
                  <a:srgbClr val="5B6B70"/>
                </a:solidFill>
                <a:latin typeface="맑은 고딕"/>
              </a:rPr>
              <a:t>3~5번 축을 log(가격/㎡) 회귀 + 구×분기·단지연식 고정효과로 다시 보기</a:t>
            </a:r>
          </a:p>
          <a:p>
            <a:pPr algn="l" marL="109728">
              <a:lnSpc>
                <a:spcPct val="125000"/>
              </a:lnSpc>
              <a:spcAft>
                <a:spcPts val="400"/>
              </a:spcAft>
            </a:pPr>
            <a:r>
              <a:rPr sz="1050" b="1">
                <a:solidFill>
                  <a:srgbClr val="002632"/>
                </a:solidFill>
                <a:latin typeface="맑은 고딕"/>
              </a:rPr>
              <a:t>· 모델 feature와 교차 검증  </a:t>
            </a:r>
            <a:r>
              <a:rPr sz="1050" b="0">
                <a:solidFill>
                  <a:srgbClr val="5B6B70"/>
                </a:solidFill>
                <a:latin typeface="맑은 고딕"/>
              </a:rPr>
              <a:t>이번 EDA에서 신뢰도 높게 남은 요인(한강조망, 역세권)이 모델(models/index) feature와 얼마나 겹치는지 확인</a:t>
            </a:r>
          </a:p>
        </p:txBody>
      </p:sp>
    </p:spTree>
  </p:cSld>
  <p:clrMapOvr>
    <a:masterClrMapping/>
  </p:clrMapOvr>
</p:sld>
</file>

<file path=ppt/theme/theme1.xml><?xml version="1.0" encoding="utf-8"?>
<a:theme xmlns:a="http://schemas.openxmlformats.org/drawingml/2006/main" xmlns:r="http://schemas.openxmlformats.org/officeDocument/2006/relationships" name="Office 테마">
  <a:themeElements>
    <a:clrScheme name="Office">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테마">
  <a:themeElements>
    <a:clrScheme name="Office">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2026-06-04T01:48:04Z</dcterms:created>
  <dc:creator>정선우</dc:creator>
</cp:coreProperties>
</file>