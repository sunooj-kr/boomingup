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'단가 프리미엄(웃돈, %)'입니다 — 정비사업과 무관한 일반 단지('해당없음')의 ㎡당 매매가 중앙값을 0%(기준선)로 놓고, 각 단계 단지의 ㎡당 매매가 중앙값이 그 기준선보다 몇 % 더 비싼지를 나타낸 값입니다. 예를 들어 '건축심의 154%'는 건축심의 단계 단지가 일반 단지보다 ㎡당 가격이 2.5배(154% 더) 비싸다는 뜻입니다. '프리미엄'을 '웃돈'(기본 가격 위에 얹어서 더 내는 돈이라는 일상 표현)으로 풀어 썼습니다. 계산은 DB의 두 테이블을 합쳐서 했습니다 — 매매 실거래 테이블(2024~2026년 거래, 취소 건 제외)에서 거래가를 전용면적으로 나눠 ㎡당 단가를 만들고, 단지 정보 테이블의 정비사업 진행 단계 항목과 단지 ID로 묶은 뒤, 진행 단계별로 ㎡당 단가 중앙값을 구해 '해당없음' 대비 몇 % 차이 나는지 계산했습니다.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가로축은 한강 조망 세대가 있는지 여부(O/X), 세로축은 ㎡당 단가입니다.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학교까지 거리는 상관계수가 거의 0에 가까웠습니다(=단순 비교로는 관계가 잘 안 보임).</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 그 통념이 실제 데이터에서 맞는지 확인하는 슬라이드입니다.</a:t>
            </a:r>
          </a:p>
          <a:p/>
          <a:p>
            <a:r>
              <a:t>② 뭘로 측정했나: 가로축은 '기점 분기(비교의 출발점으로 삼은 분기)의 전세가율'을 낮은 순서대로 5등분한 그룹(Q1~Q5), 세로축은 그 기점으로부터 1년 뒤 매매 가격지수(=그 동네 아파트 가격이 얼마나 올랐는지 보여주는 지수)가 평균 몇 % 올랐는지입니다. 기점 분기 기준으로 직전 4분기 매매 거래가 20건 이상인 동만 포함합니다(표본이 너무 적은 동은 지수 자체의 신뢰도가 낮기 때문입니다).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'표준편차'는 숫자들이 평균에서 얼마나 들쭉날쭉 흩어져 있는지 보여주는 값입니다 — 표준편차가 크면 분기마다 가격이 크게 출렁였다는 뜻이고, 작으면 비교적 꾸준했다는 뜻입니다.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어떤 동네인지(성향)와 최근 실제로 얼마나 올랐는지(모멘텀)를 같이 봐야 '이런 유형의 동네가 유망하다'는 판단이 가능합니다. 이 슬라이드가 그 연결고리입니다.</a:t>
            </a:r>
          </a:p>
          <a:p/>
          <a:p>
            <a:r>
              <a:t>② 뭘로 측정했나: 9번 축에서 나눈 6개 클러스터 각각에 대해, 그 클러스터에 속한 동들의 평균 ㎡당 단가, 한강조망 비율, 정비사업 강도(입지·성향 지표)를 계산했습니다. 그리고 09번 축에서 이미 구했던 '시장 대비 초과 변화율'(그 분기 서울 평균보다 더/덜 오른 정도)을 최근 4개 분기 합산해 '최근 1년간 시장 대비 몇 % 더/덜 올랐는지'로 바꿔서 같이 봤습니다. 그림은 가로축이 가격 수준,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낮은(0.22)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'이게 실제로 매매가에 영향을 주는 요인이라고 부를 수 있는가' 기준으로 정리한 표입니다. 1번(배경)은 요인 탐색이 아니라서 판정에서 제외했고, 나머지는 단순 비교뿐 아니라 다변량 회귀(여러 요인을 동시에 통제한 분석, 별도 자료)에서도 재확인됐는지까지 반영해 '확정 요인'과 '부분 요인'을 구분했습니다. 이 슬라이드는 2번(지역)부터 4번(입지) 앞부분까지고, 다음 슬라이드에 나머지를 이어서 정리했습니다.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나머지 축을 이어서 정리했습니다. 중학교거리·전세가율·정비사업강도·인구변화는 요인으로 채택하기 어렵고, 특정 이벤트는 원인을 하나로 특정할 수 없었습니다. 면적은 '요인이 아니다'가 아니라 '이번 선형 회귀 설계로는 못 잡았다'는 게 정확한 표현이라 따로 '판단 보류'로 뒀습니다. 종합하면, 오늘 근거가 가장 단단하게 남은 요인은 지역·준공연차·정비사업단계(초중기)·역세권·한강조망·초등학교거리·고등학교거리·층수이고, 이 7~8개가 모델 feature 우선순위의 기본 후보라고 보시면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3155390" y="1900488"/>
            <a:ext cx="5880914" cy="2910718"/>
          </a:xfrm>
          <a:prstGeom prst="rect">
            <a:avLst/>
          </a:prstGeom>
        </p:spPr>
      </p:pic>
      <p:sp>
        <p:nvSpPr>
          <p:cNvPr id="6" name="TextBox 5"/>
          <p:cNvSpPr txBox="1"/>
          <p:nvPr/>
        </p:nvSpPr>
        <p:spPr>
          <a:xfrm>
            <a:off x="2163927" y="4884359"/>
            <a:ext cx="786384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131247"/>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131247"/>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281088" y="1895002"/>
            <a:ext cx="5629517" cy="2784531"/>
          </a:xfrm>
          <a:prstGeom prst="rect">
            <a:avLst/>
          </a:prstGeom>
        </p:spPr>
      </p:pic>
      <p:sp>
        <p:nvSpPr>
          <p:cNvPr id="6" name="TextBox 5"/>
          <p:cNvSpPr txBox="1"/>
          <p:nvPr/>
        </p:nvSpPr>
        <p:spPr>
          <a:xfrm>
            <a:off x="2255367" y="4752685"/>
            <a:ext cx="76809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864040" y="1895002"/>
            <a:ext cx="2463615" cy="2784531"/>
          </a:xfrm>
          <a:prstGeom prst="rect">
            <a:avLst/>
          </a:prstGeom>
        </p:spPr>
      </p:pic>
      <p:sp>
        <p:nvSpPr>
          <p:cNvPr id="6" name="TextBox 5"/>
          <p:cNvSpPr txBox="1"/>
          <p:nvPr/>
        </p:nvSpPr>
        <p:spPr>
          <a:xfrm>
            <a:off x="2804007" y="4752685"/>
            <a:ext cx="65836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282778" y="1896831"/>
            <a:ext cx="3626137"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794809" y="1895002"/>
            <a:ext cx="4602076"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price.png"/>
          <p:cNvPicPr>
            <a:picLocks noChangeAspect="1"/>
          </p:cNvPicPr>
          <p:nvPr/>
        </p:nvPicPr>
        <p:blipFill>
          <a:blip r:embed="rId2"/>
          <a:stretch>
            <a:fillRect/>
          </a:stretch>
        </p:blipFill>
        <p:spPr>
          <a:xfrm>
            <a:off x="4574519" y="1895002"/>
            <a:ext cx="3042656" cy="2784530"/>
          </a:xfrm>
          <a:prstGeom prst="rect">
            <a:avLst/>
          </a:prstGeom>
        </p:spPr>
      </p:pic>
      <p:sp>
        <p:nvSpPr>
          <p:cNvPr id="6" name="TextBox 5"/>
          <p:cNvSpPr txBox="1"/>
          <p:nvPr/>
        </p:nvSpPr>
        <p:spPr>
          <a:xfrm>
            <a:off x="3535527" y="4752685"/>
            <a:ext cx="5120640" cy="201168"/>
          </a:xfrm>
          <a:prstGeom prst="rect">
            <a:avLst/>
          </a:prstGeom>
          <a:noFill/>
        </p:spPr>
        <p:txBody>
          <a:bodyPr wrap="square">
            <a:spAutoFit/>
          </a:bodyPr>
          <a:lstStyle/>
          <a:p>
            <a:pPr algn="ctr"/>
            <a:r>
              <a:rPr sz="900" b="0">
                <a:solidFill>
                  <a:srgbClr val="5B6B70"/>
                </a:solidFill>
                <a:latin typeface="맑은 고딕"/>
              </a:rPr>
              <a:t>핵심: 한강조망 있는 단지가 없는 단지보다 약 55% 비쌈</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524081" y="1896831"/>
            <a:ext cx="5143532"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4029126" y="1896831"/>
            <a:ext cx="4133442" cy="2826593"/>
          </a:xfrm>
          <a:prstGeom prst="rect">
            <a:avLst/>
          </a:prstGeom>
        </p:spPr>
      </p:pic>
      <p:sp>
        <p:nvSpPr>
          <p:cNvPr id="6" name="TextBox 5"/>
          <p:cNvSpPr txBox="1"/>
          <p:nvPr/>
        </p:nvSpPr>
        <p:spPr>
          <a:xfrm>
            <a:off x="2986887" y="4796576"/>
            <a:ext cx="621792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761120" y="1896831"/>
            <a:ext cx="466945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268073" y="1895002"/>
            <a:ext cx="3655547"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827568" y="1895002"/>
            <a:ext cx="4536559" cy="2784531"/>
          </a:xfrm>
          <a:prstGeom prst="rect">
            <a:avLst/>
          </a:prstGeom>
        </p:spPr>
      </p:pic>
      <p:sp>
        <p:nvSpPr>
          <p:cNvPr id="6" name="TextBox 5"/>
          <p:cNvSpPr txBox="1"/>
          <p:nvPr/>
        </p:nvSpPr>
        <p:spPr>
          <a:xfrm>
            <a:off x="2529687" y="4752685"/>
            <a:ext cx="71323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663877" y="1895002"/>
            <a:ext cx="6863940" cy="2784531"/>
          </a:xfrm>
          <a:prstGeom prst="rect">
            <a:avLst/>
          </a:prstGeom>
        </p:spPr>
      </p:pic>
      <p:sp>
        <p:nvSpPr>
          <p:cNvPr id="6" name="TextBox 5"/>
          <p:cNvSpPr txBox="1"/>
          <p:nvPr/>
        </p:nvSpPr>
        <p:spPr>
          <a:xfrm>
            <a:off x="1981047" y="4752685"/>
            <a:ext cx="822960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499957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99957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동네이고 최근 얼마나 올랐는가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가졌고 최근 얼마나 올랐는지까지 확인합니다.</a:t>
            </a:r>
          </a:p>
        </p:txBody>
      </p:sp>
      <p:graphicFrame>
        <p:nvGraphicFramePr>
          <p:cNvPr id="5" name="Table 4"/>
          <p:cNvGraphicFramePr>
            <a:graphicFrameLocks noGrp="1"/>
          </p:cNvGraphicFramePr>
          <p:nvPr/>
        </p:nvGraphicFramePr>
        <p:xfrm>
          <a:off x="457200" y="184708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0.22</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0.58</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0.20</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0.21</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0.47</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0.46</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4723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pic>
        <p:nvPicPr>
          <p:cNvPr id="7" name="Picture 6" descr="14_cluster_profile_price_vs_momentum.png"/>
          <p:cNvPicPr>
            <a:picLocks noChangeAspect="1"/>
          </p:cNvPicPr>
          <p:nvPr/>
        </p:nvPicPr>
        <p:blipFill>
          <a:blip r:embed="rId2"/>
          <a:stretch>
            <a:fillRect/>
          </a:stretch>
        </p:blipFill>
        <p:spPr>
          <a:xfrm>
            <a:off x="6005955" y="4327550"/>
            <a:ext cx="179785" cy="137871"/>
          </a:xfrm>
          <a:prstGeom prst="rect">
            <a:avLst/>
          </a:prstGeom>
        </p:spPr>
      </p:pic>
      <p:sp>
        <p:nvSpPr>
          <p:cNvPr id="8" name="TextBox 7"/>
          <p:cNvSpPr txBox="1"/>
          <p:nvPr/>
        </p:nvSpPr>
        <p:spPr>
          <a:xfrm>
            <a:off x="3718407" y="4538573"/>
            <a:ext cx="4754880" cy="347472"/>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9" name="Rounded Rectangle 8"/>
          <p:cNvSpPr/>
          <p:nvPr/>
        </p:nvSpPr>
        <p:spPr>
          <a:xfrm>
            <a:off x="457200" y="4904333"/>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10" name="Rounded Rectangle 9"/>
          <p:cNvSpPr/>
          <p:nvPr/>
        </p:nvSpPr>
        <p:spPr>
          <a:xfrm>
            <a:off x="6187287" y="4904333"/>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206830" y="1895002"/>
            <a:ext cx="3778034"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0.009,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1/2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다룬 축들을 '실제로 매매가 영향 요인으로 볼 수 있는가' 기준으로 한 표에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1(배경)</a:t>
                      </a:r>
                    </a:p>
                  </a:txBody>
                  <a:tcPr anchor="ctr" marL="73152" marR="73152" marT="41148" marB="41148">
                    <a:solidFill>
                      <a:srgbClr val="F3F6F6"/>
                    </a:solidFill>
                  </a:tcPr>
                </a:tc>
                <a:tc>
                  <a:txBody>
                    <a:bodyPr/>
                    <a:lstStyle/>
                    <a:p>
                      <a:pPr algn="ctr"/>
                      <a:r>
                        <a:rPr sz="1000" b="0">
                          <a:solidFill>
                            <a:srgbClr val="002632"/>
                          </a:solidFill>
                          <a:latin typeface="맑은 고딕"/>
                        </a:rPr>
                        <a:t>정책·금리 시점, 거래량</a:t>
                      </a:r>
                    </a:p>
                  </a:txBody>
                  <a:tcPr anchor="ctr" marL="73152" marR="73152" marT="41148" marB="41148">
                    <a:solidFill>
                      <a:srgbClr val="F3F6F6"/>
                    </a:solidFill>
                  </a:tcPr>
                </a:tc>
                <a:tc>
                  <a:txBody>
                    <a:bodyPr/>
                    <a:lstStyle/>
                    <a:p>
                      <a:pPr algn="ctr"/>
                      <a:r>
                        <a:rPr sz="1000" b="0">
                          <a:solidFill>
                            <a:srgbClr val="002632"/>
                          </a:solidFill>
                          <a:latin typeface="맑은 고딕"/>
                        </a:rPr>
                        <a:t>가격 자체엔 거의 영향 없음(-3~+5%), 배경 정보</a:t>
                      </a:r>
                    </a:p>
                  </a:txBody>
                  <a:tcPr anchor="ctr" marL="73152" marR="73152" marT="41148" marB="41148">
                    <a:solidFill>
                      <a:srgbClr val="F3F6F6"/>
                    </a:solidFill>
                  </a:tcPr>
                </a:tc>
                <a:tc>
                  <a:txBody>
                    <a:bodyPr/>
                    <a:lstStyle/>
                    <a:p>
                      <a:pPr algn="ctr"/>
                      <a:r>
                        <a:rPr sz="1000" b="0">
                          <a:solidFill>
                            <a:srgbClr val="002632"/>
                          </a:solidFill>
                          <a:latin typeface="맑은 고딕"/>
                        </a:rPr>
                        <a:t>해당없음</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지역(자치구·법정동)</a:t>
                      </a:r>
                    </a:p>
                  </a:txBody>
                  <a:tcPr anchor="ctr" marL="73152" marR="73152" marT="41148" marB="41148">
                    <a:solidFill>
                      <a:srgbClr val="FFFFFF"/>
                    </a:solidFill>
                  </a:tcPr>
                </a:tc>
                <a:tc>
                  <a:txBody>
                    <a:bodyPr/>
                    <a:lstStyle/>
                    <a:p>
                      <a:pPr algn="ctr"/>
                      <a:r>
                        <a:rPr sz="1000" b="0">
                          <a:solidFill>
                            <a:srgbClr val="002632"/>
                          </a:solidFill>
                          <a:latin typeface="맑은 고딕"/>
                        </a:rPr>
                        <a:t>구 최대 4.4배 격차, 동별 편차도 커서 구 평균만으론 설명 불가</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준공연차</a:t>
                      </a:r>
                    </a:p>
                  </a:txBody>
                  <a:tcPr anchor="ctr" marL="73152" marR="73152" marT="41148" marB="41148">
                    <a:solidFill>
                      <a:srgbClr val="F3F6F6"/>
                    </a:solidFill>
                  </a:tcPr>
                </a:tc>
                <a:tc>
                  <a:txBody>
                    <a:bodyPr/>
                    <a:lstStyle/>
                    <a:p>
                      <a:pPr algn="ctr"/>
                      <a:r>
                        <a:rPr sz="1000" b="0">
                          <a:solidFill>
                            <a:srgbClr val="002632"/>
                          </a:solidFill>
                          <a:latin typeface="맑은 고딕"/>
                        </a:rPr>
                        <a:t>U자형, 회귀에서도 유의(변곡점 약 30년)</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정비사업 단계</a:t>
                      </a:r>
                    </a:p>
                  </a:txBody>
                  <a:tcPr anchor="ctr" marL="73152" marR="73152" marT="41148" marB="41148">
                    <a:solidFill>
                      <a:srgbClr val="FFFFFF"/>
                    </a:solidFill>
                  </a:tcPr>
                </a:tc>
                <a:tc>
                  <a:txBody>
                    <a:bodyPr/>
                    <a:lstStyle/>
                    <a:p>
                      <a:pPr algn="ctr"/>
                      <a:r>
                        <a:rPr sz="1000" b="0">
                          <a:solidFill>
                            <a:srgbClr val="002632"/>
                          </a:solidFill>
                          <a:latin typeface="맑은 고딕"/>
                        </a:rPr>
                        <a:t>추진위~사업시행은 유의, 관리처분·착공은 유의하지 않음</a:t>
                      </a:r>
                    </a:p>
                  </a:txBody>
                  <a:tcPr anchor="ctr" marL="73152" marR="73152" marT="41148" marB="41148">
                    <a:solidFill>
                      <a:srgbClr val="FFFFFF"/>
                    </a:solidFill>
                  </a:tcPr>
                </a:tc>
                <a:tc>
                  <a:txBody>
                    <a:bodyPr/>
                    <a:lstStyle/>
                    <a:p>
                      <a:pPr algn="ctr"/>
                      <a:r>
                        <a:rPr sz="1000" b="0">
                          <a:solidFill>
                            <a:srgbClr val="002632"/>
                          </a:solidFill>
                          <a:latin typeface="맑은 고딕"/>
                        </a:rPr>
                        <a:t>부분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역까지 거리(역세권)</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-5.6%,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한강조망</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+6.8%, 오늘 확인한 요인 중 가장 강함</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초등학교 거리</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-3.5%,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고등학교 거리</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-4.3%,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'회귀에서도 유의'는 다른 요인들을 동시에 통제한 다변량 회귀(별도 자료)에서도 재확인됐다는 뜻.</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2/2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나머지 축들도 같은 기준으로 이어서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중학교 거리</a:t>
                      </a:r>
                    </a:p>
                  </a:txBody>
                  <a:tcPr anchor="ctr" marL="73152" marR="73152" marT="41148" marB="41148">
                    <a:solidFill>
                      <a:srgbClr val="F3F6F6"/>
                    </a:solidFill>
                  </a:tcPr>
                </a:tc>
                <a:tc>
                  <a:txBody>
                    <a:bodyPr/>
                    <a:lstStyle/>
                    <a:p>
                      <a:pPr algn="ctr"/>
                      <a:r>
                        <a:rPr sz="1000" b="0">
                          <a:solidFill>
                            <a:srgbClr val="002632"/>
                          </a:solidFill>
                          <a:latin typeface="맑은 고딕"/>
                        </a:rPr>
                        <a:t>회귀에서도 유의하지 않음(p=0.52)</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5</a:t>
                      </a:r>
                    </a:p>
                  </a:txBody>
                  <a:tcPr anchor="ctr" marL="73152" marR="73152" marT="41148" marB="41148">
                    <a:solidFill>
                      <a:srgbClr val="FFFFFF"/>
                    </a:solidFill>
                  </a:tcPr>
                </a:tc>
                <a:tc>
                  <a:txBody>
                    <a:bodyPr/>
                    <a:lstStyle/>
                    <a:p>
                      <a:pPr algn="ctr"/>
                      <a:r>
                        <a:rPr sz="1000" b="0">
                          <a:solidFill>
                            <a:srgbClr val="002632"/>
                          </a:solidFill>
                          <a:latin typeface="맑은 고딕"/>
                        </a:rPr>
                        <a:t>층수</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+4.8%,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면적</a:t>
                      </a:r>
                    </a:p>
                  </a:txBody>
                  <a:tcPr anchor="ctr" marL="73152" marR="73152" marT="41148" marB="41148">
                    <a:solidFill>
                      <a:srgbClr val="F3F6F6"/>
                    </a:solidFill>
                  </a:tcPr>
                </a:tc>
                <a:tc>
                  <a:txBody>
                    <a:bodyPr/>
                    <a:lstStyle/>
                    <a:p>
                      <a:pPr algn="ctr"/>
                      <a:r>
                        <a:rPr sz="1000" b="0">
                          <a:solidFill>
                            <a:srgbClr val="002632"/>
                          </a:solidFill>
                          <a:latin typeface="맑은 고딕"/>
                        </a:rPr>
                        <a:t>단순비교론 U자형이나 회귀 선형항은 비유의(직선으로 못 잡은 것)</a:t>
                      </a:r>
                    </a:p>
                  </a:txBody>
                  <a:tcPr anchor="ctr" marL="73152" marR="73152" marT="41148" marB="41148">
                    <a:solidFill>
                      <a:srgbClr val="F3F6F6"/>
                    </a:solidFill>
                  </a:tcPr>
                </a:tc>
                <a:tc>
                  <a:txBody>
                    <a:bodyPr/>
                    <a:lstStyle/>
                    <a:p>
                      <a:pPr algn="ctr"/>
                      <a:r>
                        <a:rPr sz="1000" b="0">
                          <a:solidFill>
                            <a:srgbClr val="002632"/>
                          </a:solidFill>
                          <a:latin typeface="맑은 고딕"/>
                        </a:rPr>
                        <a:t>판단 보류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전세가율</a:t>
                      </a:r>
                    </a:p>
                  </a:txBody>
                  <a:tcPr anchor="ctr" marL="73152" marR="73152" marT="41148" marB="41148">
                    <a:solidFill>
                      <a:srgbClr val="FFFFFF"/>
                    </a:solidFill>
                  </a:tcPr>
                </a:tc>
                <a:tc>
                  <a:txBody>
                    <a:bodyPr/>
                    <a:lstStyle/>
                    <a:p>
                      <a:pPr algn="ctr"/>
                      <a:r>
                        <a:rPr sz="1000" b="0">
                          <a:solidFill>
                            <a:srgbClr val="002632"/>
                          </a:solidFill>
                          <a:latin typeface="맑은 고딕"/>
                        </a:rPr>
                        <a:t>연도별로 상관 부호가 +0.27~-0.51로 뒤집힘</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7</a:t>
                      </a:r>
                    </a:p>
                  </a:txBody>
                  <a:tcPr anchor="ctr" marL="73152" marR="73152" marT="41148" marB="41148">
                    <a:solidFill>
                      <a:srgbClr val="F3F6F6"/>
                    </a:solidFill>
                  </a:tcPr>
                </a:tc>
                <a:tc>
                  <a:txBody>
                    <a:bodyPr/>
                    <a:lstStyle/>
                    <a:p>
                      <a:pPr algn="ctr"/>
                      <a:r>
                        <a:rPr sz="1000" b="0">
                          <a:solidFill>
                            <a:srgbClr val="002632"/>
                          </a:solidFill>
                          <a:latin typeface="맑은 고딕"/>
                        </a:rPr>
                        <a:t>정비사업 강도(규모)</a:t>
                      </a:r>
                    </a:p>
                  </a:txBody>
                  <a:tcPr anchor="ctr" marL="73152" marR="73152" marT="41148" marB="41148">
                    <a:solidFill>
                      <a:srgbClr val="F3F6F6"/>
                    </a:solidFill>
                  </a:tcPr>
                </a:tc>
                <a:tc>
                  <a:txBody>
                    <a:bodyPr/>
                    <a:lstStyle/>
                    <a:p>
                      <a:pPr algn="ctr"/>
                      <a:r>
                        <a:rPr sz="1000" b="0">
                          <a:solidFill>
                            <a:srgbClr val="002632"/>
                          </a:solidFill>
                          <a:latin typeface="맑은 고딕"/>
                        </a:rPr>
                        <a:t>가격 변동성과 유의한 관계 못 찾음(r=0.009, p=0.889)</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8</a:t>
                      </a:r>
                    </a:p>
                  </a:txBody>
                  <a:tcPr anchor="ctr" marL="73152" marR="73152" marT="41148" marB="41148">
                    <a:solidFill>
                      <a:srgbClr val="FFFFFF"/>
                    </a:solidFill>
                  </a:tcPr>
                </a:tc>
                <a:tc>
                  <a:txBody>
                    <a:bodyPr/>
                    <a:lstStyle/>
                    <a:p>
                      <a:pPr algn="ctr"/>
                      <a:r>
                        <a:rPr sz="1000" b="0">
                          <a:solidFill>
                            <a:srgbClr val="002632"/>
                          </a:solidFill>
                          <a:latin typeface="맑은 고딕"/>
                        </a:rPr>
                        <a:t>특정 정책 이벤트</a:t>
                      </a:r>
                    </a:p>
                  </a:txBody>
                  <a:tcPr anchor="ctr" marL="73152" marR="73152" marT="41148" marB="41148">
                    <a:solidFill>
                      <a:srgbClr val="FFFFFF"/>
                    </a:solidFill>
                  </a:tcPr>
                </a:tc>
                <a:tc>
                  <a:txBody>
                    <a:bodyPr/>
                    <a:lstStyle/>
                    <a:p>
                      <a:pPr algn="ctr"/>
                      <a:r>
                        <a:rPr sz="1000" b="0">
                          <a:solidFill>
                            <a:srgbClr val="002632"/>
                          </a:solidFill>
                          <a:latin typeface="맑은 고딕"/>
                        </a:rPr>
                        <a:t>이벤트가 서로 겹쳐서 원인을 하나로 특정 불가</a:t>
                      </a:r>
                    </a:p>
                  </a:txBody>
                  <a:tcPr anchor="ctr" marL="73152" marR="73152" marT="41148" marB="41148">
                    <a:solidFill>
                      <a:srgbClr val="FFFFFF"/>
                    </a:solidFill>
                  </a:tcPr>
                </a:tc>
                <a:tc>
                  <a:txBody>
                    <a:bodyPr/>
                    <a:lstStyle/>
                    <a:p>
                      <a:pPr algn="ctr"/>
                      <a:r>
                        <a:rPr sz="1000" b="0">
                          <a:solidFill>
                            <a:srgbClr val="002632"/>
                          </a:solidFill>
                          <a:latin typeface="맑은 고딕"/>
                        </a:rPr>
                        <a:t>판별 불가</a:t>
                      </a:r>
                    </a:p>
                  </a:txBody>
                  <a:tcPr anchor="ctr" marL="73152" marR="73152" marT="41148" marB="41148">
                    <a:solidFill>
                      <a:srgbClr val="FFFFFF"/>
                    </a:solidFill>
                  </a:tcPr>
                </a:tc>
              </a:tr>
              <a:tr h="301244">
                <a:tc>
                  <a:txBody>
                    <a:bodyPr/>
                    <a:lstStyle/>
                    <a:p>
                      <a:pPr algn="l"/>
                      <a:r>
                        <a:rPr sz="1000" b="0">
                          <a:solidFill>
                            <a:srgbClr val="002632"/>
                          </a:solidFill>
                          <a:latin typeface="맑은 고딕"/>
                        </a:rPr>
                        <a:t>9</a:t>
                      </a:r>
                    </a:p>
                  </a:txBody>
                  <a:tcPr anchor="ctr" marL="73152" marR="73152" marT="41148" marB="41148">
                    <a:solidFill>
                      <a:srgbClr val="F3F6F6"/>
                    </a:solidFill>
                  </a:tcPr>
                </a:tc>
                <a:tc>
                  <a:txBody>
                    <a:bodyPr/>
                    <a:lstStyle/>
                    <a:p>
                      <a:pPr algn="ctr"/>
                      <a:r>
                        <a:rPr sz="1000" b="0">
                          <a:solidFill>
                            <a:srgbClr val="002632"/>
                          </a:solidFill>
                          <a:latin typeface="맑은 고딕"/>
                        </a:rPr>
                        <a:t>동 클러스터링(지역 세분화)</a:t>
                      </a:r>
                    </a:p>
                  </a:txBody>
                  <a:tcPr anchor="ctr" marL="73152" marR="73152" marT="41148" marB="41148">
                    <a:solidFill>
                      <a:srgbClr val="F3F6F6"/>
                    </a:solidFill>
                  </a:tcPr>
                </a:tc>
                <a:tc>
                  <a:txBody>
                    <a:bodyPr/>
                    <a:lstStyle/>
                    <a:p>
                      <a:pPr algn="ctr"/>
                      <a:r>
                        <a:rPr sz="1000" b="0">
                          <a:solidFill>
                            <a:srgbClr val="002632"/>
                          </a:solidFill>
                          <a:latin typeface="맑은 고딕"/>
                        </a:rPr>
                        <a:t>지리적으로 뚜렷한 그룹 확인 — 2번 축(지역) 요인을 더 세밀하게 뒷받침</a:t>
                      </a:r>
                    </a:p>
                  </a:txBody>
                  <a:tcPr anchor="ctr" marL="73152" marR="73152" marT="41148" marB="41148">
                    <a:solidFill>
                      <a:srgbClr val="F3F6F6"/>
                    </a:solidFill>
                  </a:tcPr>
                </a:tc>
                <a:tc>
                  <a:txBody>
                    <a:bodyPr/>
                    <a:lstStyle/>
                    <a:p>
                      <a:pPr algn="ctr"/>
                      <a:r>
                        <a:rPr sz="1000" b="0">
                          <a:solidFill>
                            <a:srgbClr val="002632"/>
                          </a:solidFill>
                          <a:latin typeface="맑은 고딕"/>
                        </a:rPr>
                        <a:t>패턴 확인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10(외부)</a:t>
                      </a:r>
                    </a:p>
                  </a:txBody>
                  <a:tcPr anchor="ctr" marL="73152" marR="73152" marT="41148" marB="41148">
                    <a:solidFill>
                      <a:srgbClr val="FFFFFF"/>
                    </a:solidFill>
                  </a:tcPr>
                </a:tc>
                <a:tc>
                  <a:txBody>
                    <a:bodyPr/>
                    <a:lstStyle/>
                    <a:p>
                      <a:pPr algn="ctr"/>
                      <a:r>
                        <a:rPr sz="1000" b="0">
                          <a:solidFill>
                            <a:srgbClr val="002632"/>
                          </a:solidFill>
                          <a:latin typeface="맑은 고딕"/>
                        </a:rPr>
                        <a:t>인구·세대수 변화</a:t>
                      </a:r>
                    </a:p>
                  </a:txBody>
                  <a:tcPr anchor="ctr" marL="73152" marR="73152" marT="41148" marB="41148">
                    <a:solidFill>
                      <a:srgbClr val="FFFFFF"/>
                    </a:solidFill>
                  </a:tcPr>
                </a:tc>
                <a:tc>
                  <a:txBody>
                    <a:bodyPr/>
                    <a:lstStyle/>
                    <a:p>
                      <a:pPr algn="ctr"/>
                      <a:r>
                        <a:rPr sz="1000" b="0">
                          <a:solidFill>
                            <a:srgbClr val="002632"/>
                          </a:solidFill>
                          <a:latin typeface="맑은 고딕"/>
                        </a:rPr>
                        <a:t>보광동 제외 시 상관이 거의 사라짐</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'판단 보류'는 영향 자체가 없다는 뜻이 아니라, 이번 회귀 설계(직선)로는 못 잡았다는 뜻.</a:t>
            </a:r>
          </a:p>
        </p:txBody>
      </p:sp>
      <p:sp>
        <p:nvSpPr>
          <p:cNvPr id="7" name="Rounded Rectangle 6"/>
          <p:cNvSpPr/>
          <p:nvPr/>
        </p:nvSpPr>
        <p:spPr>
          <a:xfrm>
            <a:off x="457200" y="493318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근거가 단단한 요인은 지역·준공연차·정비사업단계(초중기)·역세권·한강조망·초/고등학교거리·층수 7가지입니다. 전세가율·정비사업강도·인구·특정이벤트는 요인으로 채택하기엔 근거가 약하거나 없습니다.</a:t>
            </a:r>
          </a:p>
        </p:txBody>
      </p:sp>
      <p:sp>
        <p:nvSpPr>
          <p:cNvPr id="8" name="Rounded Rectangle 7"/>
          <p:cNvSpPr/>
          <p:nvPr/>
        </p:nvSpPr>
        <p:spPr>
          <a:xfrm>
            <a:off x="6187287" y="493318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면적은 '영향이 없다'가 아니라 '이번 방식으론 못 잡았다'는 뜻이라 요인 목록에서 완전히 빼기보다는 재설계가 필요한 항목으로 남겨둬야 합니다.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