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tWzU+aBYasoenyN9c0fMJbifs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EB32C9-EA51-438A-8DAD-C1DC1D4AD4C2}">
  <a:tblStyle styleId="{5EEB32C9-EA51-438A-8DAD-C1DC1D4AD4C2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customschemas.google.com/relationships/presentationmetadata" Target="metadata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안녕하세요, 오늘은 서울 아파트 매매가에 영향을 주는 요인을 여러 각도에서 살펴본 EDA 결과를 공유드리겠습니다. Railway Postgres에 있는 실제 실거래·단지·입지 데이터를 read-only로 직접 조회해서 나온 결과이고, 김용진 님이 공유해주신 EDA 제안 문서도 참고해서 두 축을 추가했습니다. 예쁘게 요약한 결론만 보여드리는 게 아니라, 어떤 데이터로 어떻게 계산했는지 하나하나 같이 짚으면서 가겠습니다.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다룰 순서입니다. 1번부터 7번까지는 저희가 브레인스토밍한 축이고, 8번과 9번은 김용진 님이 공유해주신 EDA 제안 문서를 보고 추가로 진행한 것입니다. 각 축마다 데이터로 확인한 그림 한두 장과 핵심 메시지를 같이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저희가 쓴 데이터는 팀이 Railway Postgres에 올려둔 정제 테이블입니다. read-only 계정으로만 접속했기 때문에 이 작업으로 팀 데이터에 영향을 준 건 전혀 없습니다. 매매·전월세 원장이 각각 140만 건, 300만 건 정도고, 여기에 단지 정보·법정동 가격지수·정책 이벤트를 붙여서 분석했습니다.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분기(2006Q1부터 2026Q3까지), 세로축은 그 분기의 매매 거래 건수입니다. 빨간 점선은 2017년 8·2 대책 같은 규제 강화 시점, 초록 점선은 2023년 1월 규제지역 해제 시점입니다. 2022년에 거래량이 바닥까지 떨어졌다가 2023년 규제 해제 직후부터 반등하는 게 눈에 보입니다. 핵심은 '거래량은 정책 발표 시점에 거의 즉각 반응한다'는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그래프는 2006년을 100으로 놓고 거래량과 단가가 각각 얼마나 커졌는지 지수화한 것입니다. 가로축은 연도, 세로축은 지수값이고, 하늘색이 거래량, 남색이 단가입니다. 두 선이 같이 우상향하지 않고 거래량(하늘색)이 훨씬 크게 출렁이는 걸 보실 수 있습니다. 방금 화면에서 말씀드린 것처럼 2022년에 거래량이 -71%까지 급감했는데 가격은 -3.3%밖에 안 빠졌어요. 즉 정책이나 금리가 바뀌면 사람들이 '거래를 하느냐 마느냐'는 크게 바뀌지만, 실제 체결가는 생각보다 덜 흔들린다는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2026년 거래의 ㎡당 단가 중앙값(만원), 세로축은 자치구입니다. 주황색이 강남3구(강남·서초·송파), 하늘색이 나머지 22개 구입니다. 강남구가 3,531만원으로 가장 낮은 도봉구(802만원)의 4.4배입니다. 같은 서울이라도 구 단위로 보면 이 정도 격차가 있다는 걸 먼저 보여드리는 그림입니다.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2025Q2에서 2026Q2까지 1년간 법정동 hedonic 가격지수의 변화율(%)이고, 세로축은 동 이름과 소속 구입니다. 초록이 상승, 빨강이 하락입니다. 눈여겨볼 점은, 앞 슬라이드에서 강남구가 가장 비싼 구였는데, 정작 강남구 안의 역삼동(-7.4%)·대치동(-5.0%)·압구정동(-1.7%)은 최근 1년 하락률 상위에 들어 있다는 겁니다. 반대로 용산구 보광동은 +38%로 가장 많이 올랐습니다. '구 평균이 오른다고 그 구의 모든 동이 다 오르는 게 아니다'라는 메시지입니다. 다만 이 지수는 같은 동 안에서의 시점 간 변화만 비교 가능하다는 점(동 간 수준 비교는 부적절)을 참고로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준공 후 연차 구간(0~5년부터 40~60년까지), 세로축은 2024~2026년 거래의 ㎡당 단가 중앙값입니다. 신축(0~10년)이 비싸다가 10~40년 구간에서 떨어지고, 40년 이상 노후 단지에서 다시 가장 비싸지는 U자형입니다. 이건 재건축 기대감이 반영된 걸로 보이고, 다음 슬라이드에서 정비사업 단계별로 직접 확인해보겠습니다.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정비사업 진행 단계(구역지정부터 건축심의까지), 세로축은 정비사업 대상이 아닌 일반 단지를 0%로 놓았을 때의 단가 프리미엄(%)입니다. 건축심의 단계 단지가 154%로 가장 높고, 관리처분 단계가 오히려 34%로 낮게 나오는데, 이건 관리처분 단계에선 이미 이주가 진행 중이라 낡은 건물 상태 그대로 거래되는 경우가 많아서일 수 있습니다. 전체적으로 정비사업 초기~중기 단계에서 기대감이 가격에 크게 반영된다는 걸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단지에서 가장 가까운 지하철역까지 거리 구간, 세로축은 ㎡당 단가 중앙값입니다. 300m 이내가 1,466만원인데 2km를 넘어가면 687만원으로 거의 반토막입니다. 거리가 멀어질수록 단가가 계단식으로 낮아지는, 아주 뚜렷한 역세권 프리미엄입니다.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한강 조망 세대가 있는지 여부(O/X), 세로축은 ㎡당 단가입니다. 한강 조망이 있는 단지가 1,850만원, 없는 단지가 1,194만원으로 약 55% 차이가 납니다. 저희가 확인한 입지 요인 중에서 상관계수가 가장 높게(0.29) 나온 게 이 한강조망이었습니다. 반면 학교까지 거리는 생각보다 영향이 거의 없었는데, 이건 아마 '학군'이라는 게 물리적 거리보다 특정 동 전체의 평판이나 배정 학교 자체로 작동하기 때문일 것 같습니다. 그래프는 따로 안 붙였고 콜아웃으로만 짚었습니다.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층대(지하/1층부터 21층 이상까지), 세로축은 ㎡당 단가 중앙값입니다. 층이 높아질수록 계속 단가가 오르다가 21층 이상 구간에서 922만원으로 크게 뜁니다. 특히 최근 고층 대형 단지가 늘면서 고층 프리미엄이 뚜렷하게 나타난 것으로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전용면적 구간, 세로축은 ㎡당 단가 중앙값입니다. 흔히 '국민평형'이라 부르는 60~85㎡ 구간이 오히려 가장 싸고(612만원), 40㎡ 이하 소형(761만원)과 165㎡ 이상 대형(921만원) 양쪽 끝이 더 비싼 U자형입니다. 소형은 1인 가구·투자 수요가 몰리고, 대형은 희소성과 고급 수요가 붙어서 이런 모양이 나오는 것으로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'기점 분기의 전세가율'을 낮은 순서대로 5등분한 그룹(Q1~Q5), 세로축은 그 기점으로부터 1년 뒤 매매 가격지수가 평균 몇 % 올랐는지입니다. 전세가율이 낮은 동네보다 높은 동네가 이후 1년간 더 많이 올랐고, 5개 구간이 거의 순서대로 증가합니다. 다만 상관계수 자체는 0.135로 약한 수준이라 '전세가율이 높으면 반드시 오른다'가 아니라 '약한 신호 중 하나' 정도로 해석하는 게 맞습니다.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그 동에서 정비사업이 진행 중인 세대가 전체 재고 세대 대비 차지하는 비중(강도), 세로축은 그 동의 분기별 가격 변화율의 표준편차(변동성)입니다. 점 하나가 법정동 하나이고, 남색 직선은 추세선입니다. 오른쪽으로 갈수록(정비사업 비중이 클수록) 점들이 위로(변동성이 커지는 쪽으로) 향하는 걸 보실 수 있습니다. 상관계수는 0.21로 약하지만, '정비사업이 있다/없다'는 이분법보다 '얼마나 큰 비중으로 진행 중인가'가 변동성과 더 관련 있다는 걸 확인한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가로축은 그 이벤트 4분기 뒤 상승한 동의 비율(%), 세로축은 동 간 방향이 가장 크게 갈린 이벤트 5개입니다. 50%에 가까울수록 '동네마다 반응이 반반으로 갈렸다'는 뜻이고, 점선이 50% 기준선입니다. 초록은 상승한 동이 더 많았던 이벤트, 빨강은 하락한 동이 더 많았던 이벤트입니다. 이 이벤트들에서는 '서울 전체가 같은 방향으로 움직였다'고 말하기 어렵고, 동별로 반응이 크게 갈렸다는 걸 알 수 있습니다. 다만 2008년 두 이벤트, 2010년 두 이벤트는 같은 분기에 겹쳐 있어서 어느 이벤트 때문인지는 분리할 수 없다는 한계가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이것도 김용진 님 제안('함께 움직이는 동 묶음 찾기')을 시도해본 것인데, 솔직히 이번엔 실패에 가깝습니다. 가로축은 클러스터 번호, 세로축은 그 클러스터에 속한 동 개수입니다. 6개로 나눴는데 195개 동 중 167개(85%)가 5번 클러스터 하나에 몰렸습니다. 원인은 상관계수를 계산할 때 표본이 부족해서 제외된 동이 하나라도 있는 분기를 통째로 버렸기 때문에, 41개 분기 중 24개만 남고 그마저 중간에 뻥 뚫려서(2021Q3 다음이 바로 2025Q1) 신호가 제대로 안 잡힌 것 같습니다. 결측을 버리지 않고 보간하거나 임계값을 조정하면 나아질 수 있어서, 이건 다음 단계 과제로 남겨두겠습니다.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다룬 9개 축을 한 줄씩 압축하면 이렇습니다. 가장 강조하고 싶은 두 가지는, 첫째 거래량이 가격보다 정책에 훨씬 민감하다는 것, 둘째 구 단위 평균만 보면 안 되고 동 단위로 봐야 실제로 어디가 오르고 내리는지 보인다는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마지막으로 한계와 다음 단계입니다. 오늘 본 것 중 상당수는 상관관계지 인과관계가 아니라는 점을 다시 한번 강조드리고 싶습니다. 특히 이벤트 관련 분석은 같은 시기에 여러 정책·금리 변화가 겹쳐 있어서 '이 이벤트 때문에'라고 단정하면 안 됩니다. 다음 단계로는 클러스터링을 다시 시도하고, 오늘 나온 요인들이 실제 모델 feature 설계에 참고가 될 만한지 모델 담당자와 같이 확인해보면 좋을 것 같습니다. 여기까지입니다, 질문 있으시면 편하게 말씀해주세요.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F3E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" name="Google Shape;17;p15"/>
          <p:cNvSpPr txBox="1"/>
          <p:nvPr>
            <p:ph type="ctrTitle"/>
          </p:nvPr>
        </p:nvSpPr>
        <p:spPr>
          <a:xfrm>
            <a:off x="838200" y="2577471"/>
            <a:ext cx="10154194" cy="10704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Malgun Gothic"/>
              <a:buNone/>
              <a:defRPr b="1"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subTitle"/>
          </p:nvPr>
        </p:nvSpPr>
        <p:spPr>
          <a:xfrm>
            <a:off x="838200" y="3717538"/>
            <a:ext cx="9144000" cy="518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47474"/>
              </a:buClr>
              <a:buSzPts val="1800"/>
              <a:buNone/>
              <a:defRPr b="0" sz="1800">
                <a:solidFill>
                  <a:srgbClr val="747474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2" name="Google Shape;22;p15"/>
          <p:cNvSpPr/>
          <p:nvPr/>
        </p:nvSpPr>
        <p:spPr>
          <a:xfrm>
            <a:off x="838200" y="4244479"/>
            <a:ext cx="1371600" cy="54864"/>
          </a:xfrm>
          <a:prstGeom prst="rect">
            <a:avLst/>
          </a:prstGeom>
          <a:solidFill>
            <a:srgbClr val="40CDDC"/>
          </a:solidFill>
          <a:ln>
            <a:noFill/>
          </a:ln>
          <a:effectLst>
            <a:outerShdw blurRad="50800" rotWithShape="0" algn="tr" dir="8100000" dist="381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9C77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" name="Google Shape;23;p15"/>
          <p:cNvGrpSpPr/>
          <p:nvPr/>
        </p:nvGrpSpPr>
        <p:grpSpPr>
          <a:xfrm>
            <a:off x="10335437" y="213966"/>
            <a:ext cx="1447734" cy="764601"/>
            <a:chOff x="10077284" y="548830"/>
            <a:chExt cx="1150654" cy="607702"/>
          </a:xfrm>
        </p:grpSpPr>
        <p:pic>
          <p:nvPicPr>
            <p:cNvPr descr="The image depicts a stylized, colorful, winged creature with a spiral pattern, surrounded by a minimalistic, abstract molecular structure.&#10;&#10;AI 생성 콘텐츠는 정확하지 않을 수 있습니다." id="24" name="Google Shape;24;p15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0499387" y="548830"/>
              <a:ext cx="592152" cy="3467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NNOWL&#10;&#10;AI 생성 콘텐츠는 정확하지 않을 수 있습니다." id="25" name="Google Shape;25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77284" y="895603"/>
              <a:ext cx="1150654" cy="26092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/>
          <p:nvPr/>
        </p:nvSpPr>
        <p:spPr>
          <a:xfrm>
            <a:off x="0" y="0"/>
            <a:ext cx="12192000" cy="681037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" dir="5400000" dist="25400">
              <a:srgbClr val="000000">
                <a:alpha val="7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" name="Google Shape;28;p16"/>
          <p:cNvSpPr txBox="1"/>
          <p:nvPr>
            <p:ph type="title"/>
          </p:nvPr>
        </p:nvSpPr>
        <p:spPr>
          <a:xfrm>
            <a:off x="345219" y="0"/>
            <a:ext cx="10515600" cy="6810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lgun Gothic"/>
              <a:buNone/>
              <a:defRPr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838200" y="1066800"/>
            <a:ext cx="10515600" cy="5110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6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" name="Google Shape;31;p16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6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34" name="Google Shape;3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290190" y="160421"/>
            <a:ext cx="600999" cy="35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35" name="Google Shape;3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7334" y="228394"/>
            <a:ext cx="1252314" cy="283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bg>
      <p:bgPr>
        <a:solidFill>
          <a:srgbClr val="00263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7"/>
          <p:cNvSpPr txBox="1"/>
          <p:nvPr>
            <p:ph type="title"/>
          </p:nvPr>
        </p:nvSpPr>
        <p:spPr>
          <a:xfrm>
            <a:off x="1379095" y="1709739"/>
            <a:ext cx="9676524" cy="1719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Malgun Gothic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" type="body"/>
          </p:nvPr>
        </p:nvSpPr>
        <p:spPr>
          <a:xfrm>
            <a:off x="1379094" y="3648074"/>
            <a:ext cx="9676525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 sz="1800">
                <a:solidFill>
                  <a:srgbClr val="F2F2F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40" name="Google Shape;40;p17"/>
          <p:cNvPicPr preferRelativeResize="0"/>
          <p:nvPr/>
        </p:nvPicPr>
        <p:blipFill rotWithShape="1">
          <a:blip r:embed="rId2">
            <a:alphaModFix amt="20000"/>
          </a:blip>
          <a:srcRect b="0" l="0" r="0" t="0"/>
          <a:stretch/>
        </p:blipFill>
        <p:spPr>
          <a:xfrm>
            <a:off x="6787688" y="3209926"/>
            <a:ext cx="5261054" cy="308096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41" name="Google Shape;4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49090" y="354334"/>
            <a:ext cx="1252314" cy="283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>
  <p:cSld name="콘텐츠 2개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8"/>
          <p:cNvSpPr txBox="1"/>
          <p:nvPr>
            <p:ph idx="1" type="body"/>
          </p:nvPr>
        </p:nvSpPr>
        <p:spPr>
          <a:xfrm>
            <a:off x="497305" y="1009097"/>
            <a:ext cx="5522495" cy="52465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8"/>
          <p:cNvSpPr/>
          <p:nvPr/>
        </p:nvSpPr>
        <p:spPr>
          <a:xfrm>
            <a:off x="0" y="0"/>
            <a:ext cx="12192000" cy="681037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" dir="5400000" dist="25400">
              <a:srgbClr val="000000">
                <a:alpha val="7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18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9" name="Google Shape;49;p18"/>
          <p:cNvSpPr txBox="1"/>
          <p:nvPr>
            <p:ph idx="2" type="body"/>
          </p:nvPr>
        </p:nvSpPr>
        <p:spPr>
          <a:xfrm>
            <a:off x="6172202" y="1009097"/>
            <a:ext cx="5522495" cy="52465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50" name="Google Shape;50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290190" y="160421"/>
            <a:ext cx="600999" cy="35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51" name="Google Shape;5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7334" y="228394"/>
            <a:ext cx="1252314" cy="28398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 txBox="1"/>
          <p:nvPr>
            <p:ph type="title"/>
          </p:nvPr>
        </p:nvSpPr>
        <p:spPr>
          <a:xfrm>
            <a:off x="345219" y="106680"/>
            <a:ext cx="10515600" cy="574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lgun Gothic"/>
              <a:buNone/>
              <a:defRPr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>
  <p:cSld name="제목만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/>
          <p:nvPr/>
        </p:nvSpPr>
        <p:spPr>
          <a:xfrm>
            <a:off x="0" y="0"/>
            <a:ext cx="12192000" cy="681037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" dir="5400000" dist="25400">
              <a:srgbClr val="000000">
                <a:alpha val="7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5" name="Google Shape;55;p19"/>
          <p:cNvSpPr txBox="1"/>
          <p:nvPr>
            <p:ph type="title"/>
          </p:nvPr>
        </p:nvSpPr>
        <p:spPr>
          <a:xfrm>
            <a:off x="345219" y="106680"/>
            <a:ext cx="10515600" cy="5743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lgun Gothic"/>
              <a:buNone/>
              <a:defRPr sz="2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7" name="Google Shape;57;p19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9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60" name="Google Shape;6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290190" y="160421"/>
            <a:ext cx="600999" cy="35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61" name="Google Shape;6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7334" y="228394"/>
            <a:ext cx="1252314" cy="283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0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002632"/>
          </a:solidFill>
          <a:ln cap="flat" cmpd="sng" w="19050">
            <a:solidFill>
              <a:srgbClr val="003E3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4" name="Google Shape;64;p20"/>
          <p:cNvSpPr txBox="1"/>
          <p:nvPr>
            <p:ph idx="10" type="dt"/>
          </p:nvPr>
        </p:nvSpPr>
        <p:spPr>
          <a:xfrm>
            <a:off x="408829" y="65921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0"/>
          <p:cNvSpPr txBox="1"/>
          <p:nvPr>
            <p:ph idx="11" type="ftr"/>
          </p:nvPr>
        </p:nvSpPr>
        <p:spPr>
          <a:xfrm>
            <a:off x="4038600" y="65921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2" type="sldNum"/>
          </p:nvPr>
        </p:nvSpPr>
        <p:spPr>
          <a:xfrm>
            <a:off x="9039971" y="6592184"/>
            <a:ext cx="2743200" cy="257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algn="r">
              <a:spcBef>
                <a:spcPts val="0"/>
              </a:spcBef>
              <a:buNone/>
              <a:defRPr b="0" i="0" sz="11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descr="The image depicts a stylized, colorful, winged creature with a spiral pattern, surrounded by a minimalistic, abstract molecular structure.&#10;&#10;AI 생성 콘텐츠는 정확하지 않을 수 있습니다." id="67" name="Google Shape;67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290190" y="160421"/>
            <a:ext cx="600999" cy="35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NOWL&#10;&#10;AI 생성 콘텐츠는 정확하지 않을 수 있습니다." id="68" name="Google Shape;6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7334" y="228394"/>
            <a:ext cx="1252314" cy="283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1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302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l"/>
            <a:r>
              <a:rPr sz="3200" b="1">
                <a:solidFill>
                  <a:srgbClr val="002632"/>
                </a:solidFill>
                <a:latin typeface="맑은 고딕"/>
              </a:rPr>
              <a:t>Boomingup</a:t>
            </a:r>
          </a:p>
          <a:p>
            <a:pPr algn="l"/>
            <a:r>
              <a:rPr sz="3200" b="1">
                <a:solidFill>
                  <a:srgbClr val="002632"/>
                </a:solidFill>
                <a:latin typeface="맑은 고딕"/>
              </a:rPr>
              <a:t>매매 실거래가 영향 요인 EDA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/>
            <a:r>
              <a:rPr sz="1500" b="0">
                <a:solidFill>
                  <a:srgbClr val="5B6B70"/>
                </a:solidFill>
                <a:latin typeface="맑은 고딕"/>
              </a:rPr>
              <a:t>Railway Postgres 원본 데이터로 확인한 9개 축 분석 — 시간·지역·단지·입지·매물·전세·이벤트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002632"/>
                </a:solidFill>
                <a:latin typeface="맑은 고딕"/>
              </a:rPr>
              <a:t>TEAM MEETING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오늘 다룰 내용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896112"/>
            <a:ext cx="11277295" cy="2523744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40C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01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시간 — 거래량·가격이 정책/금리에 어떻게 반응하나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02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지역 — 자치구·법정동별 가격 격차와 동별 편차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03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단지 속성 — 준공연차, 정비사업 단계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04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입지 — 역세권, 한강조망, 학군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05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매물 속성 — 면적, 층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06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전세-매매 — 전세가율의 선행성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07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복합 — 정비사업 강도와 가격 변동성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08~09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(추가) 이벤트 반대 반응 동, 동 클러스터링 시도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데이터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69264"/>
          <a:ext cx="11338560" cy="21087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743200"/>
                <a:gridCol w="5486400"/>
              </a:tblGrid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테이블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행 수(active snapshot)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 marL="73152" marR="73152" marT="41148" marB="41148">
                    <a:solidFill>
                      <a:srgbClr val="002632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trade_sale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1,438,551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매매 실거래 원장 (2006-01~2026-08)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trade_rent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3,083,158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전월세 실거래 원장 (2011-01~2026-08)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complex / complex_metrics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9,160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단지 기본정보 / 입지지표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dong_index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28,372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법정동×분기 hedonic 가격지수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dong_feature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19,761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법정동×기점분기 feature(거래·전세·정비사업 등)</a:t>
                      </a:r>
                    </a:p>
                  </a:txBody>
                  <a:tcPr anchor="ctr" marL="73152" marR="73152" marT="41148" marB="41148">
                    <a:solidFill>
                      <a:srgbClr val="F3F6F6"/>
                    </a:solidFill>
                  </a:tcPr>
                </a:tc>
              </a:tr>
              <a:tr h="3012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market_event / event_summary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49 / 49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2632"/>
                          </a:solidFill>
                          <a:latin typeface="맑은 고딕"/>
                        </a:rPr>
                        <a:t>정책·금리·거시 이벤트 및 전후 요약</a:t>
                      </a:r>
                    </a:p>
                  </a:txBody>
                  <a:tcPr anchor="ctr" marL="73152" marR="73152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169412"/>
            <a:ext cx="1127729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70"/>
                </a:solidFill>
                <a:latin typeface="맑은 고딕"/>
              </a:rPr>
              <a:t>Railway Postgres, DATABASE_READONLY_URL로 조회. 원본은 국토부 실거래가 API·한국은행·서울 열린데이터광장.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1. 시간 — 거래량이 가격보다 훨씬 크게 흔들린다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1a_quarterly_volume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106" y="1756014"/>
            <a:ext cx="7739481" cy="38306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1. 시간 — 거래량 지수 vs 단가 지수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1b_volume_vs_pric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106" y="1757224"/>
            <a:ext cx="7739481" cy="382818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640271"/>
            <a:ext cx="11277295" cy="777240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B1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1760A"/>
                </a:solidFill>
                <a:latin typeface="맑은 고딕"/>
              </a:rPr>
              <a:t>핵심 수치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2022년 거래량 -71.3% (전년 대비), 2023년 182.5%. 같은 기간 가격 변화는 -3.3% → 4.3%로 훨씬 완만함.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2. 지역 — 자치구 간 가격 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2a_gu_price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913" y="1118128"/>
            <a:ext cx="4517868" cy="51063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2. 지역 — 구 평균과 동별 흐름이 다를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2b_dong_yoy_top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767" y="1118128"/>
            <a:ext cx="6546160" cy="51063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3. 단지 속성 — 준공연차와 가격의 U자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3a_age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606" y="1727164"/>
            <a:ext cx="7066483" cy="38883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3. 단지 속성 — 정비사업 진행 단계별 프리미엄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3b_redevelop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3162" y="1057777"/>
            <a:ext cx="6145370" cy="37183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830958"/>
            <a:ext cx="11277295" cy="777240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B1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1760A"/>
                </a:solidFill>
                <a:latin typeface="맑은 고딕"/>
              </a:rPr>
              <a:t>핵심 수치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'건축심의' 단계 단지는 정비사업 대상이 아닌 일반 단지보다 ㎡당 단가가 154% 더 높음.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4. 입지 — 역까지 거리와 가격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4a_station_distance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606" y="1727164"/>
            <a:ext cx="7066483" cy="38883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4. 입지 — 한강조망이 가장 강한 입지 요인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4b_river_view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345" y="1057777"/>
            <a:ext cx="4063003" cy="37183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830958"/>
            <a:ext cx="11277295" cy="850392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5B6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6B70"/>
                </a:solidFill>
                <a:latin typeface="맑은 고딕"/>
              </a:rPr>
              <a:t>참고: 학군 거리는 영향이 약함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초·중·고등학교까지 거리는 단가와의 상관계수가 -0.07~-0.04 수준으로 거의 무관했습니다. 단순 물리적 거리보다 '어느 학군인지'(동 단위 효과)가 더 중요할 가능성이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5. 매물 속성 — 층수가 오를수록 단가도 오른다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5a_floor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606" y="1727164"/>
            <a:ext cx="7066483" cy="38883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5. 매물 속성 — 면적은 작거나 커야 비싸다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5b_area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481" y="1683416"/>
            <a:ext cx="7234732" cy="39757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6. 전세-매매 — 전세가율은 약한 선행지표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6_jeonse_ratio_future_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25" y="1057777"/>
            <a:ext cx="5437444" cy="37183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830958"/>
            <a:ext cx="11277295" cy="777240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B1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1760A"/>
                </a:solidFill>
                <a:latin typeface="맑은 고딕"/>
              </a:rPr>
              <a:t>핵심 수치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전세가율 하위 20% 동은 1년 뒤 매매지수가 평균 6.3% 오른 반면, 상위 20% 동은 10.4% 올라 약 1.6배 차이(상관계수 0.135).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7. 복합 — 정비사업 강도와 가격 변동성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7_redevelop_intensity_vola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105" y="1286404"/>
            <a:ext cx="6393484" cy="476982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8. (추가) 반응이 갈린 이벤트, 반대로 움직인 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8_low_consensus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906" y="1057777"/>
            <a:ext cx="6057882" cy="37183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812670"/>
            <a:ext cx="11277295" cy="777240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5B6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6B70"/>
                </a:solidFill>
                <a:latin typeface="맑은 고딕"/>
              </a:rPr>
              <a:t>출처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김용진 님 EDA 제안 문서(eda_filelist.md)의 관점을 반영. 같은 분기에 겹치는 이벤트(2008년 R1·P19, 2010년 R3·P20)는 개별 효과로 분리 해석할 수 없다는 점에 유의.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9. (추가, 시도) 함께 움직이는 동 클러스터링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2</a:t>
            </a:r>
          </a:p>
        </p:txBody>
      </p:sp>
      <p:pic>
        <p:nvPicPr>
          <p:cNvPr id="4" name="Picture 3" descr="09_cluster_size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880" y="1057777"/>
            <a:ext cx="5237934" cy="37183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812670"/>
            <a:ext cx="11277295" cy="850392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B1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1760A"/>
                </a:solidFill>
                <a:latin typeface="맑은 고딕"/>
              </a:rPr>
              <a:t>한계 — 이번엔 해석 가능한 결과를 못 얻었습니다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결측 분기(표본 부족으로 제외된 동)가 있는 분기를 통째로 제외하는 방식이라 41개 분기 중 24개만 남고 시계열이 끊겼습니다. 그 결과 195개 동 중 167개가 한 클러스터에 몰려 그룹 간 차이를 해석할 수 없었습니다. 결측 보간이나 임계값 조정 후 재시도가 필요합니다.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핵심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87552"/>
            <a:ext cx="11277295" cy="1645920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40C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거래량 &gt; 가격 민감도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정책·금리 변화에 거래량이 가격보다 훨씬 크게, 빠르게 반응한다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구 평균 ≠ 동 흐름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강남구 평균은 오르지만 역삼·대치동은 최근 1년 하락 — 동 단위로 봐야 함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입지 요인 중 최강은 한강조망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역세권(-0.17)보다 한강조망(0.29) 상관이 더 강함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정비사업은 '유무'보다 '강도'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이분법적 진행 여부보다 진행 규모가 가격 변동성과 더 관련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전세가율은 약한 선행 신호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상관 0.135로 약하지만 5분위 전 구간에서 일관되게 방향이 맞음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000" b="1">
                <a:solidFill>
                  <a:srgbClr val="FFFFFF"/>
                </a:solidFill>
                <a:latin typeface="맑은 고딕"/>
              </a:rPr>
              <a:t>한계 및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14255" y="21945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b="1">
                <a:solidFill>
                  <a:srgbClr val="40CDDC"/>
                </a:solidFill>
                <a:latin typeface="맑은 고딕"/>
              </a:rPr>
              <a:t>PART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87552"/>
            <a:ext cx="11277295" cy="850392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B1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1760A"/>
                </a:solidFill>
                <a:latin typeface="맑은 고딕"/>
              </a:rPr>
              <a:t>현재 결과의 한계 (provisional)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002632"/>
                </a:solidFill>
                <a:latin typeface="맑은 고딕"/>
              </a:rPr>
              <a:t>이벤트-가격 관계는 상관일 뿐 인과가 아님(같은 시기 금리·규제·정권 변화가 겹침). 일부 지표(학군거리, 정비사업 유무)는 상관이 약해 추가 변수 없이는 결론짓기 어려움. 9번 축(클러스터링)은 방법론 재설계가 필요함.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84248"/>
            <a:ext cx="11277295" cy="1024128"/>
          </a:xfrm>
          <a:prstGeom prst="roundRect">
            <a:avLst/>
          </a:prstGeom>
          <a:solidFill>
            <a:srgbClr val="F3F6F6"/>
          </a:solidFill>
          <a:ln w="15875">
            <a:solidFill>
              <a:srgbClr val="40C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02632"/>
                </a:solidFill>
                <a:latin typeface="맑은 고딕"/>
              </a:rPr>
              <a:t>계획된 후속 작업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동 클러스터링 재시도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결측 보간 또는 결측 허용 임계값 조정 후 다시 수행</a:t>
            </a:r>
          </a:p>
          <a:p>
            <a:pPr algn="l" marL="109728">
              <a:lnSpc>
                <a:spcPct val="125000"/>
              </a:lnSpc>
              <a:spcAft>
                <a:spcPts val="400"/>
              </a:spcAft>
            </a:pPr>
            <a:r>
              <a:rPr sz="1050" b="1">
                <a:solidFill>
                  <a:srgbClr val="002632"/>
                </a:solidFill>
                <a:latin typeface="맑은 고딕"/>
              </a:rPr>
              <a:t>· 모델 feature와 교차 검증  </a:t>
            </a:r>
            <a:r>
              <a:rPr sz="1050" b="0">
                <a:solidFill>
                  <a:srgbClr val="5B6B70"/>
                </a:solidFill>
                <a:latin typeface="맑은 고딕"/>
              </a:rPr>
              <a:t>이번 EDA에서 드러난 요인(정비사업 강도, 한강조망)이 모델(models/index) feature와 얼마나 겹치는지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2026-06-04T01:48:04Z</dcterms:created>
  <dc:creator>정선우</dc:creator>
</cp:coreProperties>
</file>